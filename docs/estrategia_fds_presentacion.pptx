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1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9" r:id="rId10"/>
    <p:sldId id="267" r:id="rId18"/>
    <p:sldId id="269" r:id="rId20"/>
    <p:sldId id="263" r:id="rId14"/>
    <p:sldId id="258" r:id="rId9"/>
    <p:sldId id="271" r:id="rId21"/>
    <p:sldId id="261" r:id="rId12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0436777b1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0436777b1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f0436777b1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0436777b1_2_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f0436777b1_2_2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0436777b1_2_2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0436777b1_2_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f0436777b1_2_9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0436777b1_2_9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0436777b1_2_1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f0436777b1_2_17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0436777b1_2_17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0436777b1_2_2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0436777b1_2_27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0436777b1_2_27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0436777b1_2_4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g3f0436777b1_2_48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0436777b1_2_48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0436777b1_2_5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f0436777b1_2_56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0436777b1_2_56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53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-182880" y="-182880"/>
            <a:ext cx="2286000" cy="2286000"/>
          </a:xfrm>
          <a:prstGeom prst="ellipse">
            <a:avLst/>
          </a:prstGeom>
          <a:solidFill>
            <a:srgbClr val="59B291">
              <a:alpha val="40000"/>
            </a:srgbClr>
          </a:solidFill>
          <a:ln cap="flat" cmpd="sng" w="12700">
            <a:solidFill>
              <a:srgbClr val="59B2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DE6A73">
              <a:alpha val="32156"/>
            </a:srgbClr>
          </a:solidFill>
          <a:ln cap="flat" cmpd="sng" w="12700">
            <a:solidFill>
              <a:srgbClr val="DE6A73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8046720" y="-365760"/>
            <a:ext cx="1097280" cy="1097280"/>
          </a:xfrm>
          <a:prstGeom prst="ellipse">
            <a:avLst/>
          </a:prstGeom>
          <a:solidFill>
            <a:srgbClr val="E0C233">
              <a:alpha val="34901"/>
            </a:srgbClr>
          </a:solidFill>
          <a:ln cap="flat" cmpd="sng" w="12700">
            <a:solidFill>
              <a:srgbClr val="E0C2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02920" y="1234440"/>
            <a:ext cx="1828800" cy="292608"/>
          </a:xfrm>
          <a:prstGeom prst="roundRect">
            <a:avLst>
              <a:gd fmla="val 25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02920" y="12344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s-419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 · DATA SCIENCE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02920" y="1627632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s-419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Estrategia de Precios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s-419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 de Semana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>
            <a:off x="502920" y="2944368"/>
            <a:ext cx="1097280" cy="0"/>
          </a:xfrm>
          <a:prstGeom prst="straightConnector1">
            <a:avLst/>
          </a:prstGeom>
          <a:noFill/>
          <a:ln cap="flat" cmpd="sng" w="381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502920" y="312724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400"/>
              <a:buFont typeface="Calibri"/>
              <a:buNone/>
            </a:pPr>
            <a:r>
              <a:rPr lang="es-419" sz="14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Viernes 3 – Domingo 5 de julio 2026  ·  Atizapán (#9) y Coyoacán (#14)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Poder Justo  ·  julio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347472" y="164592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600"/>
              <a:buFont typeface="Cambria"/>
              <a:buNone/>
            </a:pPr>
            <a:r>
              <a:rPr b="1" lang="es-419" sz="26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⚠️ El hallazgo más importante: el modelo se pasa de optimista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347472" y="621792"/>
            <a:ext cx="84490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Backtesting contra 24,485 promociones históricas reales · Error absoluto medio: 48.5 pts · Sesgo: +25.3 pts (sobreestima)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347472" y="932688"/>
            <a:ext cx="8449056" cy="658368"/>
          </a:xfrm>
          <a:prstGeom prst="roundRect">
            <a:avLst>
              <a:gd fmla="val 16667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02920" y="96926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alibri"/>
              <a:buNone/>
            </a:pPr>
            <a:r>
              <a:rPr b="1" lang="es-419" sz="900">
                <a:solidFill>
                  <a:srgbClr val="59B291"/>
                </a:solidFill>
                <a:latin typeface="Calibri"/>
                <a:ea typeface="Calibri"/>
                <a:cs typeface="Calibri"/>
                <a:sym typeface="Calibri"/>
              </a:rPr>
              <a:t>QUÉ ENCONTRAMOS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02920" y="121615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419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modelo hubiera proyectado un uplift de demanda mucho mayor al que realmente ocurrió en promociones pasadas. El multiplicador de visibilidad de oferta está calibrado muy alto.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4747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4747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SÍ es confiable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4747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38912" y="2322576"/>
            <a:ext cx="164592" cy="164592"/>
          </a:xfrm>
          <a:prstGeom prst="ellipse">
            <a:avLst/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5836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Piso de margen 22%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3891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Matemática directa sobre costos reales. No depende del supuesto de demanda que falló.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4747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38912" y="314553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5836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Selección de productos y mecánica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3891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La dirección del filtro “no descontar lo que se vende solo” es correcta aunque el número exacto de uplift esté sobreestimado.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4747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38912" y="3968496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5836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Lo que hay que tomar con cautela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3891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El número específico de “cuánto más se va a vender”. No usar para decisiones de inventario o compras hasta recalibrar.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49631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49631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analiza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249631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587752" y="2322576"/>
            <a:ext cx="164592" cy="16459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280720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Recomendación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258775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Bajar el multiplicador promocional de 2.0 a ~1.5 y volver a correr antes de usar la proyección para decisiones de inventario.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249631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2587752" y="314553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80720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Confianza por producto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58775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El Excel trae columna “Confianza proyección” (Alta/Media/Baja). Tratar con más escepticismo las marcadas Media/Baja.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49631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2587752" y="3968496"/>
            <a:ext cx="164592" cy="164592"/>
          </a:xfrm>
          <a:prstGeom prst="ellipse">
            <a:avLst/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280720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Próximo paso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58775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Ejecutar el FDS, medir ventas reales contra proyección, y alimentar el backtesting del siguiente fin de semana.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64515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64515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64515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36592" y="2322576"/>
            <a:ext cx="164592" cy="16459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95604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73659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64515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736592" y="3145536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95604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73659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64515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36592" y="396849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95604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73659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79399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79399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79399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885432" y="2322576"/>
            <a:ext cx="164592" cy="16459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10488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88543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79399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885432" y="314553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10488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88543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79399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885432" y="3968496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10488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88543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47472" y="466344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b="1"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47472" y="4828032"/>
            <a:ext cx="2743200" cy="274320"/>
          </a:xfrm>
          <a:prstGeom prst="roundRect">
            <a:avLst>
              <a:gd fmla="val 30000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38912" y="482803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307592" y="4828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200400" y="4828032"/>
            <a:ext cx="2743200" cy="274320"/>
          </a:xfrm>
          <a:prstGeom prst="roundRect">
            <a:avLst>
              <a:gd fmla="val 30000" name="adj"/>
            </a:avLst>
          </a:prstGeom>
          <a:solidFill>
            <a:srgbClr val="E0F5EC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291840" y="482803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160520" y="4828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053328" y="4828032"/>
            <a:ext cx="2743200" cy="274320"/>
          </a:xfrm>
          <a:prstGeom prst="roundRect">
            <a:avLst>
              <a:gd fmla="val 30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144768" y="482803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013448" y="4828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El problema que resolvemos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Construimos un modelo que responde 4 preguntas para cada uno de los 2,472 productos-tienda del catálogo, con reglas explícitas y datos reales de Snowflake.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201168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38328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01168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¿Qué ofertar?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10896" y="2487168"/>
            <a:ext cx="1828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Qué productos del catálogo merecen una oferta este fin de semana y cuáles no.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414016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551176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414016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¿Cuánto descuento?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523744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Qué tan agresiva puede ser la promoción sin romper el margen mínimo del negocio.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626864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764024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626864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¿Vale la pena?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736592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Si el producto ya se vende bien solo, dar descuento es regalar margen sin beneficio real.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839712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976872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839712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¿Qué día?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949440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Viernes, sábado o domingo: cada tipo de producto tiene un mejor momento para activarse.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144562" y="325526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10896" y="3597729"/>
            <a:ext cx="1828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El archivo y próximos pasos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estrategia_fds.xlsx · Cada decisión tomada o no tiene una razón visible y auditable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47472" y="1042416"/>
            <a:ext cx="73152" cy="1207008"/>
          </a:xfrm>
          <a:prstGeom prst="roundRect">
            <a:avLst>
              <a:gd fmla="val 50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02920" y="1078992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02920" y="1078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400"/>
              <a:buFont typeface="Cambria"/>
              <a:buNone/>
            </a:pPr>
            <a:r>
              <a:rPr b="1" lang="es-419" sz="14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051560" y="10881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400"/>
              <a:buFont typeface="Calibri"/>
              <a:buNone/>
            </a:pPr>
            <a:r>
              <a:rPr b="1" lang="es-419" sz="14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Hoja: Estrategia FDS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051560" y="1380744"/>
            <a:ext cx="1828800" cy="182880"/>
          </a:xfrm>
          <a:prstGeom prst="roundRect">
            <a:avLst>
              <a:gd fmla="val 30000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051560" y="138074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301 ofertas · verde / dorado Mundial / azul requiere aprobación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051560" y="1609344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Producto, mecánica, precio oferta, margen resultante, día, si requiere aprobación Comercial, demanda proyectada y nivel de confianza de esa proyección.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120640" y="1042416"/>
            <a:ext cx="3675888" cy="1207008"/>
          </a:xfrm>
          <a:prstGeom prst="roundRect">
            <a:avLst>
              <a:gd fmla="val 9091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248656" y="1216152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413248" y="1170432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Hoja “Descartados”: 2,171 productos con motivo exacto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248656" y="1472184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413248" y="1426464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Hoja “Resumen”: indicadores globales, por día y por mecánica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248656" y="1728216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413248" y="1682496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Hoja “Escenarios”: proyección conservador / base / optimista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248656" y="1984248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413248" y="1938528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Hojas “Backtesting” y “Leyenda” para auditoría completa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347472" y="2395728"/>
            <a:ext cx="73152" cy="1207008"/>
          </a:xfrm>
          <a:prstGeom prst="roundRect">
            <a:avLst>
              <a:gd fmla="val 50000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02920" y="2432304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02920" y="24323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C233"/>
              </a:buClr>
              <a:buSzPts val="1400"/>
              <a:buFont typeface="Cambria"/>
              <a:buNone/>
            </a:pPr>
            <a:r>
              <a:rPr b="1" lang="es-419" sz="1400">
                <a:solidFill>
                  <a:srgbClr val="E0C233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1051560" y="24414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400"/>
              <a:buFont typeface="Calibri"/>
              <a:buNone/>
            </a:pPr>
            <a:r>
              <a:rPr b="1" lang="es-419" sz="14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Próximo paso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1051560" y="2734056"/>
            <a:ext cx="1828800" cy="182880"/>
          </a:xfrm>
          <a:prstGeom prst="roundRect">
            <a:avLst>
              <a:gd fmla="val 30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1051560" y="273405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C233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E0C233"/>
                </a:solidFill>
                <a:latin typeface="Calibri"/>
                <a:ea typeface="Calibri"/>
                <a:cs typeface="Calibri"/>
                <a:sym typeface="Calibri"/>
              </a:rPr>
              <a:t>Comercial revisa hoy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051560" y="2962656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Revisar los 14 productos marcados “requiere aprobación Comercial” y decidir caso por caso si se publican con ese descuento o no.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5120640" y="2395728"/>
            <a:ext cx="3675888" cy="1207008"/>
          </a:xfrm>
          <a:prstGeom prst="roundRect">
            <a:avLst>
              <a:gd fmla="val 9091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248656" y="2569464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413248" y="2523744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Ver hoja “Estrategia FDS”, filtrar por color azul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5248656" y="2825496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413248" y="2779776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Columna “Descuento máximo posible %” muestra el espacio real disponible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5248656" y="3081528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5413248" y="3035808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ETA: antes del jueves 3 de julio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5248656" y="3337560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5413248" y="3291840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47472" y="3749040"/>
            <a:ext cx="73152" cy="1207008"/>
          </a:xfrm>
          <a:prstGeom prst="roundRect">
            <a:avLst>
              <a:gd fmla="val 50000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02920" y="3785616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502920" y="3785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E6A73"/>
              </a:buClr>
              <a:buSzPts val="1400"/>
              <a:buFont typeface="Cambria"/>
              <a:buNone/>
            </a:pPr>
            <a:r>
              <a:rPr b="1" lang="es-419" sz="1400">
                <a:solidFill>
                  <a:srgbClr val="DE6A73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1051560" y="37947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400"/>
              <a:buFont typeface="Calibri"/>
              <a:buNone/>
            </a:pPr>
            <a:r>
              <a:rPr b="1" lang="es-419" sz="14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Próximos pasos 2 y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1051560" y="4087368"/>
            <a:ext cx="1828800" cy="182880"/>
          </a:xfrm>
          <a:prstGeom prst="roundRect">
            <a:avLst>
              <a:gd fmla="val 30000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051560" y="40873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E6A73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DE6A73"/>
                </a:solidFill>
                <a:latin typeface="Calibri"/>
                <a:ea typeface="Calibri"/>
                <a:cs typeface="Calibri"/>
                <a:sym typeface="Calibri"/>
              </a:rPr>
              <a:t>Modelo y seguimiento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1051560" y="431596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Recalibrar el modelo de demanda con el hallazgo del backtesting antes de usarlo para decisiones de inventario. Luego ejecutar el FDS, medir y alimentar el siguiente backtesting.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120640" y="3749040"/>
            <a:ext cx="3675888" cy="1207008"/>
          </a:xfrm>
          <a:prstGeom prst="roundRect">
            <a:avLst>
              <a:gd fmla="val 9091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248656" y="3922776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5413248" y="3877056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Bajar multiplicador de 2.0 a ~1.5 y volver a correr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5248656" y="4178808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413248" y="4133088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Ejecutar el FDS y registrar ventas reales por producto ofertado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5248656" y="4434840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5413248" y="4389120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Comparar vs. proyección y alimentar el backtesting del siguiente FDS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5248656" y="4690872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5413248" y="4645152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Cada FDS que corra, el modelo se vuelve más confiable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Resultados de esta corrida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FDS 3-5 julio 2026 · Atizapán (#9) y Coyoacán (#14) · 2,472 productos-tienda evaluados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228600" y="11430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356616" y="12710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777240" y="12710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301 ofertas asignadas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22"/>
          <p:cNvCxnSpPr/>
          <p:nvPr/>
        </p:nvCxnSpPr>
        <p:spPr>
          <a:xfrm>
            <a:off x="356616" y="16916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2"/>
          <p:cNvSpPr/>
          <p:nvPr/>
        </p:nvSpPr>
        <p:spPr>
          <a:xfrm>
            <a:off x="356616" y="17647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12.2% del universo. El resto (2,171) descartado con motivo explícito y auditable — no por omisión.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3172968" y="11430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3300984" y="12710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3721608" y="12710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22.03% margen mínimo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2"/>
          <p:cNvCxnSpPr/>
          <p:nvPr/>
        </p:nvCxnSpPr>
        <p:spPr>
          <a:xfrm>
            <a:off x="3300984" y="16916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22"/>
          <p:cNvSpPr/>
          <p:nvPr/>
        </p:nvSpPr>
        <p:spPr>
          <a:xfrm>
            <a:off x="3300984" y="17647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Ningún producto quedó por debajo del piso. Descuento exhibido promedio: 6.8%. 14 pendientes de aprobación Comercial.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6117336" y="11430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6245352" y="12710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6665976" y="12710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Unidades +21.8%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22"/>
          <p:cNvCxnSpPr/>
          <p:nvPr/>
        </p:nvCxnSpPr>
        <p:spPr>
          <a:xfrm>
            <a:off x="6245352" y="16916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22"/>
          <p:cNvSpPr/>
          <p:nvPr/>
        </p:nvSpPr>
        <p:spPr>
          <a:xfrm>
            <a:off x="6245352" y="17647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Proyección escenario base. GMV +20.3% · Utilidad +13.6%. Mundial: 15 ofertas con la mejor utilidad incremental por oferta ($545).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228600" y="27432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356616" y="28712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E0F5EC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777240" y="28712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Mecánicas asignadas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2"/>
          <p:cNvCxnSpPr/>
          <p:nvPr/>
        </p:nvCxnSpPr>
        <p:spPr>
          <a:xfrm>
            <a:off x="356616" y="32918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22"/>
          <p:cNvSpPr/>
          <p:nvPr/>
        </p:nvSpPr>
        <p:spPr>
          <a:xfrm>
            <a:off x="356616" y="33649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SPON 166 · BNSP 75 · BNSDP 40 · 6x5 14 · 5x4 4 · 4x3 2. Viernes 100 ofertas · Sábado 100 · Domingo 86 · Mundial Sáb+Dom 15.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3172968" y="27432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3300984" y="28712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721608" y="28712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⚠️ Proyección sobreestimada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22"/>
          <p:cNvCxnSpPr/>
          <p:nvPr/>
        </p:nvCxnSpPr>
        <p:spPr>
          <a:xfrm>
            <a:off x="3300984" y="32918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22"/>
          <p:cNvSpPr/>
          <p:nvPr/>
        </p:nvSpPr>
        <p:spPr>
          <a:xfrm>
            <a:off x="3300984" y="33649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Backtesting contra 24,485 promos reales: el modelo sobreestima el uplift en 25.3 pts. Los +21.8% y +13.6% probablemente están inflados. Ver slide siguiente.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6117336" y="27432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6245352" y="28712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6665976" y="28712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Sólido: qué ofertar y con qué margen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22"/>
          <p:cNvCxnSpPr/>
          <p:nvPr/>
        </p:nvCxnSpPr>
        <p:spPr>
          <a:xfrm>
            <a:off x="6245352" y="32918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22"/>
          <p:cNvSpPr/>
          <p:nvPr/>
        </p:nvSpPr>
        <p:spPr>
          <a:xfrm>
            <a:off x="6245352" y="33649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La selección de productos y mecánicas es matemática de costos — no depende de la proyección de demanda que falló.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6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Las reglas base del modelo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Tres principios que no se negocian en ninguna oferta de este fin de semana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320040" y="1143000"/>
            <a:ext cx="850392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457200" y="1252728"/>
            <a:ext cx="475488" cy="475488"/>
          </a:xfrm>
          <a:prstGeom prst="roundRect">
            <a:avLst>
              <a:gd fmla="val 23077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1051560" y="12527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Piso de margen 22%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1051560" y="1545336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Ningún producto puede terminar con menos de 22% de margen después de la oferta. Sin excepciones. Calculado igual que lo audita Finanzas (neto de IVA e IEPS).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6355080" y="1252728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6355080" y="125272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Restricción dura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6355080" y="1655064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6355080" y="1655064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Guardrail económico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320040" y="2404872"/>
            <a:ext cx="850392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457200" y="2514600"/>
            <a:ext cx="475488" cy="475488"/>
          </a:xfrm>
          <a:prstGeom prst="roundRect">
            <a:avLst>
              <a:gd fmla="val 23077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457200" y="25146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1051560" y="2514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Priorizar por elasticidad y rotación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1051560" y="280720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Cada producto recibe un puntaje según qué tan sensible es al precio y qué tan bien se vende. Los de prioridad baja reciben poco o ningún presupuesto de descuento.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6355080" y="2514600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6355080" y="2514600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Score = elasticidad × rotación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6355080" y="2916936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6355080" y="2916936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Más prioridad = más descuento permitido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320040" y="3666744"/>
            <a:ext cx="850392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457200" y="3776472"/>
            <a:ext cx="475488" cy="475488"/>
          </a:xfrm>
          <a:prstGeom prst="roundRect">
            <a:avLst>
              <a:gd fmla="val 23077" name="adj"/>
            </a:avLst>
          </a:prstGeom>
          <a:solidFill>
            <a:srgbClr val="EDE9F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457200" y="37764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1051560" y="3776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Mecánica exige mínimo de unidades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1051560" y="40690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Las mecánicas (3x2, 4x3, SPON, BNSDP) siempre exigen comprar 2-3 unidades mínimo. El precio de un producto suelto nunca cambia — el costo de la promo solo lo paga quien la activa.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/>
          <p:nvPr/>
        </p:nvSpPr>
        <p:spPr>
          <a:xfrm>
            <a:off x="6355080" y="3776472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E9F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6355080" y="3776472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Solo paga quien activa la oferta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6355080" y="4178808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6355080" y="417880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Proyección de margen más realista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530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9B291">
              <a:alpha val="30196"/>
            </a:srgbClr>
          </a:solidFill>
          <a:ln cap="flat" cmpd="sng" w="12700">
            <a:solidFill>
              <a:srgbClr val="59B2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DE6A73">
              <a:alpha val="27843"/>
            </a:srgbClr>
          </a:solidFill>
          <a:ln cap="flat" cmpd="sng" w="12700">
            <a:solidFill>
              <a:srgbClr val="DE6A73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182880" y="-274320"/>
            <a:ext cx="914400" cy="914400"/>
          </a:xfrm>
          <a:prstGeom prst="ellipse">
            <a:avLst/>
          </a:prstGeom>
          <a:solidFill>
            <a:srgbClr val="E0C233">
              <a:alpha val="32156"/>
            </a:srgbClr>
          </a:solidFill>
          <a:ln cap="flat" cmpd="sng" w="12700">
            <a:solidFill>
              <a:srgbClr val="E0C233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s-419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Contexto de temporada y ejecución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411480" y="1298448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411480" y="143560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612648" y="18013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Mundial de fútbol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612648" y="21214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Cerveza, refrescos y botanas detectados por nombre. Prioridad extra y activos Sábado + Domingo — hay partidos ambos días.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411480" y="2971800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411480" y="310896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612648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sugerido por tipo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612648" y="37947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Mundial → Sáb+Dom · Despensa → Domingo · Alta rotación → Viernes · Ticket alto → Domingo · Resto → Sábado (día bandera).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4754880" y="1298448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4754880" y="143560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4956048" y="18013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Tope de autonomía: 30%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4956048" y="21214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Ningún producto se oferta automáticamente con más del 30% de descuento. Los que necesitarían más quedan marcados “requiere aprobación Comercial” (14 productos).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4754880" y="2971800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4754880" y="310896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4956048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descontar lo que ya se vende solo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4956048" y="37947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229 productos descartados porque el descuento no justificaba el margen regalado. Que el margen aguante no significa que valga la pena dar la oferta.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Límites de este análisis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Queremos ser transparentes antes de que alguien los descubra por su cuenta.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201168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38328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01168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No garantiza ventas exactas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10896" y="2487168"/>
            <a:ext cx="1828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Es una estimación estadística con niveles de confianza distintos por producto — no una garantía de resultado.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414016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551176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414016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Solo pricing, no logística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523744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No considera quiebres de inventario ni capacidad logística. Si un producto ofertado no tiene stock, el modelo no lo detecta.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626864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764024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626864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“Mundial” es un proxy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736592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Detección por nombre de producto, no por licencia FIFA. El día sugerido tampoco considera el calendario real de partidos.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839712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976872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839712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Supuestos declarados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949440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El multiplicador de visibilidad y las tasas de redención por mecánica son supuestos — no medidos directamente. El backtesting los pone a prueba pero no los reemplaza.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144562" y="325526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10896" y="3597729"/>
            <a:ext cx="1828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530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9B291">
              <a:alpha val="30196"/>
            </a:srgbClr>
          </a:solidFill>
          <a:ln cap="flat" cmpd="sng" w="12700">
            <a:solidFill>
              <a:srgbClr val="59B2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DE6A73">
              <a:alpha val="27843"/>
            </a:srgbClr>
          </a:solidFill>
          <a:ln cap="flat" cmpd="sng" w="12700">
            <a:solidFill>
              <a:srgbClr val="DE6A73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182880" y="-274320"/>
            <a:ext cx="914400" cy="914400"/>
          </a:xfrm>
          <a:prstGeom prst="ellipse">
            <a:avLst/>
          </a:prstGeom>
          <a:solidFill>
            <a:srgbClr val="E0C233">
              <a:alpha val="32156"/>
            </a:srgbClr>
          </a:solidFill>
          <a:ln cap="flat" cmpd="sng" w="12700">
            <a:solidFill>
              <a:srgbClr val="E0C233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s-419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Preguntas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411480" y="1298448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411480" y="143560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612648" y="18013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margen y la selección de productos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612648" y="21214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Cómo se calculó el piso del 22% y por qué un producto quedó dentro o fuera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411480" y="2971800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411480" y="310896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612648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guardrails económicos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612648" y="37947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Por qué 229 productos no recibieron oferta aunque el margen técnicamente lo permitía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4754880" y="1298448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4754880" y="143560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4956048" y="18013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hallazgo del backtesting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4956048" y="21214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Qué significa el sesgo de +25.3 pts y cómo recalibrar el modelo de demanda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4754880" y="2971800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4754880" y="310896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4956048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 más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4956048" y="37947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 gusto profundizamos en cualquier parte del análisis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