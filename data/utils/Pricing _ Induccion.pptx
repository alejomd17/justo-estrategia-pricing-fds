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0436777b1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0436777b1_2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f0436777b1_2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0436777b1_2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g3f0436777b1_2_1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0436777b1_2_1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0436777b1_2_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f0436777b1_2_2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0436777b1_2_2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0436777b1_2_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g3f0436777b1_2_9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0436777b1_2_9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0436777b1_2_1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f0436777b1_2_12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0436777b1_2_12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0436777b1_2_1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f0436777b1_2_17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0436777b1_2_17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0436777b1_2_2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g3f0436777b1_2_231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0436777b1_2_231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0436777b1_2_2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f0436777b1_2_27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0436777b1_2_27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0436777b1_2_3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g3f0436777b1_2_30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0436777b1_2_30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0436777b1_2_3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g3f0436777b1_2_34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f0436777b1_2_34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0436777b1_2_4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g3f0436777b1_2_42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f0436777b1_2_42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0436777b1_2_4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g3f0436777b1_2_48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0436777b1_2_48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0436777b1_2_5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g3f0436777b1_2_52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f0436777b1_2_52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0436777b1_2_5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f0436777b1_2_566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0436777b1_2_566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53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-182880" y="-182880"/>
            <a:ext cx="2286000" cy="2286000"/>
          </a:xfrm>
          <a:prstGeom prst="ellipse">
            <a:avLst/>
          </a:prstGeom>
          <a:solidFill>
            <a:srgbClr val="59B291">
              <a:alpha val="40000"/>
            </a:srgbClr>
          </a:solidFill>
          <a:ln cap="flat" cmpd="sng" w="12700">
            <a:solidFill>
              <a:srgbClr val="59B29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DE6A73">
              <a:alpha val="32156"/>
            </a:srgbClr>
          </a:solidFill>
          <a:ln cap="flat" cmpd="sng" w="12700">
            <a:solidFill>
              <a:srgbClr val="DE6A73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8046720" y="-365760"/>
            <a:ext cx="1097280" cy="1097280"/>
          </a:xfrm>
          <a:prstGeom prst="ellipse">
            <a:avLst/>
          </a:prstGeom>
          <a:solidFill>
            <a:srgbClr val="E0C233">
              <a:alpha val="34901"/>
            </a:srgbClr>
          </a:solidFill>
          <a:ln cap="flat" cmpd="sng" w="12700">
            <a:solidFill>
              <a:srgbClr val="E0C233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02920" y="1234440"/>
            <a:ext cx="1828800" cy="292608"/>
          </a:xfrm>
          <a:prstGeom prst="roundRect">
            <a:avLst>
              <a:gd fmla="val 25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02920" y="12344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s-419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 · DATA SCIENCE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02920" y="1627632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s-419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Bienvenidos al equipo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s-419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Pricing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>
            <a:off x="502920" y="2944368"/>
            <a:ext cx="1097280" cy="0"/>
          </a:xfrm>
          <a:prstGeom prst="straightConnector1">
            <a:avLst/>
          </a:prstGeom>
          <a:noFill/>
          <a:ln cap="flat" cmpd="sng" w="381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502920" y="312724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400"/>
              <a:buFont typeface="Calibri"/>
              <a:buNone/>
            </a:pPr>
            <a:r>
              <a:rPr lang="es-419" sz="14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Inducción · Motor de Precios · Hipótesis · Sprints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Justo  · 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2321" y="1"/>
            <a:ext cx="465935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347472" y="164592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600"/>
              <a:buFont typeface="Cambria"/>
              <a:buNone/>
            </a:pPr>
            <a:r>
              <a:rPr b="1" lang="es-419" sz="26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¿Qué es el área de Pricing?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347472" y="621792"/>
            <a:ext cx="84490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Misión · Quién la alimenta · Qué hace · Qué produce para el negocio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347472" y="932688"/>
            <a:ext cx="8449056" cy="658368"/>
          </a:xfrm>
          <a:prstGeom prst="roundRect">
            <a:avLst>
              <a:gd fmla="val 16667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02920" y="96926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alibri"/>
              <a:buNone/>
            </a:pPr>
            <a:r>
              <a:rPr b="1" lang="es-419" sz="900">
                <a:solidFill>
                  <a:srgbClr val="59B291"/>
                </a:solidFill>
                <a:latin typeface="Calibri"/>
                <a:ea typeface="Calibri"/>
                <a:cs typeface="Calibri"/>
                <a:sym typeface="Calibri"/>
              </a:rPr>
              <a:t>MISIÓN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02920" y="121615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419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Equilibrar ventas, rentabilidad y competitividad — con independencia analítica, basándose en datos reales de rotación, elasticidad, margen e index competitivo.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4747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4747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Quién la alimenta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4747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38912" y="2322576"/>
            <a:ext cx="164592" cy="164592"/>
          </a:xfrm>
          <a:prstGeom prst="ellipse">
            <a:avLst/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5836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3891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Monitoreo competitivo (Wiser), alertas de index y comportamiento del consumidor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34747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38912" y="314553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5836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Comercial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3891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Precio sugerido de entrada para SKUs nuevos. Contexto de negociación con proveedores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4747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38912" y="3968496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5836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Finanzas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3891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Validación de impacto económico, rebates y provisiones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249631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49631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analiza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249631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587752" y="2322576"/>
            <a:ext cx="164592" cy="16459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280720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Rotación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258775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Velocidad de venta por SKU. Alta vs. baja rotación define la urgencia del ajuste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249631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2587752" y="314553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80720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Elasticidad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58775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Sensibilidad precio-demanda. Define si subir o bajar precio conviene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49631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2587752" y="3968496"/>
            <a:ext cx="164592" cy="164592"/>
          </a:xfrm>
          <a:prstGeom prst="ellipse">
            <a:avLst/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280720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Index competitivo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58775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Precio de Justo vs. Walmart, Chedraui, La Comer — promedio 90 días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64515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64515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Qué decide y ejecuta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64515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36592" y="2322576"/>
            <a:ext cx="164592" cy="16459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95604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Precio de venta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73659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Dentro de rangos definidos, sin requerir aprobación de Comercial para cambios rutinarios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64515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736592" y="3145536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95604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Proceso manual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73659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Análisis SKU a SKU con base en dashboard y set competitivo. Se validan guardrails antes de ejecutar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64515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736592" y="396849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95604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Recomendación a Comercial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73659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Detecta brechas de costo y emite accionables: 'necesitamos X pts de mejora'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793992" y="1719072"/>
            <a:ext cx="2057400" cy="438912"/>
          </a:xfrm>
          <a:prstGeom prst="roundRect">
            <a:avLst>
              <a:gd fmla="val 20833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793992" y="171907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Guardrails y control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793992" y="223113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885432" y="2322576"/>
            <a:ext cx="164592" cy="16459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104888" y="228600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Piso de margen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6885432" y="250545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3%–55%. Si el ajuste vulnera este rango, no se aplica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793992" y="305409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885432" y="3145536"/>
            <a:ext cx="164592" cy="164592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104888" y="310896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Umbrales de descuento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885432" y="332841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&gt;30% requiere Vo.Bo. del Head de Comercial. Precio bajo costo: aprobación de Finanzas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793992" y="3877056"/>
            <a:ext cx="205740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885432" y="3968496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104888" y="3931920"/>
            <a:ext cx="1655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Blacklist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885432" y="4151376"/>
            <a:ext cx="1874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SKUs excluidos del motor por acuerdos comerciales. No se modifican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47472" y="466344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b="1"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Resultado para el negocio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47472" y="4828032"/>
            <a:ext cx="2743200" cy="274320"/>
          </a:xfrm>
          <a:prstGeom prst="roundRect">
            <a:avLst>
              <a:gd fmla="val 30000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38912" y="482803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Ventas (GMV)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307592" y="4828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Precio competitivo que no destruye volumen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200400" y="4828032"/>
            <a:ext cx="2743200" cy="274320"/>
          </a:xfrm>
          <a:prstGeom prst="roundRect">
            <a:avLst>
              <a:gd fmla="val 30000" name="adj"/>
            </a:avLst>
          </a:prstGeom>
          <a:solidFill>
            <a:srgbClr val="E0F5EC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291840" y="482803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Pure margin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160520" y="4828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Margen saludable por SKU y categoría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053328" y="4828032"/>
            <a:ext cx="2743200" cy="274320"/>
          </a:xfrm>
          <a:prstGeom prst="roundRect">
            <a:avLst>
              <a:gd fmla="val 30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144768" y="482803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Gross profit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013448" y="482803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Rentabilidad total del negocio optimizada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¿Qué hace pricing en Justo?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Somos el área que define los precios de venta, toma decisiones con base en datos y trabaja con hipótesis para maximizar ventas, margen y gross profit.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201168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38328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01168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Proceso manual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10896" y="2487168"/>
            <a:ext cx="1828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Los ajustes de precio se ejecutan manualmente con base en el análisis del dashboard y el set competitivo.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414016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551176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414016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Indicadores clave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523744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Margen puro, gross profit, rotación, share, elasticidad e index de precio de línea.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626864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764024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626864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KVIs protegidos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736592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Productos de referencia. No se tocan. Se sacrifica margen ahí y se recupera en el resto del catálogo.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839712" y="1417320"/>
            <a:ext cx="2057400" cy="32918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6976872" y="1572768"/>
            <a:ext cx="365760" cy="365760"/>
          </a:xfrm>
          <a:prstGeom prst="roundRect">
            <a:avLst>
              <a:gd fmla="val 25000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839712" y="205740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Blacklist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949440" y="2487168"/>
            <a:ext cx="1828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SKUs excluidos del proceso. Compradores los solicitan. Pricing los registra en el sistema.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144562" y="325526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Motor de precios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10896" y="3597729"/>
            <a:ext cx="18288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Corre diario 9:30 AM. Ajusta precios según set competitivo, margen mínimo y reglas de negocio.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El motor de precios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035040" y="292608"/>
            <a:ext cx="2560320" cy="329184"/>
          </a:xfrm>
          <a:prstGeom prst="roundRect">
            <a:avLst>
              <a:gd fmla="val 27778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035040" y="29260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Corre diario · 9:30–9:40 AM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11480" y="932688"/>
            <a:ext cx="347472" cy="34747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11480" y="93268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868680" y="9144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Set competitivo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868680" y="11704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Walmart, Chedraui, La Comer — promedio 90 días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9"/>
          <p:cNvCxnSpPr/>
          <p:nvPr/>
        </p:nvCxnSpPr>
        <p:spPr>
          <a:xfrm>
            <a:off x="566928" y="128016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9"/>
          <p:cNvSpPr/>
          <p:nvPr/>
        </p:nvSpPr>
        <p:spPr>
          <a:xfrm>
            <a:off x="411480" y="1755648"/>
            <a:ext cx="347472" cy="34747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11480" y="17556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868680" y="1737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Validar blacklist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868680" y="19933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Si está en blacklist, no se modifica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9"/>
          <p:cNvCxnSpPr/>
          <p:nvPr/>
        </p:nvCxnSpPr>
        <p:spPr>
          <a:xfrm>
            <a:off x="566928" y="210312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9"/>
          <p:cNvSpPr/>
          <p:nvPr/>
        </p:nvSpPr>
        <p:spPr>
          <a:xfrm>
            <a:off x="411480" y="2578608"/>
            <a:ext cx="347472" cy="34747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11480" y="25786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868680" y="25603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Detectar descuentos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868680" y="28163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¿Justo tiene promo? ¿La competencia también?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9"/>
          <p:cNvCxnSpPr/>
          <p:nvPr/>
        </p:nvCxnSpPr>
        <p:spPr>
          <a:xfrm>
            <a:off x="566928" y="292608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9"/>
          <p:cNvSpPr/>
          <p:nvPr/>
        </p:nvSpPr>
        <p:spPr>
          <a:xfrm>
            <a:off x="411480" y="3401568"/>
            <a:ext cx="347472" cy="34747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11480" y="3401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868680" y="33832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Aplicar regla de ajuste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868680" y="363931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4 reglas según combinación de descuentos y gap vs mercado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9"/>
          <p:cNvCxnSpPr/>
          <p:nvPr/>
        </p:nvCxnSpPr>
        <p:spPr>
          <a:xfrm>
            <a:off x="566928" y="374904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9"/>
          <p:cNvSpPr/>
          <p:nvPr/>
        </p:nvSpPr>
        <p:spPr>
          <a:xfrm>
            <a:off x="411480" y="4224528"/>
            <a:ext cx="347472" cy="347472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11480" y="4224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868680" y="42062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Validar margen final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868680" y="446227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Siempre entre 3% y 55%. Si no cumple, no se aplica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074920" y="777240"/>
            <a:ext cx="3794760" cy="4160520"/>
          </a:xfrm>
          <a:prstGeom prst="roundRect">
            <a:avLst>
              <a:gd fmla="val 3614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212080" y="86868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Reglas de ajuste del motor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193792" y="1298448"/>
            <a:ext cx="352044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285232" y="1453896"/>
            <a:ext cx="292608" cy="29260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285232" y="145389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650992" y="135331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Ambos con descuento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5650992" y="1627632"/>
            <a:ext cx="1005840" cy="219456"/>
          </a:xfrm>
          <a:prstGeom prst="roundRect">
            <a:avLst>
              <a:gd fmla="val 25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650992" y="162763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193792" y="2103120"/>
            <a:ext cx="352044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5285232" y="2258568"/>
            <a:ext cx="292608" cy="29260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285232" y="225856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5650992" y="215798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Solo Justo con descuento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650992" y="2432304"/>
            <a:ext cx="1005840" cy="219456"/>
          </a:xfrm>
          <a:prstGeom prst="roundRect">
            <a:avLst>
              <a:gd fmla="val 25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650992" y="24323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-3% a 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193792" y="2907792"/>
            <a:ext cx="352044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285232" y="3063240"/>
            <a:ext cx="292608" cy="29260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5285232" y="30632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5650992" y="29626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Solo competencia con descuento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650992" y="3236976"/>
            <a:ext cx="1005840" cy="219456"/>
          </a:xfrm>
          <a:prstGeom prst="roundRect">
            <a:avLst>
              <a:gd fmla="val 25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5650992" y="323697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+2% a +3%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5193792" y="3712464"/>
            <a:ext cx="352044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285232" y="3867912"/>
            <a:ext cx="292608" cy="29260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285232" y="38679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650992" y="37673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Ninguno con descuento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650992" y="4041648"/>
            <a:ext cx="1005840" cy="219456"/>
          </a:xfrm>
          <a:prstGeom prst="roundRect">
            <a:avLst>
              <a:gd fmla="val 25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650992" y="4041648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+2% a +6%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Cómo operamos el pricing hoy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Tres herramientas en el día a día para tomar decisiones de precio con base en 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47472" y="1042416"/>
            <a:ext cx="73152" cy="1207008"/>
          </a:xfrm>
          <a:prstGeom prst="roundRect">
            <a:avLst>
              <a:gd fmla="val 50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02920" y="1078992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02920" y="1078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400"/>
              <a:buFont typeface="Cambria"/>
              <a:buNone/>
            </a:pPr>
            <a:r>
              <a:rPr b="1" lang="es-419" sz="14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051560" y="10881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400"/>
              <a:buFont typeface="Calibri"/>
              <a:buNone/>
            </a:pPr>
            <a:r>
              <a:rPr b="1" lang="es-419" sz="14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Dashboard de pricing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051560" y="1380744"/>
            <a:ext cx="1828800" cy="182880"/>
          </a:xfrm>
          <a:prstGeom prst="roundRect">
            <a:avLst>
              <a:gd fmla="val 30000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1051560" y="138074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Consulta diaria · Power BI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051560" y="1609344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La fuente principal de decisión. Muestra en tiempo real el index competitivo por SKU y categoría, el margen, la rotación y el share. Antes de mover cualquier precio, se revisa el dashboard.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120640" y="1042416"/>
            <a:ext cx="3675888" cy="1207008"/>
          </a:xfrm>
          <a:prstGeom prst="roundRect">
            <a:avLst>
              <a:gd fmla="val 9091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248656" y="1216152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413248" y="1170432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Index competitivo vs. Walmart, Chedraui, La Comer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248656" y="1472184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413248" y="1426464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Margen actual y gap vs. piso mínimo (22%)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248656" y="1728216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413248" y="1682496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Rotación: alta / media / baja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248656" y="1984248"/>
            <a:ext cx="109728" cy="109728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413248" y="1938528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SKUs con alertas: fuera de rango, en blacklist, con promo activa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347472" y="2395728"/>
            <a:ext cx="73152" cy="1207008"/>
          </a:xfrm>
          <a:prstGeom prst="roundRect">
            <a:avLst>
              <a:gd fmla="val 50000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02920" y="2432304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02920" y="24323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C233"/>
              </a:buClr>
              <a:buSzPts val="1400"/>
              <a:buFont typeface="Cambria"/>
              <a:buNone/>
            </a:pPr>
            <a:r>
              <a:rPr b="1" lang="es-419" sz="1400">
                <a:solidFill>
                  <a:srgbClr val="E0C233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1051560" y="244144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400"/>
              <a:buFont typeface="Calibri"/>
              <a:buNone/>
            </a:pPr>
            <a:r>
              <a:rPr b="1" lang="es-419" sz="14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Proceso manual de ajuste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1051560" y="2734056"/>
            <a:ext cx="1828800" cy="182880"/>
          </a:xfrm>
          <a:prstGeom prst="roundRect">
            <a:avLst>
              <a:gd fmla="val 30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1051560" y="273405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C233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E0C233"/>
                </a:solidFill>
                <a:latin typeface="Calibri"/>
                <a:ea typeface="Calibri"/>
                <a:cs typeface="Calibri"/>
                <a:sym typeface="Calibri"/>
              </a:rPr>
              <a:t>Ejecución · Análisis SKU a SKU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051560" y="2962656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Con base en lo que muestra el dashboard, se analizan los SKUs y se toma la decisión de precio manualmente: subir, bajar o mantener. Se valida contra el set competitivo y los guardrails antes de ejecutar.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5120640" y="2395728"/>
            <a:ext cx="3675888" cy="1207008"/>
          </a:xfrm>
          <a:prstGeom prst="roundRect">
            <a:avLst>
              <a:gd fmla="val 9091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248656" y="2569464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413248" y="2523744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Revisión del set competitivo (promedio 7–90 días)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5248656" y="2825496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413248" y="2779776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Validación de margen mínimo y blacklist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5248656" y="3081528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5413248" y="3035808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Aplicación de reglas: 4 escenarios de descuento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5248656" y="3337560"/>
            <a:ext cx="109728" cy="109728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5413248" y="3291840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Registro del cambio con sustento y fecha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47472" y="3749040"/>
            <a:ext cx="73152" cy="1207008"/>
          </a:xfrm>
          <a:prstGeom prst="roundRect">
            <a:avLst>
              <a:gd fmla="val 50000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02920" y="3785616"/>
            <a:ext cx="457200" cy="457200"/>
          </a:xfrm>
          <a:prstGeom prst="roundRect">
            <a:avLst>
              <a:gd fmla="val 20000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502920" y="37856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E6A73"/>
              </a:buClr>
              <a:buSzPts val="1400"/>
              <a:buFont typeface="Cambria"/>
              <a:buNone/>
            </a:pPr>
            <a:r>
              <a:rPr b="1" lang="es-419" sz="1400">
                <a:solidFill>
                  <a:srgbClr val="DE6A73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1051560" y="37947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400"/>
              <a:buFont typeface="Calibri"/>
              <a:buNone/>
            </a:pPr>
            <a:r>
              <a:rPr b="1" lang="es-419" sz="14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Reporte diario por correo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1051560" y="4087368"/>
            <a:ext cx="1828800" cy="182880"/>
          </a:xfrm>
          <a:prstGeom prst="roundRect">
            <a:avLst>
              <a:gd fmla="val 30000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051560" y="40873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E6A73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DE6A73"/>
                </a:solidFill>
                <a:latin typeface="Calibri"/>
                <a:ea typeface="Calibri"/>
                <a:cs typeface="Calibri"/>
                <a:sym typeface="Calibri"/>
              </a:rPr>
              <a:t>Comunicación · Todas las áreas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1051560" y="431596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Cada día se envía un reporte a Comercial, Growth y Finanzas con el estado del día: movimientos de precio ejecutados, alertas de margen y diferencial competitivo por categoría.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5120640" y="3749040"/>
            <a:ext cx="3675888" cy="1207008"/>
          </a:xfrm>
          <a:prstGeom prst="roundRect">
            <a:avLst>
              <a:gd fmla="val 9091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248656" y="3922776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5413248" y="3877056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Diferencial competitivo actualizado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5248656" y="4178808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413248" y="4133088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Alertas de margen: SKUs bajo el piso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5248656" y="4434840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5413248" y="4389120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Movimientos de precio ejecutados en el día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5248656" y="4690872"/>
            <a:ext cx="109728" cy="109728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5413248" y="4645152"/>
            <a:ext cx="3273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SKUs en promoción activa y posibles traslapes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/>
          <p:nvPr/>
        </p:nvSpPr>
        <p:spPr>
          <a:xfrm>
            <a:off x="457200" y="21945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Estructura del área de Pricing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Roles y responsabilidades que cubre el área hoy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347472" y="987552"/>
            <a:ext cx="8449056" cy="475488"/>
          </a:xfrm>
          <a:prstGeom prst="roundRect">
            <a:avLst>
              <a:gd fmla="val 23077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347472" y="987552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s-419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Área de Pricing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005072" y="987552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286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Roles y responsabilidades que cubre el área hoy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347472" y="1591056"/>
            <a:ext cx="2761488" cy="1353312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457200" y="1700784"/>
            <a:ext cx="2542032" cy="237744"/>
          </a:xfrm>
          <a:prstGeom prst="roundRect">
            <a:avLst>
              <a:gd fmla="val 26923" name="adj"/>
            </a:avLst>
          </a:prstGeom>
          <a:solidFill>
            <a:srgbClr val="D4E8E1"/>
          </a:solidFill>
          <a:ln cap="flat" cmpd="sng" w="12700">
            <a:solidFill>
              <a:srgbClr val="D4E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512064" y="1755648"/>
            <a:ext cx="128016" cy="128016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694944" y="1700784"/>
            <a:ext cx="2304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Análisis de precios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75488" y="2011680"/>
            <a:ext cx="25054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Revisa el dashboard diariamente: index competitivo, margen, rotación y share por SKU y categoría. Es la base de cada decisión.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200400" y="1591056"/>
            <a:ext cx="2761488" cy="1353312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3310128" y="1700784"/>
            <a:ext cx="2542032" cy="237744"/>
          </a:xfrm>
          <a:prstGeom prst="roundRect">
            <a:avLst>
              <a:gd fmla="val 26923" name="adj"/>
            </a:avLst>
          </a:prstGeom>
          <a:solidFill>
            <a:srgbClr val="FAF6D0"/>
          </a:solidFill>
          <a:ln cap="flat" cmpd="sng" w="12700">
            <a:solidFill>
              <a:srgbClr val="FAF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364992" y="1755648"/>
            <a:ext cx="128016" cy="128016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3547872" y="1700784"/>
            <a:ext cx="2304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Ejecución de cambios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3328416" y="2011680"/>
            <a:ext cx="25054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Aplica ajustes de precio manualmente, validando guardrails, set competitivo y margen mínimo antes de ejecutar cada movimiento.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053328" y="1591056"/>
            <a:ext cx="2761488" cy="1353312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6163056" y="1700784"/>
            <a:ext cx="2542032" cy="237744"/>
          </a:xfrm>
          <a:prstGeom prst="roundRect">
            <a:avLst>
              <a:gd fmla="val 26923" name="adj"/>
            </a:avLst>
          </a:prstGeom>
          <a:solidFill>
            <a:srgbClr val="FAEAEA"/>
          </a:solidFill>
          <a:ln cap="flat" cmpd="sng" w="12700">
            <a:solidFill>
              <a:srgbClr val="FA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6217920" y="1755648"/>
            <a:ext cx="128016" cy="128016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6400800" y="1700784"/>
            <a:ext cx="2304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040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8B3040"/>
                </a:solidFill>
                <a:latin typeface="Calibri"/>
                <a:ea typeface="Calibri"/>
                <a:cs typeface="Calibri"/>
                <a:sym typeface="Calibri"/>
              </a:rPr>
              <a:t>Reporte diario por correo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6181344" y="2011680"/>
            <a:ext cx="25054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Envía cada día a Comercial, Growth y Finanzas: movimientos ejecutados, alertas de margen y diferencial competitivo por categoría.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347472" y="3035808"/>
            <a:ext cx="2761488" cy="1353312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57200" y="3145536"/>
            <a:ext cx="2542032" cy="237744"/>
          </a:xfrm>
          <a:prstGeom prst="roundRect">
            <a:avLst>
              <a:gd fmla="val 26923" name="adj"/>
            </a:avLst>
          </a:prstGeom>
          <a:solidFill>
            <a:srgbClr val="E0F5EC"/>
          </a:solidFill>
          <a:ln cap="flat" cmpd="sng" w="12700">
            <a:solidFill>
              <a:srgbClr val="E0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12064" y="3200400"/>
            <a:ext cx="128016" cy="128016"/>
          </a:xfrm>
          <a:prstGeom prst="ellipse">
            <a:avLst/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694944" y="3145536"/>
            <a:ext cx="2304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3A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1A5C3A"/>
                </a:solidFill>
                <a:latin typeface="Calibri"/>
                <a:ea typeface="Calibri"/>
                <a:cs typeface="Calibri"/>
                <a:sym typeface="Calibri"/>
              </a:rPr>
              <a:t>Gestión de blacklist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75488" y="3456432"/>
            <a:ext cx="25054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Registra y controla los SKUs excluidos del proceso por acuerdos comerciales o condiciones contractuales con proveedores.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3200400" y="3035808"/>
            <a:ext cx="2761488" cy="1353312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3310128" y="3145536"/>
            <a:ext cx="2542032" cy="237744"/>
          </a:xfrm>
          <a:prstGeom prst="roundRect">
            <a:avLst>
              <a:gd fmla="val 26923" name="adj"/>
            </a:avLst>
          </a:prstGeom>
          <a:solidFill>
            <a:srgbClr val="D4E8E1"/>
          </a:solidFill>
          <a:ln cap="flat" cmpd="sng" w="12700">
            <a:solidFill>
              <a:srgbClr val="D4E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3364992" y="3200400"/>
            <a:ext cx="128016" cy="128016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3547872" y="3145536"/>
            <a:ext cx="2304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Recomendaciones a Comercial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328416" y="3456432"/>
            <a:ext cx="25054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Detecta brechas de costo y emite accionables: qué SKUs necesitan mejora de costo para sostener competitividad sin destruir margen.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6053328" y="3035808"/>
            <a:ext cx="2761488" cy="1353312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6163056" y="3145536"/>
            <a:ext cx="2542032" cy="237744"/>
          </a:xfrm>
          <a:prstGeom prst="roundRect">
            <a:avLst>
              <a:gd fmla="val 26923" name="adj"/>
            </a:avLst>
          </a:prstGeom>
          <a:solidFill>
            <a:srgbClr val="FAF6D0"/>
          </a:solidFill>
          <a:ln cap="flat" cmpd="sng" w="12700">
            <a:solidFill>
              <a:srgbClr val="FAF6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6217920" y="3200400"/>
            <a:ext cx="128016" cy="128016"/>
          </a:xfrm>
          <a:prstGeom prst="ellipse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6400800" y="3145536"/>
            <a:ext cx="23042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Hipótesis y experimentos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6181344" y="3456432"/>
            <a:ext cx="250545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Trabaja con Data Science para definir hipótesis de precio orientadas a incrementar ventas, pure margin y gross profit.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Indicadores del área de pricing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Los indicadores que consultan a diario y sobre los que trabajarán las hipótesis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228600" y="11430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356616" y="12710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777240" y="12710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Pure margin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22"/>
          <p:cNvCxnSpPr/>
          <p:nvPr/>
        </p:nvCxnSpPr>
        <p:spPr>
          <a:xfrm>
            <a:off x="356616" y="16916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2"/>
          <p:cNvSpPr/>
          <p:nvPr/>
        </p:nvSpPr>
        <p:spPr>
          <a:xfrm>
            <a:off x="356616" y="17647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Margen sobre precio de venta sin considerar impuestos. Piso mínimo: 22%.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3172968" y="11430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3300984" y="12710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3721608" y="12710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Gross profit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2"/>
          <p:cNvCxnSpPr/>
          <p:nvPr/>
        </p:nvCxnSpPr>
        <p:spPr>
          <a:xfrm>
            <a:off x="3300984" y="16916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22"/>
          <p:cNvSpPr/>
          <p:nvPr/>
        </p:nvSpPr>
        <p:spPr>
          <a:xfrm>
            <a:off x="3300984" y="17647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Ganancia bruta total. Cruzado con volumen y rotación para priorizar SKUs.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6117336" y="11430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6245352" y="12710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6665976" y="12710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Rotación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22"/>
          <p:cNvCxnSpPr/>
          <p:nvPr/>
        </p:nvCxnSpPr>
        <p:spPr>
          <a:xfrm>
            <a:off x="6245352" y="16916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22"/>
          <p:cNvSpPr/>
          <p:nvPr/>
        </p:nvSpPr>
        <p:spPr>
          <a:xfrm>
            <a:off x="6245352" y="17647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Qué tan rápido se vende un producto. Clasifica en alta, media y baja rotación.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228600" y="27432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356616" y="28712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E0F5EC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777240" y="28712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2"/>
          <p:cNvCxnSpPr/>
          <p:nvPr/>
        </p:nvCxnSpPr>
        <p:spPr>
          <a:xfrm>
            <a:off x="356616" y="32918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22"/>
          <p:cNvSpPr/>
          <p:nvPr/>
        </p:nvSpPr>
        <p:spPr>
          <a:xfrm>
            <a:off x="356616" y="33649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Participación del SKU en ventas totales. Define qué tan sensible es al precio.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3172968" y="27432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3300984" y="28712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FAEAEA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721608" y="28712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Elasticidad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22"/>
          <p:cNvCxnSpPr/>
          <p:nvPr/>
        </p:nvCxnSpPr>
        <p:spPr>
          <a:xfrm>
            <a:off x="3300984" y="32918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22"/>
          <p:cNvSpPr/>
          <p:nvPr/>
        </p:nvSpPr>
        <p:spPr>
          <a:xfrm>
            <a:off x="3300984" y="33649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Sensibilidad de la demanda al cambio de precio. |E|&gt;1 elástico, |E|&lt;1 inelástico.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6117336" y="2743200"/>
            <a:ext cx="2743200" cy="1417320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6245352" y="2871216"/>
            <a:ext cx="329184" cy="329184"/>
          </a:xfrm>
          <a:prstGeom prst="roundRect">
            <a:avLst>
              <a:gd fmla="val 22222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6665976" y="2871216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Index precio línea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22"/>
          <p:cNvCxnSpPr/>
          <p:nvPr/>
        </p:nvCxnSpPr>
        <p:spPr>
          <a:xfrm>
            <a:off x="6245352" y="329184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22"/>
          <p:cNvSpPr/>
          <p:nvPr/>
        </p:nvSpPr>
        <p:spPr>
          <a:xfrm>
            <a:off x="6245352" y="3364992"/>
            <a:ext cx="24871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50"/>
              <a:buFont typeface="Calibri"/>
              <a:buNone/>
            </a:pPr>
            <a:r>
              <a:rPr lang="es-419" sz="105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Precio de Justo vs competencia. Base para decidir subidas y bajas.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Herramientas y fuentes de datos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365760" y="868680"/>
            <a:ext cx="4023360" cy="3977640"/>
          </a:xfrm>
          <a:prstGeom prst="roundRect">
            <a:avLst>
              <a:gd fmla="val 3448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Herramientas que usarán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594360" y="1481328"/>
            <a:ext cx="54864" cy="502920"/>
          </a:xfrm>
          <a:prstGeom prst="rect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49808" y="13898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Snowflake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749808" y="1664208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Base de datos principal. Tablas de pricing: AVAILABLE_STOCK_WMS, VW_CAMPAIGN_HEALTH_PBI, MASTER_CATALOG.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94360" y="2286000"/>
            <a:ext cx="54864" cy="502920"/>
          </a:xfrm>
          <a:prstGeom prst="rect">
            <a:avLst/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749808" y="219456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Power BI / Dashboard pricing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49808" y="2468880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Dashboard de index competitivo, márgenes por categoría, rotación y share.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594360" y="3090672"/>
            <a:ext cx="54864" cy="502920"/>
          </a:xfrm>
          <a:prstGeom prst="rect">
            <a:avLst/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749808" y="299923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Confluence / Jira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749808" y="3273552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Documentación de procesos del motor, blacklist y normatividad de pricing.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594360" y="3895344"/>
            <a:ext cx="54864" cy="502920"/>
          </a:xfrm>
          <a:prstGeom prst="rect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749808" y="380390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Wiser (inteligencia competitiva)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749808" y="4078224"/>
            <a:ext cx="3429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Fuente de precios de competencia. Walmart, Chedraui, La Comer, Walmart Express.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4709160" y="868680"/>
            <a:ext cx="4069080" cy="3977640"/>
          </a:xfrm>
          <a:prstGeom prst="roundRect">
            <a:avLst>
              <a:gd fmla="val 3448" name="adj"/>
            </a:avLst>
          </a:prstGeom>
          <a:solidFill>
            <a:srgbClr val="1A3530"/>
          </a:solidFill>
          <a:ln cap="flat" cmpd="sng" w="12700">
            <a:solidFill>
              <a:srgbClr val="1A3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4892040" y="96012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Query de arranque en Snowflake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4846320" y="138988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4846320" y="155448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  m.SKU,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4846320" y="171907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  m.SUPPLIER_NAME,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4846320" y="188366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  m.STATUS,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4846320" y="204825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  s.stock_total,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4846320" y="221284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  s.is_stockout_ambas_tiendas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4846320" y="237744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FROM ODS_GSHEETS.MASTER_CATALOG 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/>
          <p:nvPr/>
        </p:nvSpPr>
        <p:spPr>
          <a:xfrm>
            <a:off x="4846320" y="254203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LEFT JOIN (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4846320" y="270662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  SELECT PRODUCT_ID,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4846320" y="287121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    SUM(STOCK_IN_WAREHOUSE) AS stock_total,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4846320" y="303580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    BOOLAND_AGG(IS_STOCKOUT)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4846320" y="320040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  FROM DR_ANALYTICS.AVAILABLE_STOCK_WMS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4846320" y="336499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  WHERE WAREHOUSE_CORE_ID IN (9,14)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4846320" y="3529584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    AND IS_ACTIVE = TRUE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4846320" y="3694176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  GROUP BY PRODUCT_ID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4846320" y="385876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D4E8E1"/>
                </a:solidFill>
                <a:latin typeface="Courier New"/>
                <a:ea typeface="Courier New"/>
                <a:cs typeface="Courier New"/>
                <a:sym typeface="Courier New"/>
              </a:rPr>
              <a:t>) s ON m.SKU = s.PRODUCT_ID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4846320" y="402336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900"/>
              <a:buFont typeface="Courier New"/>
              <a:buNone/>
            </a:pPr>
            <a:r>
              <a:rPr lang="es-419" sz="9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ORDER BY m.SKU;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530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"/>
          <p:cNvSpPr/>
          <p:nvPr/>
        </p:nvSpPr>
        <p:spPr>
          <a:xfrm>
            <a:off x="411480" y="201168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s-419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Mapa de tablas en Snowflake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Las 6 tablas que alimentan el dashboard de pricing — catálogo, precios, competencia, ventas, elasticidad y promociones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7498080" y="237744"/>
            <a:ext cx="1417320" cy="310896"/>
          </a:xfrm>
          <a:prstGeom prst="roundRect">
            <a:avLst>
              <a:gd fmla="val 26471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7498080" y="237744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Snowflake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347472" y="1005840"/>
            <a:ext cx="1371600" cy="201168"/>
          </a:xfrm>
          <a:prstGeom prst="roundRect">
            <a:avLst>
              <a:gd fmla="val 31818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347472" y="10058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Catálogo y Precios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347472" y="1252728"/>
            <a:ext cx="4187952" cy="859536"/>
          </a:xfrm>
          <a:prstGeom prst="roundRect">
            <a:avLst>
              <a:gd fmla="val 12766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475488" y="132588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1100"/>
              <a:buFont typeface="Courier New"/>
              <a:buNone/>
            </a:pPr>
            <a:r>
              <a:rPr b="1" lang="es-419" sz="11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FULL_MASTER_CATALOG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75488" y="1563624"/>
            <a:ext cx="351130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475488" y="1563624"/>
            <a:ext cx="35113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SKU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881482" y="1563624"/>
            <a:ext cx="724205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881482" y="1563624"/>
            <a:ext cx="724205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Categoría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1660550" y="1563624"/>
            <a:ext cx="91074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1660550" y="1563624"/>
            <a:ext cx="91074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Subcategoría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2626157" y="1563624"/>
            <a:ext cx="91074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2626157" y="1563624"/>
            <a:ext cx="91074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Departamento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3591763" y="1563624"/>
            <a:ext cx="475488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3591763" y="1563624"/>
            <a:ext cx="47548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Marca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475488" y="177393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Maestro de productos. Punto de partida: sin categoría válida el SKU no entra al dashboard.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347472" y="2203704"/>
            <a:ext cx="4187952" cy="859536"/>
          </a:xfrm>
          <a:prstGeom prst="roundRect">
            <a:avLst>
              <a:gd fmla="val 12766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475488" y="2276856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1100"/>
              <a:buFont typeface="Courier New"/>
              <a:buNone/>
            </a:pPr>
            <a:r>
              <a:rPr b="1" lang="es-419" sz="11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PRICE_JUSTO_MS_HISTORY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475488" y="2514600"/>
            <a:ext cx="475488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475488" y="2514600"/>
            <a:ext cx="47548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Costo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1005840" y="2514600"/>
            <a:ext cx="91074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1005840" y="2514600"/>
            <a:ext cx="91074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Precio final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1971446" y="2514600"/>
            <a:ext cx="537667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1971446" y="2514600"/>
            <a:ext cx="537667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2563978" y="2514600"/>
            <a:ext cx="413309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2563978" y="2514600"/>
            <a:ext cx="413309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IEPS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3032150" y="2514600"/>
            <a:ext cx="351130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3032150" y="2514600"/>
            <a:ext cx="35113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IVA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3438144" y="2514600"/>
            <a:ext cx="97292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3438144" y="2514600"/>
            <a:ext cx="97292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Tienda 9 y 14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475488" y="27249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Historial de precios propios. Toma siempre el registro más reciente por día.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347472" y="3154680"/>
            <a:ext cx="1371600" cy="201168"/>
          </a:xfrm>
          <a:prstGeom prst="roundRect">
            <a:avLst>
              <a:gd fmla="val 31818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347472" y="315468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Competidores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347472" y="3401568"/>
            <a:ext cx="4187952" cy="859536"/>
          </a:xfrm>
          <a:prstGeom prst="roundRect">
            <a:avLst>
              <a:gd fmla="val 12766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475488" y="347472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1100"/>
              <a:buFont typeface="Courier New"/>
              <a:buNone/>
            </a:pPr>
            <a:r>
              <a:rPr b="1" lang="es-419" sz="11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PRICE_COMPETITOR_HISTORY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475488" y="3712464"/>
            <a:ext cx="91074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475488" y="3712464"/>
            <a:ext cx="91074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PRICE_AMOUNT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1441094" y="3712464"/>
            <a:ext cx="1280160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1441094" y="3712464"/>
            <a:ext cx="12801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Precio con descuento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2776118" y="3712464"/>
            <a:ext cx="97292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2776118" y="3712464"/>
            <a:ext cx="97292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Precio bundle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475488" y="392277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Precios de Walmart, Walmart Express, Chedraui y Chedraui Selecto. Promedio 7 días para calcular el index.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4681728" y="1005840"/>
            <a:ext cx="1371600" cy="201168"/>
          </a:xfrm>
          <a:prstGeom prst="roundRect">
            <a:avLst>
              <a:gd fmla="val 31818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4681728" y="10058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Elasticidad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4681728" y="1252728"/>
            <a:ext cx="4187952" cy="859536"/>
          </a:xfrm>
          <a:prstGeom prst="roundRect">
            <a:avLst>
              <a:gd fmla="val 12766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4809744" y="132588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1100"/>
              <a:buFont typeface="Courier New"/>
              <a:buNone/>
            </a:pPr>
            <a:r>
              <a:rPr b="1" lang="es-419" sz="11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ATHENEA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4809744" y="1563624"/>
            <a:ext cx="1280160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4809744" y="1563624"/>
            <a:ext cx="12801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Coeficiente por SKU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6144768" y="1563624"/>
            <a:ext cx="1280160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6144768" y="1563624"/>
            <a:ext cx="12801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Altamente elástico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7479792" y="1563624"/>
            <a:ext cx="662026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7479792" y="1563624"/>
            <a:ext cx="662026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Elástico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4809744" y="177393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Modelo de elasticidad precio-demanda. Entrega coeficiente por SKU clasificado en 5 rangos de sensibilidad.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4681728" y="2203704"/>
            <a:ext cx="1371600" cy="201168"/>
          </a:xfrm>
          <a:prstGeom prst="roundRect">
            <a:avLst>
              <a:gd fmla="val 31818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4681728" y="2203704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Ventas y Rotación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4681728" y="2450592"/>
            <a:ext cx="4187952" cy="859536"/>
          </a:xfrm>
          <a:prstGeom prst="roundRect">
            <a:avLst>
              <a:gd fmla="val 12766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4809744" y="2523744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1100"/>
              <a:buFont typeface="Courier New"/>
              <a:buNone/>
            </a:pPr>
            <a:r>
              <a:rPr b="1" lang="es-419" sz="11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MASTER_ORDERLINE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4809744" y="2761488"/>
            <a:ext cx="91074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4809744" y="2761488"/>
            <a:ext cx="91074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Unidades 30d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5775350" y="2761488"/>
            <a:ext cx="599846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5775350" y="2761488"/>
            <a:ext cx="599846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GMV 30d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6430061" y="2761488"/>
            <a:ext cx="848563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6430061" y="2761488"/>
            <a:ext cx="848563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Penetración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7333488" y="2761488"/>
            <a:ext cx="475488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7333488" y="2761488"/>
            <a:ext cx="47548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4809744" y="29718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Tabla transaccional de órdenes entregadas. Calcula rotación, penetración (% órdenes con el SKU) y share de GMV.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4681728" y="3401568"/>
            <a:ext cx="1371600" cy="201168"/>
          </a:xfrm>
          <a:prstGeom prst="roundRect">
            <a:avLst>
              <a:gd fmla="val 31818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4681728" y="34015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850"/>
              <a:buFont typeface="Calibri"/>
              <a:buNone/>
            </a:pPr>
            <a:r>
              <a:rPr b="1" lang="es-419" sz="8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Promociones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4681728" y="3648456"/>
            <a:ext cx="4187952" cy="859536"/>
          </a:xfrm>
          <a:prstGeom prst="roundRect">
            <a:avLst>
              <a:gd fmla="val 12766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4809744" y="3721608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B291"/>
              </a:buClr>
              <a:buSzPts val="1100"/>
              <a:buFont typeface="Courier New"/>
              <a:buNone/>
            </a:pPr>
            <a:r>
              <a:rPr b="1" lang="es-419" sz="1100">
                <a:solidFill>
                  <a:srgbClr val="59B291"/>
                </a:solidFill>
                <a:latin typeface="Courier New"/>
                <a:ea typeface="Courier New"/>
                <a:cs typeface="Courier New"/>
                <a:sym typeface="Courier New"/>
              </a:rPr>
              <a:t>DISCOUNT_CAMPAIGN_EVENT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4809744" y="3959352"/>
            <a:ext cx="1159459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4809744" y="3959352"/>
            <a:ext cx="1159459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Fecha inicio/fin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6024067" y="3959352"/>
            <a:ext cx="1280160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6024067" y="3959352"/>
            <a:ext cx="12801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Mecánica (bulk / % / monto fijo)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7359091" y="3959352"/>
            <a:ext cx="972922" cy="173736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9525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7359091" y="3959352"/>
            <a:ext cx="97292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8E1"/>
              </a:buClr>
              <a:buSzPts val="750"/>
              <a:buFont typeface="Calibri"/>
              <a:buNone/>
            </a:pPr>
            <a:r>
              <a:rPr lang="es-419" sz="750">
                <a:solidFill>
                  <a:srgbClr val="D4E8E1"/>
                </a:solidFill>
                <a:latin typeface="Calibri"/>
                <a:ea typeface="Calibri"/>
                <a:cs typeface="Calibri"/>
                <a:sym typeface="Calibri"/>
              </a:rPr>
              <a:t>SKUs en promo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4809744" y="416966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Campañas activas de descuento. Marca SKUs en promoción en el dashboard y detecta traslapes entre campañas del mismo producto.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Google Shape;487;p24"/>
          <p:cNvCxnSpPr/>
          <p:nvPr/>
        </p:nvCxnSpPr>
        <p:spPr>
          <a:xfrm>
            <a:off x="4553712" y="1005840"/>
            <a:ext cx="0" cy="4114800"/>
          </a:xfrm>
          <a:prstGeom prst="straightConnector1">
            <a:avLst/>
          </a:prstGeom>
          <a:noFill/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"/>
          <p:cNvSpPr/>
          <p:nvPr/>
        </p:nvSpPr>
        <p:spPr>
          <a:xfrm>
            <a:off x="384048" y="182880"/>
            <a:ext cx="83759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600"/>
              <a:buFont typeface="Cambria"/>
              <a:buNone/>
            </a:pPr>
            <a:r>
              <a:rPr b="1" lang="es-419" sz="26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¿Por qué trabajar con hipótesis en pricing?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384048" y="685800"/>
            <a:ext cx="8375904" cy="347472"/>
          </a:xfrm>
          <a:prstGeom prst="roundRect">
            <a:avLst>
              <a:gd fmla="val 26316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5"/>
          <p:cNvSpPr/>
          <p:nvPr/>
        </p:nvSpPr>
        <p:spPr>
          <a:xfrm>
            <a:off x="502920" y="6858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Usar métricas e historia para tomar decisiones que impacten directamente los KPIs que protege el área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384048" y="1152144"/>
            <a:ext cx="2651760" cy="3566160"/>
          </a:xfrm>
          <a:prstGeom prst="roundRect">
            <a:avLst>
              <a:gd fmla="val 4828" name="adj"/>
            </a:avLst>
          </a:prstGeom>
          <a:solidFill>
            <a:srgbClr val="FFFFFF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384048" y="1152144"/>
            <a:ext cx="2651760" cy="347472"/>
          </a:xfrm>
          <a:prstGeom prst="roundRect">
            <a:avLst>
              <a:gd fmla="val 36842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384048" y="1335024"/>
            <a:ext cx="2651760" cy="164592"/>
          </a:xfrm>
          <a:prstGeom prst="rect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384048" y="115214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hipótesis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548640" y="1645920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786384" y="1591056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Decisiones basadas en intuición o presión comercial, sin respaldo de datos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548640" y="2212848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786384" y="2157984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Movimientos de precio reactivos: se baja porque la competencia baja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548640" y="2779776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786384" y="2724912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No se sabe si el cambio funcionó ni por qué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548640" y="3346704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786384" y="32918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El margen se erosiona sin un plan de recuperación claro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548640" y="3913632"/>
            <a:ext cx="164592" cy="164592"/>
          </a:xfrm>
          <a:prstGeom prst="ellipse">
            <a:avLst/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786384" y="385876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Se pierden oportunidades de subir precio donde hay espacio real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3182112" y="1152144"/>
            <a:ext cx="2779776" cy="3566160"/>
          </a:xfrm>
          <a:prstGeom prst="roundRect">
            <a:avLst>
              <a:gd fmla="val 4605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3182112" y="1188720"/>
            <a:ext cx="2779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200"/>
              <a:buFont typeface="Calibri"/>
              <a:buNone/>
            </a:pPr>
            <a:r>
              <a:rPr b="1" lang="es-419" sz="12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El proceso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3310128" y="1591056"/>
            <a:ext cx="310896" cy="310896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3310128" y="15910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/>
          <p:nvPr/>
        </p:nvSpPr>
        <p:spPr>
          <a:xfrm>
            <a:off x="3694176" y="1554480"/>
            <a:ext cx="2157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Recopilar historia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3694176" y="1792224"/>
            <a:ext cx="21579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Precios, ventas, margen y diferencial competitivo de los últimos 30–90 días por SKU y categoría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25"/>
          <p:cNvCxnSpPr/>
          <p:nvPr/>
        </p:nvCxnSpPr>
        <p:spPr>
          <a:xfrm>
            <a:off x="3447288" y="1901952"/>
            <a:ext cx="0" cy="457200"/>
          </a:xfrm>
          <a:prstGeom prst="straightConnector1">
            <a:avLst/>
          </a:prstGeom>
          <a:noFill/>
          <a:ln cap="flat" cmpd="sng" w="152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25"/>
          <p:cNvSpPr/>
          <p:nvPr/>
        </p:nvSpPr>
        <p:spPr>
          <a:xfrm>
            <a:off x="3310128" y="2395728"/>
            <a:ext cx="310896" cy="310896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3310128" y="23957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3694176" y="2359152"/>
            <a:ext cx="2157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Identificar patrón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3694176" y="2596896"/>
            <a:ext cx="21579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Elasticidad, rotación, index competitivo: ¿dónde hay espacio para mover precio?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1" name="Google Shape;521;p25"/>
          <p:cNvCxnSpPr/>
          <p:nvPr/>
        </p:nvCxnSpPr>
        <p:spPr>
          <a:xfrm>
            <a:off x="3447288" y="2706624"/>
            <a:ext cx="0" cy="457200"/>
          </a:xfrm>
          <a:prstGeom prst="straightConnector1">
            <a:avLst/>
          </a:prstGeom>
          <a:noFill/>
          <a:ln cap="flat" cmpd="sng" w="152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25"/>
          <p:cNvSpPr/>
          <p:nvPr/>
        </p:nvSpPr>
        <p:spPr>
          <a:xfrm>
            <a:off x="3310128" y="3200400"/>
            <a:ext cx="310896" cy="310896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3310128" y="32004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3694176" y="3163824"/>
            <a:ext cx="2157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Formular hipótesis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3694176" y="3401568"/>
            <a:ext cx="21579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Si bajo precio X% en SKUs elásticos → volumen sube Y% → GMV mejora. Si subo en inelásticos → margen crece sin perder volumen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25"/>
          <p:cNvCxnSpPr/>
          <p:nvPr/>
        </p:nvCxnSpPr>
        <p:spPr>
          <a:xfrm>
            <a:off x="3447288" y="3511296"/>
            <a:ext cx="0" cy="457200"/>
          </a:xfrm>
          <a:prstGeom prst="straightConnector1">
            <a:avLst/>
          </a:prstGeom>
          <a:noFill/>
          <a:ln cap="flat" cmpd="sng" w="152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25"/>
          <p:cNvSpPr/>
          <p:nvPr/>
        </p:nvSpPr>
        <p:spPr>
          <a:xfrm>
            <a:off x="3310128" y="4005072"/>
            <a:ext cx="310896" cy="310896"/>
          </a:xfrm>
          <a:prstGeom prst="ellipse">
            <a:avLst/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3310128" y="40050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s-419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3694176" y="3968496"/>
            <a:ext cx="2157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Ejecutar y medir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3694176" y="4206240"/>
            <a:ext cx="2157984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900"/>
              <a:buFont typeface="Calibri"/>
              <a:buNone/>
            </a:pPr>
            <a:r>
              <a:rPr lang="es-419" sz="9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Motor de precios o ajuste manual. Se miden los resultados contra la hipótesis inicial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6108192" y="1065382"/>
            <a:ext cx="2651760" cy="3566160"/>
          </a:xfrm>
          <a:prstGeom prst="roundRect">
            <a:avLst>
              <a:gd fmla="val 4828" name="adj"/>
            </a:avLst>
          </a:prstGeom>
          <a:solidFill>
            <a:srgbClr val="1A3530"/>
          </a:solidFill>
          <a:ln cap="flat" cmpd="sng" w="12700">
            <a:solidFill>
              <a:srgbClr val="1A35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6108192" y="1225296"/>
            <a:ext cx="26517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lang="es-419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KPIs que protege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lang="es-419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Pricing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6236208" y="1687174"/>
            <a:ext cx="2395728" cy="987552"/>
          </a:xfrm>
          <a:prstGeom prst="roundRect">
            <a:avLst>
              <a:gd fmla="val 9259" name="adj"/>
            </a:avLst>
          </a:prstGeom>
          <a:solidFill>
            <a:srgbClr val="1E3D30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6236208" y="1848841"/>
            <a:ext cx="640080" cy="201168"/>
          </a:xfrm>
          <a:prstGeom prst="roundRect">
            <a:avLst>
              <a:gd fmla="val 27273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6236208" y="183347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900"/>
              <a:buFont typeface="Calibri"/>
              <a:buNone/>
            </a:pPr>
            <a:r>
              <a:rPr b="1" lang="es-419" sz="9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GMV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6291072" y="2071222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 de elasticidad: bajar precio en SKUs sensibles para crecer volumen de ventas sin destruir margen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6227064" y="2757022"/>
            <a:ext cx="2395728" cy="987552"/>
          </a:xfrm>
          <a:prstGeom prst="roundRect">
            <a:avLst>
              <a:gd fmla="val 9259" name="adj"/>
            </a:avLst>
          </a:prstGeom>
          <a:solidFill>
            <a:srgbClr val="2D3A1A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6269847" y="2939301"/>
            <a:ext cx="640080" cy="201168"/>
          </a:xfrm>
          <a:prstGeom prst="roundRect">
            <a:avLst>
              <a:gd fmla="val 27273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6236208" y="293075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900"/>
              <a:buFont typeface="Calibri"/>
              <a:buNone/>
            </a:pPr>
            <a:r>
              <a:rPr b="1" lang="es-419" sz="9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Margen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6291072" y="3168502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 de precio vs. competencia: identificar SKUs inelásticos con espacio para subir precio y mejorar pure margin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6236208" y="3791829"/>
            <a:ext cx="2395728" cy="987552"/>
          </a:xfrm>
          <a:prstGeom prst="roundRect">
            <a:avLst>
              <a:gd fmla="val 9259" name="adj"/>
            </a:avLst>
          </a:prstGeom>
          <a:solidFill>
            <a:srgbClr val="3A1E22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6291072" y="3931592"/>
            <a:ext cx="972201" cy="201168"/>
          </a:xfrm>
          <a:prstGeom prst="roundRect">
            <a:avLst>
              <a:gd fmla="val 27273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6236208" y="394747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900"/>
              <a:buFont typeface="Calibri"/>
              <a:buNone/>
            </a:pPr>
            <a:r>
              <a:rPr b="1" lang="es-419" sz="9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Competitividad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6291072" y="4265782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 de index: mantener paridad o ventaja competitiva por categoría sin sacrificar rentabilidad innecesariamente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384048" y="4855464"/>
            <a:ext cx="8375904" cy="274320"/>
          </a:xfrm>
          <a:prstGeom prst="roundRect">
            <a:avLst>
              <a:gd fmla="val 26667" name="adj"/>
            </a:avLst>
          </a:prstGeom>
          <a:solidFill>
            <a:srgbClr val="D4E8E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/>
          <p:nvPr/>
        </p:nvSpPr>
        <p:spPr>
          <a:xfrm>
            <a:off x="502920" y="4852861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La hipótesis es el puente entre el dato histórico y la acción de precio — ya sea vía motor automático o proceso manual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7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6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Hipótesis — Sprint 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300"/>
              <a:buFont typeface="Calibri"/>
              <a:buNone/>
            </a:pPr>
            <a:r>
              <a:rPr lang="es-419" sz="13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Tres vectores de impacto donde comenzaremos a trabajar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320040" y="1143000"/>
            <a:ext cx="850392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457200" y="1252728"/>
            <a:ext cx="475488" cy="475488"/>
          </a:xfrm>
          <a:prstGeom prst="roundRect">
            <a:avLst>
              <a:gd fmla="val 23077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1051560" y="12527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Elasticidad → Ventas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1051560" y="1545336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Identificar SKUs con elasticidad alta (|E|&gt;1) donde bajar precio entre 3-8% genera un incremento de volumen que mejora el ingreso total.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6355080" y="1252728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6355080" y="125272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Métrica: Ventas (GMV)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6355080" y="1655064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6355080" y="1655064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Ajuste de precio en motor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320040" y="2404872"/>
            <a:ext cx="850392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457200" y="2514600"/>
            <a:ext cx="475488" cy="475488"/>
          </a:xfrm>
          <a:prstGeom prst="roundRect">
            <a:avLst>
              <a:gd fmla="val 23077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457200" y="25146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1051560" y="2514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Precio vs competencia → Pure margin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1051560" y="280720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SKUs con elasticidad baja (|E|&lt;1), bajo share y más baratos que competencia tienen espacio para subir precio sin perder volumen.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6355080" y="2514600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6355080" y="2514600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Métrica: Pure margin 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6355080" y="2916936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6355080" y="2916936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Subida de precio controlada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320040" y="3666744"/>
            <a:ext cx="8503920" cy="11430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457200" y="3776472"/>
            <a:ext cx="475488" cy="475488"/>
          </a:xfrm>
          <a:prstGeom prst="roundRect">
            <a:avLst>
              <a:gd fmla="val 23077" name="adj"/>
            </a:avLst>
          </a:prstGeom>
          <a:solidFill>
            <a:srgbClr val="EDE9F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457200" y="37764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1051560" y="37764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1A3530"/>
                </a:solidFill>
                <a:latin typeface="Calibri"/>
                <a:ea typeface="Calibri"/>
                <a:cs typeface="Calibri"/>
                <a:sym typeface="Calibri"/>
              </a:rPr>
              <a:t>Rotación + share → Gross profit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1051560" y="40690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82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6B8F82"/>
                </a:solidFill>
                <a:latin typeface="Calibri"/>
                <a:ea typeface="Calibri"/>
                <a:cs typeface="Calibri"/>
                <a:sym typeface="Calibri"/>
              </a:rPr>
              <a:t>Categorías con alta rotación y share medio son el mayor apalancador de gross profit. Optimizar precio ahí impacta más que en categorías nicho.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/>
          <p:nvPr/>
        </p:nvSpPr>
        <p:spPr>
          <a:xfrm>
            <a:off x="6355080" y="3776472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E9F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6355080" y="3776472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000"/>
              <a:buFont typeface="Calibri"/>
              <a:buNone/>
            </a:pPr>
            <a:r>
              <a:rPr b="1" lang="es-419" sz="10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Métrica: Gross profit $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6355080" y="4178808"/>
            <a:ext cx="2240280" cy="310896"/>
          </a:xfrm>
          <a:prstGeom prst="roundRect">
            <a:avLst>
              <a:gd fmla="val 2647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6355080" y="4178808"/>
            <a:ext cx="22402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00"/>
              <a:buFont typeface="Calibri"/>
              <a:buNone/>
            </a:pPr>
            <a:r>
              <a:rPr lang="es-419" sz="100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Priorización por categoría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7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530"/>
              </a:buClr>
              <a:buSzPts val="2600"/>
              <a:buFont typeface="Cambria"/>
              <a:buNone/>
            </a:pPr>
            <a:r>
              <a:rPr b="1" lang="es-419" sz="2600">
                <a:solidFill>
                  <a:srgbClr val="1A3530"/>
                </a:solidFill>
                <a:latin typeface="Cambria"/>
                <a:ea typeface="Cambria"/>
                <a:cs typeface="Cambria"/>
                <a:sym typeface="Cambria"/>
              </a:rPr>
              <a:t>Cronograma de inducción y primeros ETAs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7"/>
          <p:cNvSpPr/>
          <p:nvPr/>
        </p:nvSpPr>
        <p:spPr>
          <a:xfrm>
            <a:off x="320040" y="777240"/>
            <a:ext cx="1901952" cy="457200"/>
          </a:xfrm>
          <a:prstGeom prst="roundRect">
            <a:avLst>
              <a:gd fmla="val 20000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7"/>
          <p:cNvSpPr/>
          <p:nvPr/>
        </p:nvSpPr>
        <p:spPr>
          <a:xfrm>
            <a:off x="320040" y="777240"/>
            <a:ext cx="1901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2295144" y="777240"/>
            <a:ext cx="1901952" cy="457200"/>
          </a:xfrm>
          <a:prstGeom prst="roundRect">
            <a:avLst>
              <a:gd fmla="val 20000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2295144" y="777240"/>
            <a:ext cx="1901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Días 2–5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4270248" y="777240"/>
            <a:ext cx="1901952" cy="457200"/>
          </a:xfrm>
          <a:prstGeom prst="roundRect">
            <a:avLst>
              <a:gd fmla="val 20000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4270248" y="777240"/>
            <a:ext cx="1901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Semana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/>
          <p:nvPr/>
        </p:nvSpPr>
        <p:spPr>
          <a:xfrm>
            <a:off x="6245352" y="777240"/>
            <a:ext cx="1901952" cy="457200"/>
          </a:xfrm>
          <a:prstGeom prst="roundRect">
            <a:avLst>
              <a:gd fmla="val 20000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6245352" y="777240"/>
            <a:ext cx="1901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1050"/>
              <a:buFont typeface="Calibri"/>
              <a:buNone/>
            </a:pPr>
            <a:r>
              <a:rPr b="1" lang="es-419" sz="10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Semanas 3–4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/>
          <p:nvPr/>
        </p:nvSpPr>
        <p:spPr>
          <a:xfrm>
            <a:off x="36576" y="1426464"/>
            <a:ext cx="256032" cy="694944"/>
          </a:xfrm>
          <a:prstGeom prst="roundRect">
            <a:avLst>
              <a:gd fmla="val 21429" name="adj"/>
            </a:avLst>
          </a:prstGeom>
          <a:solidFill>
            <a:srgbClr val="2B5545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320040" y="1353312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D4E8E1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393192" y="1444752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Motor de precios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Indicadores clave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KVIs y blacklist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Áreas involucradas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"/>
          <p:cNvSpPr/>
          <p:nvPr/>
        </p:nvSpPr>
        <p:spPr>
          <a:xfrm>
            <a:off x="2295144" y="1353312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2368296" y="1444752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Documento de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normatividad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de pricing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/>
          <p:nvPr/>
        </p:nvSpPr>
        <p:spPr>
          <a:xfrm>
            <a:off x="4270248" y="1353312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6245352" y="1353312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36576" y="2359152"/>
            <a:ext cx="256032" cy="694944"/>
          </a:xfrm>
          <a:prstGeom prst="roundRect">
            <a:avLst>
              <a:gd fmla="val 21429" name="adj"/>
            </a:avLst>
          </a:prstGeom>
          <a:solidFill>
            <a:srgbClr val="E0C233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320040" y="2286000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2295144" y="2286000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2368296" y="2377440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Acceso a Snowflake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Primeras queries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exploración de tablas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4270248" y="2286000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4343400" y="2377440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Dashboard pricing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Confluence y Jira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Wiser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6245352" y="2286000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36576" y="3291840"/>
            <a:ext cx="256032" cy="694944"/>
          </a:xfrm>
          <a:prstGeom prst="roundRect">
            <a:avLst>
              <a:gd fmla="val 21429" name="adj"/>
            </a:avLst>
          </a:prstGeom>
          <a:solidFill>
            <a:srgbClr val="59B291"/>
          </a:solidFill>
          <a:ln cap="flat" cmpd="sng" w="12700">
            <a:solidFill>
              <a:srgbClr val="59B2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320040" y="3218688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2295144" y="3218688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4270248" y="3218688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4343400" y="3310128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Revisión de datos: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margen, rotación,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share, elasticidad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6245352" y="3218688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36576" y="4224528"/>
            <a:ext cx="256032" cy="694944"/>
          </a:xfrm>
          <a:prstGeom prst="roundRect">
            <a:avLst>
              <a:gd fmla="val 21429" name="adj"/>
            </a:avLst>
          </a:prstGeom>
          <a:solidFill>
            <a:srgbClr val="DE6A73"/>
          </a:solidFill>
          <a:ln cap="flat" cmpd="sng" w="12700">
            <a:solidFill>
              <a:srgbClr val="DE6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320040" y="4151376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2295144" y="4151376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4270248" y="4151376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4343400" y="4242816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Definición de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hipótesis H1, H2, H3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(sesión conjunta)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6245352" y="4151376"/>
            <a:ext cx="1901952" cy="822960"/>
          </a:xfrm>
          <a:prstGeom prst="roundRect">
            <a:avLst>
              <a:gd fmla="val 11111" name="adj"/>
            </a:avLst>
          </a:prstGeom>
          <a:solidFill>
            <a:srgbClr val="EDF5F1"/>
          </a:solidFill>
          <a:ln cap="flat" cmpd="sng" w="12700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6318504" y="4242816"/>
            <a:ext cx="17556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Diseño y ejecución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de experimentos.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Primeros resultados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950"/>
              <a:buFont typeface="Calibri"/>
              <a:buNone/>
            </a:pPr>
            <a:r>
              <a:rPr lang="es-419" sz="950">
                <a:solidFill>
                  <a:srgbClr val="2B5545"/>
                </a:solidFill>
                <a:latin typeface="Calibri"/>
                <a:ea typeface="Calibri"/>
                <a:cs typeface="Calibri"/>
                <a:sym typeface="Calibri"/>
              </a:rPr>
              <a:t>presentados al área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/>
          <p:nvPr/>
        </p:nvSpPr>
        <p:spPr>
          <a:xfrm rot="-5400000">
            <a:off x="36576" y="1353312"/>
            <a:ext cx="256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s-419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7"/>
          <p:cNvSpPr/>
          <p:nvPr/>
        </p:nvSpPr>
        <p:spPr>
          <a:xfrm rot="-5400000">
            <a:off x="36576" y="2286000"/>
            <a:ext cx="256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s-419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/>
          <p:nvPr/>
        </p:nvSpPr>
        <p:spPr>
          <a:xfrm rot="-5400000">
            <a:off x="36576" y="3218688"/>
            <a:ext cx="256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s-419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7"/>
          <p:cNvSpPr/>
          <p:nvPr/>
        </p:nvSpPr>
        <p:spPr>
          <a:xfrm rot="-5400000">
            <a:off x="36576" y="4151376"/>
            <a:ext cx="2560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s-419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Hipótesis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7"/>
          <p:cNvSpPr/>
          <p:nvPr/>
        </p:nvSpPr>
        <p:spPr>
          <a:xfrm>
            <a:off x="320040" y="4828032"/>
            <a:ext cx="8503920" cy="228600"/>
          </a:xfrm>
          <a:prstGeom prst="roundRect">
            <a:avLst>
              <a:gd fmla="val 32000" name="adj"/>
            </a:avLst>
          </a:prstGeom>
          <a:solidFill>
            <a:srgbClr val="FAF6D0"/>
          </a:solidFill>
          <a:ln cap="flat" cmpd="sng" w="12700">
            <a:solidFill>
              <a:srgbClr val="E0C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800"/>
              </a:buClr>
              <a:buSzPts val="950"/>
              <a:buFont typeface="Calibri"/>
              <a:buNone/>
            </a:pPr>
            <a:r>
              <a:rPr b="1" lang="es-419" sz="950">
                <a:solidFill>
                  <a:srgbClr val="5A4800"/>
                </a:solidFill>
                <a:latin typeface="Calibri"/>
                <a:ea typeface="Calibri"/>
                <a:cs typeface="Calibri"/>
                <a:sym typeface="Calibri"/>
              </a:rPr>
              <a:t>ETAs clave: Acceso Snowflake ETA Día 2 · Primer análisis ETA Día 5 · Hipótesis definidas ETA Semana 2 · Resultados Sprint 1 ETA Semana 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530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9B291">
              <a:alpha val="30196"/>
            </a:srgbClr>
          </a:solidFill>
          <a:ln cap="flat" cmpd="sng" w="12700">
            <a:solidFill>
              <a:srgbClr val="59B29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DE6A73">
              <a:alpha val="27843"/>
            </a:srgbClr>
          </a:solidFill>
          <a:ln cap="flat" cmpd="sng" w="12700">
            <a:solidFill>
              <a:srgbClr val="DE6A73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182880" y="-274320"/>
            <a:ext cx="914400" cy="914400"/>
          </a:xfrm>
          <a:prstGeom prst="ellipse">
            <a:avLst/>
          </a:prstGeom>
          <a:solidFill>
            <a:srgbClr val="E0C233">
              <a:alpha val="32156"/>
            </a:srgbClr>
          </a:solidFill>
          <a:ln cap="flat" cmpd="sng" w="12700">
            <a:solidFill>
              <a:srgbClr val="E0C233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s-419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¿Qué hacemos mañana?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411480" y="1298448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411480" y="143560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612648" y="18013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Revisar el dashboard de pricing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612648" y="21214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Index competitivo, márgenes por categoría, rotación y share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411480" y="2971800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411480" y="310896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612648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Conectarse a Snowflake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612648" y="37947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Acceso, primeras queries y exploración del catálogo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4754880" y="1298448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4754880" y="143560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4956048" y="18013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Leer el doc de normatividad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4956048" y="21214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Procesos del motor, blacklist y reglas de ajuste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4754880" y="2971800"/>
            <a:ext cx="3977640" cy="1508760"/>
          </a:xfrm>
          <a:prstGeom prst="roundRect">
            <a:avLst>
              <a:gd fmla="val 9091" name="adj"/>
            </a:avLst>
          </a:prstGeom>
          <a:solidFill>
            <a:srgbClr val="1E3D30"/>
          </a:solidFill>
          <a:ln cap="flat" cmpd="sng" w="12700">
            <a:solidFill>
              <a:srgbClr val="2B5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4754880" y="310896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5545"/>
              </a:buClr>
              <a:buSzPts val="2800"/>
              <a:buFont typeface="Cambria"/>
              <a:buNone/>
            </a:pPr>
            <a:r>
              <a:rPr b="1" lang="es-419" sz="2800">
                <a:solidFill>
                  <a:srgbClr val="2B554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4956048" y="34747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s-419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Sesión de preguntas con el equipo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4956048" y="37947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s-419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Resolver dudas del contexto antes de arrancar con hipótesis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