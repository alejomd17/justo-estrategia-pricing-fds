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5"/>
    <p:sldMasterId id="2147483673" r:id="rId6"/>
    <p:sldMasterId id="214748367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Lst>
  <p:sldSz cy="5143500" cx="9144000"/>
  <p:notesSz cx="6858000" cy="9144000"/>
  <p:embeddedFontLst>
    <p:embeddedFont>
      <p:font typeface="Quattrocento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88FACD-A167-4CAE-B911-FD28C32728F3}">
  <a:tblStyle styleId="{3488FACD-A167-4CAE-B911-FD28C32728F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QuattrocentoSans-regular.fntdata"/><Relationship Id="rId25" Type="http://schemas.openxmlformats.org/officeDocument/2006/relationships/slide" Target="slides/slide17.xml"/><Relationship Id="rId28" Type="http://schemas.openxmlformats.org/officeDocument/2006/relationships/font" Target="fonts/QuattrocentoSans-italic.fntdata"/><Relationship Id="rId27" Type="http://schemas.openxmlformats.org/officeDocument/2006/relationships/font" Target="fonts/QuattrocentoSans-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QuattrocentoSans-bold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f26c1bd869_2_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g3f26c1bd869_2_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t>Slide de portada. Bienvenida al equipo, objetivos del meeting y agenda del día.</a:t>
            </a:r>
            <a:endParaRPr/>
          </a:p>
        </p:txBody>
      </p:sp>
      <p:sp>
        <p:nvSpPr>
          <p:cNvPr id="134" name="Google Shape;134;g3f26c1bd869_2_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f26c1bd869_2_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f26c1bd869_2_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t>Revisar agenda con el equipo. Confirmar quién toma notas y ajustar tiempos si hay cambios de última hora.</a:t>
            </a:r>
            <a:endParaRPr/>
          </a:p>
        </p:txBody>
      </p:sp>
      <p:sp>
        <p:nvSpPr>
          <p:cNvPr id="146" name="Google Shape;146;g3f26c1bd869_2_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26c1bd869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g3f26c1bd869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s-419" sz="1200" u="none" cap="none" strike="noStrike">
                <a:solidFill>
                  <a:schemeClr val="dk1"/>
                </a:solidFill>
                <a:latin typeface="Arial"/>
                <a:ea typeface="Arial"/>
                <a:cs typeface="Arial"/>
                <a:sym typeface="Arial"/>
              </a:rPr>
              <a:t>GUÍA PARA PRESENTAR ESTA DIAPOSITIVA (v2 — corregida tras revisión)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Indicador principal: PM% (Pure Margin, sin impuestos) — no GP%. PM% cae de 23.4% (marzo) a 17.9% (junio), -5.4 pts. Vs. febrero (mes anterior, no el pico) la caída es menor: -1.6 pts — mostramos ambas referencias para no anclar solo en el pico.</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WATERFALL — de marzo a junio, PM% se descompone en:</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Mix de campañas (-2.7 pts): el % de ventas con descuento casi se duplicó (9.7%→18.3% del GMV pretax), y esas líneas tienen margen mucho menor.</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Costo de proveedor (-1.8 pts): en una canasta fija (mismos SKU, sin descuento, marzo vs junio), el costo subió 2.5%. Esto NO lo controla Pricing.</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Precio regular (-1.6 pts): en la misma canasta fija, el precio de venta regular bajó 1.6% sin que mediara campaña — esto sí es palanca de Pricing/Comercial.</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Mix de producto regular (+0.7 pts): dentro de las líneas sin descuento, el mix se movió ligeramente hacia productos de mejor margen, compensando parte de la caída.</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Suma exacta: 23.4 -2.7 -1.8 -1.6 +0.7 = 17.9 ✓</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GRÁFICA "¿Y si no hubiera descuentos?" (precio regular vs. precio final, PM%): responde directo a la pregunta de si el descuento es la causa. A precio regular (línea menta, sin ningún descuento) el margen también cae de 25.8% (mar) a 20.9% (jun) — una caída de -4.9 pts que existe AUNQUE NO HUBIERA CAMPAÑAS. La línea coral (precio final, lo que realmente cobramos) está siempre debajo porque ahí sí se resta el descuento. La distancia entre ambas líneas es el efecto puro del descuento; que ambas caigan es la prueba de que también hay un problema de fondo (costo/precio regular).</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KPI PM$ ($4.99M vs $7.02M en marzo): aunque el GMV creció cada mes hasta mayo, la utilidad real en PESOS (PM$) ya venía cayendo desde marzo — el argumento "bajó el % pero ganamos más pesos" NO se sostiene en PM$.</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Lectura adicional:</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El spread entre GP% y PM% se amplía (3.2→4.9 pts) — parte de la caída de "margen" percibido es efecto fiscal/mix de categoría, no necesariamente menos utilidad real.</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Se revisó si el cambio de mix de marketplace (Justo 83.7%→75.3%, Express 2.3%→12.9% del GMV) explicaba algo: NO — los 5 canales cayeron parejo (-2.7 a -4.7 pts cada uno). Se descarta con datos, no se omite.</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El rebate de campañas (~$1.2-1.4M/mes) no creció al ritmo del descuento; aun cobrándolo al 100%, el PM% seguiría cayendo.</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RECOMENDACIÓN (dos partes, no solo hacia afuera):</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Compras: validar por qué subió 2.5% el costo de proveedor.</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 Pricing: revisar el -1.6% de precio regular (¿drift no intencional? ¿falta de ajuste ante alza de costo?) y las reglas de piso de margen en KVIs.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PREGUNTAS PROBABLES</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 ¿Por qué PM% y no GP%? R: PM% no tiene el ruido del IVA/IEPS; es el margen económico real. GP% se queda corto porque el spread con PM% se amplió.</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 ¿Por qué marzo como base y no febrero? R: Marzo es el pico reciente, pero también mostramos vs. febrero (-1.6 pts) para no exagerar con el ancla más alta.</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 ¿Esto es responsabilidad de Pricing? R: Parcialmente. El costo (-1.8 pts) pesa más que el precio (-1.6 pts) y no lo controla Pricing, pero el precio regular sí es palanca propia — por eso la recomendación incluye una acción de Pricing, no solo de Compras.</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 ¿Y el mix de marketplace / canal? R: Se revisó y se descarta — la caída es pareja en los 5 canales.</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 ¿Y si cobramos el rebate completo? R: Ayuda, pero no resuelve: el rebate no creció al ritmo del descuento, y el PM% seguiría cayendo aun al 100% de recuperación.</a:t>
            </a:r>
            <a:endParaRPr/>
          </a:p>
          <a:p>
            <a:pPr indent="0" lvl="0" marL="0" marR="0" rtl="0" algn="l">
              <a:spcBef>
                <a:spcPts val="0"/>
              </a:spcBef>
              <a:spcAft>
                <a:spcPts val="0"/>
              </a:spcAft>
              <a:buNone/>
            </a:pPr>
            <a:r>
              <a:rPr lang="es-419" sz="1200">
                <a:solidFill>
                  <a:schemeClr val="dk1"/>
                </a:solidFill>
                <a:latin typeface="Arial"/>
                <a:ea typeface="Arial"/>
                <a:cs typeface="Arial"/>
                <a:sym typeface="Arial"/>
              </a:rPr>
              <a:t>P: ¿Cuál sería el margen si no tuviéramos descuentos? R: Ver gráfica "¿Y si no hubiera descuentos?" — a precio regular el PM% pasó de 24.9% (feb) a 25.8% (mar) y cayó a 20.9% (jun). Más alto que el margen real en todos los meses, pero también cae — el descuento no es la única causa.</a:t>
            </a:r>
            <a:endParaRPr/>
          </a:p>
        </p:txBody>
      </p:sp>
      <p:sp>
        <p:nvSpPr>
          <p:cNvPr id="185" name="Google Shape;185;g3f26c1bd869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26c1bd869_4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f26c1bd869_4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t>Diferencia clave: Index DCTO puede mostrar una promo de 3x2 que no siempre está disponible. Index Línea elimina esa distorsión — base más limpia para posicionamiento.</a:t>
            </a:r>
            <a:endParaRPr/>
          </a:p>
        </p:txBody>
      </p:sp>
      <p:sp>
        <p:nvSpPr>
          <p:cNvPr id="198" name="Google Shape;198;g3f26c1bd869_4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26c1bd869_4_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g3f26c1bd869_4_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t>Punto clave: no se trata de ser el más barato en todo. La estrategia es capturar margen donde el cliente no es sensible al precio y defender competitividad donde sí lo es. Usar rotación + índice + margen como los 3 filtros de decisión.</a:t>
            </a:r>
            <a:endParaRPr/>
          </a:p>
        </p:txBody>
      </p:sp>
      <p:sp>
        <p:nvSpPr>
          <p:cNvPr id="242" name="Google Shape;242;g3f26c1bd869_4_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26c1bd869_2_13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g3f26c1bd869_2_13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t>Al finalizar este slide, asignar deadline y owner a cada acción en vivo con el equipo. Objetivo: salir con compromisos concretos.</a:t>
            </a:r>
            <a:endParaRPr/>
          </a:p>
        </p:txBody>
      </p:sp>
      <p:sp>
        <p:nvSpPr>
          <p:cNvPr id="287" name="Google Shape;287;g3f26c1bd869_2_13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26c1bd869_2_17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f26c1bd869_2_17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419"/>
              <a:t>Cierre de la sesión. Resumir los 3-4 acuerdos más importantes antes de terminar. Confirmar fecha y hora de la siguiente sesión.</a:t>
            </a:r>
            <a:endParaRPr/>
          </a:p>
        </p:txBody>
      </p:sp>
      <p:sp>
        <p:nvSpPr>
          <p:cNvPr id="331" name="Google Shape;331;g3f26c1bd869_2_17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f06e61a3cd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g3f06e61a3cd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f06e61a3cd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g3f06e61a3cd_2_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f06e61a3cd_2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3f06e61a3cd_2_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06e61a3cd_2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f06e61a3cd_2_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06e61a3cd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3f06e61a3cd_2_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06e61a3cd_2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g3f06e61a3cd_2_1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f06e61a3cd_2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g3f06e61a3cd_2_1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f06e61a3cd_2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g3f06e61a3cd_2_1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06e61a3cd_2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g3f06e61a3cd_2_1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3f06e61a3cd_2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g3f06e61a3cd_2_1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5"/>
          <p:cNvSpPr txBox="1"/>
          <p:nvPr>
            <p:ph idx="10" type="dt"/>
          </p:nvPr>
        </p:nvSpPr>
        <p:spPr>
          <a:xfrm>
            <a:off x="342900" y="4767263"/>
            <a:ext cx="16002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5"/>
          <p:cNvSpPr txBox="1"/>
          <p:nvPr>
            <p:ph idx="11" type="ftr"/>
          </p:nvPr>
        </p:nvSpPr>
        <p:spPr>
          <a:xfrm>
            <a:off x="2343150" y="4767263"/>
            <a:ext cx="21717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5"/>
          <p:cNvSpPr txBox="1"/>
          <p:nvPr>
            <p:ph idx="12" type="sldNum"/>
          </p:nvPr>
        </p:nvSpPr>
        <p:spPr>
          <a:xfrm>
            <a:off x="4914900" y="4767263"/>
            <a:ext cx="16002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8"/>
          <p:cNvSpPr txBox="1"/>
          <p:nvPr>
            <p:ph type="ctrTitle"/>
          </p:nvPr>
        </p:nvSpPr>
        <p:spPr>
          <a:xfrm>
            <a:off x="514350" y="1597819"/>
            <a:ext cx="5829300"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8"/>
          <p:cNvSpPr txBox="1"/>
          <p:nvPr>
            <p:ph idx="1" type="subTitle"/>
          </p:nvPr>
        </p:nvSpPr>
        <p:spPr>
          <a:xfrm>
            <a:off x="1028700" y="2914650"/>
            <a:ext cx="4800600"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9" name="Google Shape;69;p18"/>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8"/>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8"/>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2" name="Shape 72"/>
        <p:cNvGrpSpPr/>
        <p:nvPr/>
      </p:nvGrpSpPr>
      <p:grpSpPr>
        <a:xfrm>
          <a:off x="0" y="0"/>
          <a:ext cx="0" cy="0"/>
          <a:chOff x="0" y="0"/>
          <a:chExt cx="0" cy="0"/>
        </a:xfrm>
      </p:grpSpPr>
      <p:sp>
        <p:nvSpPr>
          <p:cNvPr id="73" name="Google Shape;73;p19"/>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9"/>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75" name="Google Shape;75;p19"/>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9"/>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9"/>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0"/>
          <p:cNvSpPr txBox="1"/>
          <p:nvPr>
            <p:ph type="title"/>
          </p:nvPr>
        </p:nvSpPr>
        <p:spPr>
          <a:xfrm>
            <a:off x="541735" y="3305175"/>
            <a:ext cx="5829300"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20"/>
          <p:cNvSpPr txBox="1"/>
          <p:nvPr>
            <p:ph idx="1" type="body"/>
          </p:nvPr>
        </p:nvSpPr>
        <p:spPr>
          <a:xfrm>
            <a:off x="541735" y="2180035"/>
            <a:ext cx="5829300"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81" name="Google Shape;81;p20"/>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20"/>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20"/>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4" name="Shape 84"/>
        <p:cNvGrpSpPr/>
        <p:nvPr/>
      </p:nvGrpSpPr>
      <p:grpSpPr>
        <a:xfrm>
          <a:off x="0" y="0"/>
          <a:ext cx="0" cy="0"/>
          <a:chOff x="0" y="0"/>
          <a:chExt cx="0" cy="0"/>
        </a:xfrm>
      </p:grpSpPr>
      <p:sp>
        <p:nvSpPr>
          <p:cNvPr id="85" name="Google Shape;85;p21"/>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6" name="Google Shape;86;p21"/>
          <p:cNvSpPr txBox="1"/>
          <p:nvPr>
            <p:ph idx="1" type="body"/>
          </p:nvPr>
        </p:nvSpPr>
        <p:spPr>
          <a:xfrm>
            <a:off x="34290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7" name="Google Shape;87;p21"/>
          <p:cNvSpPr txBox="1"/>
          <p:nvPr>
            <p:ph idx="2" type="body"/>
          </p:nvPr>
        </p:nvSpPr>
        <p:spPr>
          <a:xfrm>
            <a:off x="3486150" y="1200150"/>
            <a:ext cx="3028950"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8" name="Google Shape;88;p21"/>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21"/>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21"/>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1" name="Shape 91"/>
        <p:cNvGrpSpPr/>
        <p:nvPr/>
      </p:nvGrpSpPr>
      <p:grpSpPr>
        <a:xfrm>
          <a:off x="0" y="0"/>
          <a:ext cx="0" cy="0"/>
          <a:chOff x="0" y="0"/>
          <a:chExt cx="0" cy="0"/>
        </a:xfrm>
      </p:grpSpPr>
      <p:sp>
        <p:nvSpPr>
          <p:cNvPr id="92" name="Google Shape;92;p22"/>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3" name="Google Shape;93;p22"/>
          <p:cNvSpPr txBox="1"/>
          <p:nvPr>
            <p:ph idx="1" type="body"/>
          </p:nvPr>
        </p:nvSpPr>
        <p:spPr>
          <a:xfrm>
            <a:off x="342900" y="1151335"/>
            <a:ext cx="303014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4" name="Google Shape;94;p22"/>
          <p:cNvSpPr txBox="1"/>
          <p:nvPr>
            <p:ph idx="2" type="body"/>
          </p:nvPr>
        </p:nvSpPr>
        <p:spPr>
          <a:xfrm>
            <a:off x="342900" y="1631156"/>
            <a:ext cx="303014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5" name="Google Shape;95;p22"/>
          <p:cNvSpPr txBox="1"/>
          <p:nvPr>
            <p:ph idx="3" type="body"/>
          </p:nvPr>
        </p:nvSpPr>
        <p:spPr>
          <a:xfrm>
            <a:off x="3483769" y="1151335"/>
            <a:ext cx="3031331"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6" name="Google Shape;96;p22"/>
          <p:cNvSpPr txBox="1"/>
          <p:nvPr>
            <p:ph idx="4" type="body"/>
          </p:nvPr>
        </p:nvSpPr>
        <p:spPr>
          <a:xfrm>
            <a:off x="3483769" y="1631156"/>
            <a:ext cx="3031331"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7" name="Google Shape;97;p22"/>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2"/>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2"/>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0" name="Shape 100"/>
        <p:cNvGrpSpPr/>
        <p:nvPr/>
      </p:nvGrpSpPr>
      <p:grpSpPr>
        <a:xfrm>
          <a:off x="0" y="0"/>
          <a:ext cx="0" cy="0"/>
          <a:chOff x="0" y="0"/>
          <a:chExt cx="0" cy="0"/>
        </a:xfrm>
      </p:grpSpPr>
      <p:sp>
        <p:nvSpPr>
          <p:cNvPr id="101" name="Google Shape;101;p23"/>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3"/>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3"/>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3"/>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5" name="Shape 105"/>
        <p:cNvGrpSpPr/>
        <p:nvPr/>
      </p:nvGrpSpPr>
      <p:grpSpPr>
        <a:xfrm>
          <a:off x="0" y="0"/>
          <a:ext cx="0" cy="0"/>
          <a:chOff x="0" y="0"/>
          <a:chExt cx="0" cy="0"/>
        </a:xfrm>
      </p:grpSpPr>
      <p:sp>
        <p:nvSpPr>
          <p:cNvPr id="106" name="Google Shape;106;p24"/>
          <p:cNvSpPr txBox="1"/>
          <p:nvPr>
            <p:ph type="title"/>
          </p:nvPr>
        </p:nvSpPr>
        <p:spPr>
          <a:xfrm>
            <a:off x="342900" y="204788"/>
            <a:ext cx="225623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7" name="Google Shape;107;p24"/>
          <p:cNvSpPr txBox="1"/>
          <p:nvPr>
            <p:ph idx="1" type="body"/>
          </p:nvPr>
        </p:nvSpPr>
        <p:spPr>
          <a:xfrm>
            <a:off x="2681287" y="204788"/>
            <a:ext cx="3833813"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8" name="Google Shape;108;p24"/>
          <p:cNvSpPr txBox="1"/>
          <p:nvPr>
            <p:ph idx="2" type="body"/>
          </p:nvPr>
        </p:nvSpPr>
        <p:spPr>
          <a:xfrm>
            <a:off x="342900" y="1076325"/>
            <a:ext cx="225623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9" name="Google Shape;109;p24"/>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0" name="Google Shape;110;p24"/>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4"/>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2" name="Shape 112"/>
        <p:cNvGrpSpPr/>
        <p:nvPr/>
      </p:nvGrpSpPr>
      <p:grpSpPr>
        <a:xfrm>
          <a:off x="0" y="0"/>
          <a:ext cx="0" cy="0"/>
          <a:chOff x="0" y="0"/>
          <a:chExt cx="0" cy="0"/>
        </a:xfrm>
      </p:grpSpPr>
      <p:sp>
        <p:nvSpPr>
          <p:cNvPr id="113" name="Google Shape;113;p25"/>
          <p:cNvSpPr txBox="1"/>
          <p:nvPr>
            <p:ph type="title"/>
          </p:nvPr>
        </p:nvSpPr>
        <p:spPr>
          <a:xfrm>
            <a:off x="1344216" y="3600450"/>
            <a:ext cx="411480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5"/>
          <p:cNvSpPr/>
          <p:nvPr>
            <p:ph idx="2" type="pic"/>
          </p:nvPr>
        </p:nvSpPr>
        <p:spPr>
          <a:xfrm>
            <a:off x="1344216" y="459581"/>
            <a:ext cx="4114800" cy="3086100"/>
          </a:xfrm>
          <a:prstGeom prst="rect">
            <a:avLst/>
          </a:prstGeom>
          <a:noFill/>
          <a:ln>
            <a:noFill/>
          </a:ln>
        </p:spPr>
      </p:sp>
      <p:sp>
        <p:nvSpPr>
          <p:cNvPr id="115" name="Google Shape;115;p25"/>
          <p:cNvSpPr txBox="1"/>
          <p:nvPr>
            <p:ph idx="1" type="body"/>
          </p:nvPr>
        </p:nvSpPr>
        <p:spPr>
          <a:xfrm>
            <a:off x="1344216" y="4025503"/>
            <a:ext cx="411480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6" name="Google Shape;116;p25"/>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5"/>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5"/>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2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6"/>
          <p:cNvSpPr txBox="1"/>
          <p:nvPr>
            <p:ph idx="1" type="body"/>
          </p:nvPr>
        </p:nvSpPr>
        <p:spPr>
          <a:xfrm rot="5400000">
            <a:off x="1731764" y="-188714"/>
            <a:ext cx="3394472" cy="617220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5" name="Shape 125"/>
        <p:cNvGrpSpPr/>
        <p:nvPr/>
      </p:nvGrpSpPr>
      <p:grpSpPr>
        <a:xfrm>
          <a:off x="0" y="0"/>
          <a:ext cx="0" cy="0"/>
          <a:chOff x="0" y="0"/>
          <a:chExt cx="0" cy="0"/>
        </a:xfrm>
      </p:grpSpPr>
      <p:sp>
        <p:nvSpPr>
          <p:cNvPr id="126" name="Google Shape;126;p27"/>
          <p:cNvSpPr txBox="1"/>
          <p:nvPr>
            <p:ph type="title"/>
          </p:nvPr>
        </p:nvSpPr>
        <p:spPr>
          <a:xfrm rot="5400000">
            <a:off x="3549253" y="1628775"/>
            <a:ext cx="4388644" cy="15430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7" name="Google Shape;127;p27"/>
          <p:cNvSpPr txBox="1"/>
          <p:nvPr>
            <p:ph idx="1" type="body"/>
          </p:nvPr>
        </p:nvSpPr>
        <p:spPr>
          <a:xfrm rot="5400000">
            <a:off x="406003" y="142875"/>
            <a:ext cx="4388644" cy="451485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8" name="Google Shape;128;p27"/>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27"/>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0" name="Google Shape;130;p27"/>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2" Type="http://schemas.openxmlformats.org/officeDocument/2006/relationships/theme" Target="../theme/theme3.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6"/>
          <p:cNvSpPr txBox="1"/>
          <p:nvPr>
            <p:ph type="title"/>
          </p:nvPr>
        </p:nvSpPr>
        <p:spPr>
          <a:xfrm>
            <a:off x="342900" y="205978"/>
            <a:ext cx="6172200"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8" name="Google Shape;58;p16"/>
          <p:cNvSpPr txBox="1"/>
          <p:nvPr>
            <p:ph idx="1" type="body"/>
          </p:nvPr>
        </p:nvSpPr>
        <p:spPr>
          <a:xfrm>
            <a:off x="342900" y="1200150"/>
            <a:ext cx="6172200"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9" name="Google Shape;59;p16"/>
          <p:cNvSpPr txBox="1"/>
          <p:nvPr>
            <p:ph idx="10" type="dt"/>
          </p:nvPr>
        </p:nvSpPr>
        <p:spPr>
          <a:xfrm>
            <a:off x="342900" y="4767263"/>
            <a:ext cx="16002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0" name="Google Shape;60;p16"/>
          <p:cNvSpPr txBox="1"/>
          <p:nvPr>
            <p:ph idx="11" type="ftr"/>
          </p:nvPr>
        </p:nvSpPr>
        <p:spPr>
          <a:xfrm>
            <a:off x="2343150" y="4767263"/>
            <a:ext cx="21717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61" name="Google Shape;61;p16"/>
          <p:cNvSpPr txBox="1"/>
          <p:nvPr>
            <p:ph idx="12" type="sldNum"/>
          </p:nvPr>
        </p:nvSpPr>
        <p:spPr>
          <a:xfrm>
            <a:off x="4914900" y="4767263"/>
            <a:ext cx="16002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5545"/>
        </a:solidFill>
      </p:bgPr>
    </p:bg>
    <p:spTree>
      <p:nvGrpSpPr>
        <p:cNvPr id="135" name="Shape 135"/>
        <p:cNvGrpSpPr/>
        <p:nvPr/>
      </p:nvGrpSpPr>
      <p:grpSpPr>
        <a:xfrm>
          <a:off x="0" y="0"/>
          <a:ext cx="0" cy="0"/>
          <a:chOff x="0" y="0"/>
          <a:chExt cx="0" cy="0"/>
        </a:xfrm>
      </p:grpSpPr>
      <p:sp>
        <p:nvSpPr>
          <p:cNvPr id="136" name="Google Shape;136;p28"/>
          <p:cNvSpPr/>
          <p:nvPr/>
        </p:nvSpPr>
        <p:spPr>
          <a:xfrm>
            <a:off x="7132320" y="-731520"/>
            <a:ext cx="2926080" cy="2926080"/>
          </a:xfrm>
          <a:prstGeom prst="ellipse">
            <a:avLst/>
          </a:prstGeom>
          <a:solidFill>
            <a:srgbClr val="59B291">
              <a:alpha val="25098"/>
            </a:srgbClr>
          </a:solidFill>
          <a:ln cap="flat" cmpd="sng" w="12700">
            <a:solidFill>
              <a:srgbClr val="59B291">
                <a:alpha val="2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8"/>
          <p:cNvSpPr/>
          <p:nvPr/>
        </p:nvSpPr>
        <p:spPr>
          <a:xfrm>
            <a:off x="8046720" y="3200400"/>
            <a:ext cx="1280160" cy="1280160"/>
          </a:xfrm>
          <a:prstGeom prst="ellipse">
            <a:avLst/>
          </a:prstGeom>
          <a:solidFill>
            <a:srgbClr val="DE6A73">
              <a:alpha val="40000"/>
            </a:srgbClr>
          </a:solidFill>
          <a:ln cap="flat" cmpd="sng" w="12700">
            <a:solidFill>
              <a:srgbClr val="DE6A73">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8"/>
          <p:cNvSpPr/>
          <p:nvPr/>
        </p:nvSpPr>
        <p:spPr>
          <a:xfrm>
            <a:off x="548640" y="502920"/>
            <a:ext cx="6400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B291"/>
              </a:buClr>
              <a:buSzPts val="900"/>
              <a:buFont typeface="Calibri"/>
              <a:buNone/>
            </a:pPr>
            <a:r>
              <a:rPr b="1" i="0" lang="es-419" sz="900" u="none" cap="none" strike="noStrike">
                <a:solidFill>
                  <a:srgbClr val="59B291"/>
                </a:solidFill>
                <a:latin typeface="Calibri"/>
                <a:ea typeface="Calibri"/>
                <a:cs typeface="Calibri"/>
                <a:sym typeface="Calibri"/>
              </a:rPr>
              <a:t>REUNIÓN SEMANAL · PRICING</a:t>
            </a:r>
            <a:endParaRPr b="0" i="0" sz="900" u="none" cap="none" strike="noStrike">
              <a:solidFill>
                <a:schemeClr val="dk1"/>
              </a:solidFill>
              <a:latin typeface="Calibri"/>
              <a:ea typeface="Calibri"/>
              <a:cs typeface="Calibri"/>
              <a:sym typeface="Calibri"/>
            </a:endParaRPr>
          </a:p>
        </p:txBody>
      </p:sp>
      <p:sp>
        <p:nvSpPr>
          <p:cNvPr id="139" name="Google Shape;139;p28"/>
          <p:cNvSpPr/>
          <p:nvPr/>
        </p:nvSpPr>
        <p:spPr>
          <a:xfrm>
            <a:off x="548640" y="960120"/>
            <a:ext cx="6858000" cy="21945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6000"/>
              <a:buFont typeface="Cambria"/>
              <a:buNone/>
            </a:pPr>
            <a:r>
              <a:rPr b="1" i="0" lang="es-419" sz="6000" u="none" cap="none" strike="noStrike">
                <a:solidFill>
                  <a:srgbClr val="FFFFFF"/>
                </a:solidFill>
                <a:latin typeface="Cambria"/>
                <a:ea typeface="Cambria"/>
                <a:cs typeface="Cambria"/>
                <a:sym typeface="Cambria"/>
              </a:rPr>
              <a:t>Weekly</a:t>
            </a:r>
            <a:endParaRPr b="0" i="0" sz="6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6000"/>
              <a:buFont typeface="Cambria"/>
              <a:buNone/>
            </a:pPr>
            <a:r>
              <a:rPr b="1" i="0" lang="es-419" sz="6000" u="none" cap="none" strike="noStrike">
                <a:solidFill>
                  <a:srgbClr val="FFFFFF"/>
                </a:solidFill>
                <a:latin typeface="Cambria"/>
                <a:ea typeface="Cambria"/>
                <a:cs typeface="Cambria"/>
                <a:sym typeface="Cambria"/>
              </a:rPr>
              <a:t>Pricing</a:t>
            </a:r>
            <a:endParaRPr b="0" i="0" sz="6000" u="none" cap="none" strike="noStrike">
              <a:solidFill>
                <a:schemeClr val="dk1"/>
              </a:solidFill>
              <a:latin typeface="Calibri"/>
              <a:ea typeface="Calibri"/>
              <a:cs typeface="Calibri"/>
              <a:sym typeface="Calibri"/>
            </a:endParaRPr>
          </a:p>
        </p:txBody>
      </p:sp>
      <p:sp>
        <p:nvSpPr>
          <p:cNvPr id="140" name="Google Shape;140;p28"/>
          <p:cNvSpPr/>
          <p:nvPr/>
        </p:nvSpPr>
        <p:spPr>
          <a:xfrm>
            <a:off x="548640" y="3246120"/>
            <a:ext cx="68580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1300"/>
              <a:buFont typeface="Calibri"/>
              <a:buNone/>
            </a:pPr>
            <a:r>
              <a:rPr b="0" i="0" lang="es-419" sz="1300" u="none" cap="none" strike="noStrike">
                <a:solidFill>
                  <a:srgbClr val="6B9989"/>
                </a:solidFill>
                <a:latin typeface="Calibri"/>
                <a:ea typeface="Calibri"/>
                <a:cs typeface="Calibri"/>
                <a:sym typeface="Calibri"/>
              </a:rPr>
              <a:t>Resultados generales · Dashboard · Acciones prioritarias</a:t>
            </a:r>
            <a:endParaRPr b="0" i="0" sz="1300" u="none" cap="none" strike="noStrike">
              <a:solidFill>
                <a:schemeClr val="dk1"/>
              </a:solidFill>
              <a:latin typeface="Calibri"/>
              <a:ea typeface="Calibri"/>
              <a:cs typeface="Calibri"/>
              <a:sym typeface="Calibri"/>
            </a:endParaRPr>
          </a:p>
        </p:txBody>
      </p:sp>
      <p:sp>
        <p:nvSpPr>
          <p:cNvPr id="141" name="Google Shape;141;p28"/>
          <p:cNvSpPr/>
          <p:nvPr/>
        </p:nvSpPr>
        <p:spPr>
          <a:xfrm>
            <a:off x="548640" y="3200400"/>
            <a:ext cx="4114800" cy="27432"/>
          </a:xfrm>
          <a:prstGeom prst="rect">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8"/>
          <p:cNvSpPr/>
          <p:nvPr/>
        </p:nvSpPr>
        <p:spPr>
          <a:xfrm>
            <a:off x="548640" y="443484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s-419" sz="1100" u="none" cap="none" strike="noStrike">
                <a:solidFill>
                  <a:srgbClr val="FFFFFF"/>
                </a:solidFill>
                <a:latin typeface="Calibri"/>
                <a:ea typeface="Calibri"/>
                <a:cs typeface="Calibri"/>
                <a:sym typeface="Calibri"/>
              </a:rPr>
              <a:t>Junio 25, 2026</a:t>
            </a:r>
            <a:r>
              <a:rPr b="0" i="0" lang="es-419" sz="1100" u="none" cap="none" strike="noStrike">
                <a:solidFill>
                  <a:srgbClr val="6B9989"/>
                </a:solidFill>
                <a:latin typeface="Calibri"/>
                <a:ea typeface="Calibri"/>
                <a:cs typeface="Calibri"/>
                <a:sym typeface="Calibri"/>
              </a:rPr>
              <a:t>   ·   Semana 26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29"/>
          <p:cNvSpPr/>
          <p:nvPr/>
        </p:nvSpPr>
        <p:spPr>
          <a:xfrm>
            <a:off x="0" y="0"/>
            <a:ext cx="9144000" cy="1188720"/>
          </a:xfrm>
          <a:prstGeom prst="rect">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9"/>
          <p:cNvSpPr/>
          <p:nvPr/>
        </p:nvSpPr>
        <p:spPr>
          <a:xfrm>
            <a:off x="502920" y="13716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s-419" sz="3000" u="none" cap="none" strike="noStrike">
                <a:solidFill>
                  <a:srgbClr val="FFFFFF"/>
                </a:solidFill>
                <a:latin typeface="Cambria"/>
                <a:ea typeface="Cambria"/>
                <a:cs typeface="Cambria"/>
                <a:sym typeface="Cambria"/>
              </a:rPr>
              <a:t>Agenda</a:t>
            </a:r>
            <a:endParaRPr b="0" i="0" sz="3000" u="none" cap="none" strike="noStrike">
              <a:solidFill>
                <a:schemeClr val="dk1"/>
              </a:solidFill>
              <a:latin typeface="Calibri"/>
              <a:ea typeface="Calibri"/>
              <a:cs typeface="Calibri"/>
              <a:sym typeface="Calibri"/>
            </a:endParaRPr>
          </a:p>
        </p:txBody>
      </p:sp>
      <p:sp>
        <p:nvSpPr>
          <p:cNvPr id="150" name="Google Shape;150;p29"/>
          <p:cNvSpPr/>
          <p:nvPr/>
        </p:nvSpPr>
        <p:spPr>
          <a:xfrm>
            <a:off x="502920" y="7498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B291"/>
              </a:buClr>
              <a:buSzPts val="1000"/>
              <a:buFont typeface="Calibri"/>
              <a:buNone/>
            </a:pPr>
            <a:r>
              <a:rPr b="0" i="0" lang="es-419" sz="1000" u="none" cap="none" strike="noStrike">
                <a:solidFill>
                  <a:srgbClr val="59B291"/>
                </a:solidFill>
                <a:latin typeface="Calibri"/>
                <a:ea typeface="Calibri"/>
                <a:cs typeface="Calibri"/>
                <a:sym typeface="Calibri"/>
              </a:rPr>
              <a:t>90 minutos · Equipo de </a:t>
            </a:r>
            <a:r>
              <a:rPr lang="es-419" sz="1000">
                <a:solidFill>
                  <a:srgbClr val="59B291"/>
                </a:solidFill>
                <a:latin typeface="Calibri"/>
                <a:ea typeface="Calibri"/>
                <a:cs typeface="Calibri"/>
                <a:sym typeface="Calibri"/>
              </a:rPr>
              <a:t>Comercial </a:t>
            </a:r>
            <a:r>
              <a:rPr b="0" i="0" lang="es-419" sz="1000" u="none" cap="none" strike="noStrike">
                <a:solidFill>
                  <a:srgbClr val="59B291"/>
                </a:solidFill>
                <a:latin typeface="Calibri"/>
                <a:ea typeface="Calibri"/>
                <a:cs typeface="Calibri"/>
                <a:sym typeface="Calibri"/>
              </a:rPr>
              <a:t>&amp; Finanzas</a:t>
            </a:r>
            <a:endParaRPr b="0" i="0" sz="1000" u="none" cap="none" strike="noStrike">
              <a:solidFill>
                <a:schemeClr val="dk1"/>
              </a:solidFill>
              <a:latin typeface="Calibri"/>
              <a:ea typeface="Calibri"/>
              <a:cs typeface="Calibri"/>
              <a:sym typeface="Calibri"/>
            </a:endParaRPr>
          </a:p>
        </p:txBody>
      </p:sp>
      <p:sp>
        <p:nvSpPr>
          <p:cNvPr id="151" name="Google Shape;151;p29"/>
          <p:cNvSpPr/>
          <p:nvPr/>
        </p:nvSpPr>
        <p:spPr>
          <a:xfrm>
            <a:off x="274320" y="1389888"/>
            <a:ext cx="2743200" cy="1508760"/>
          </a:xfrm>
          <a:prstGeom prst="roundRect">
            <a:avLst>
              <a:gd fmla="val 4848" name="adj"/>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9"/>
          <p:cNvSpPr/>
          <p:nvPr/>
        </p:nvSpPr>
        <p:spPr>
          <a:xfrm>
            <a:off x="411480" y="1527048"/>
            <a:ext cx="475488" cy="347472"/>
          </a:xfrm>
          <a:prstGeom prst="roundRect">
            <a:avLst>
              <a:gd fmla="val 13158" name="adj"/>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9"/>
          <p:cNvSpPr/>
          <p:nvPr/>
        </p:nvSpPr>
        <p:spPr>
          <a:xfrm>
            <a:off x="411480" y="1527048"/>
            <a:ext cx="47548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01</a:t>
            </a:r>
            <a:endParaRPr b="0" i="0" sz="1100" u="none" cap="none" strike="noStrike">
              <a:solidFill>
                <a:schemeClr val="dk1"/>
              </a:solidFill>
              <a:latin typeface="Calibri"/>
              <a:ea typeface="Calibri"/>
              <a:cs typeface="Calibri"/>
              <a:sym typeface="Calibri"/>
            </a:endParaRPr>
          </a:p>
        </p:txBody>
      </p:sp>
      <p:sp>
        <p:nvSpPr>
          <p:cNvPr id="154" name="Google Shape;154;p29"/>
          <p:cNvSpPr/>
          <p:nvPr/>
        </p:nvSpPr>
        <p:spPr>
          <a:xfrm>
            <a:off x="2377440" y="1554480"/>
            <a:ext cx="56692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5 min</a:t>
            </a:r>
            <a:endParaRPr b="0" i="0" sz="900" u="none" cap="none" strike="noStrike">
              <a:solidFill>
                <a:schemeClr val="dk1"/>
              </a:solidFill>
              <a:latin typeface="Calibri"/>
              <a:ea typeface="Calibri"/>
              <a:cs typeface="Calibri"/>
              <a:sym typeface="Calibri"/>
            </a:endParaRPr>
          </a:p>
        </p:txBody>
      </p:sp>
      <p:sp>
        <p:nvSpPr>
          <p:cNvPr id="155" name="Google Shape;155;p29"/>
          <p:cNvSpPr/>
          <p:nvPr/>
        </p:nvSpPr>
        <p:spPr>
          <a:xfrm>
            <a:off x="384048" y="1965960"/>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Apertura y contexto</a:t>
            </a:r>
            <a:endParaRPr b="0" i="0" sz="1100" u="none" cap="none" strike="noStrike">
              <a:solidFill>
                <a:schemeClr val="dk1"/>
              </a:solidFill>
              <a:latin typeface="Calibri"/>
              <a:ea typeface="Calibri"/>
              <a:cs typeface="Calibri"/>
              <a:sym typeface="Calibri"/>
            </a:endParaRPr>
          </a:p>
        </p:txBody>
      </p:sp>
      <p:sp>
        <p:nvSpPr>
          <p:cNvPr id="156" name="Google Shape;156;p29"/>
          <p:cNvSpPr/>
          <p:nvPr/>
        </p:nvSpPr>
        <p:spPr>
          <a:xfrm>
            <a:off x="3218688" y="1389888"/>
            <a:ext cx="2743200" cy="1508760"/>
          </a:xfrm>
          <a:prstGeom prst="roundRect">
            <a:avLst>
              <a:gd fmla="val 4848" name="adj"/>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9"/>
          <p:cNvSpPr/>
          <p:nvPr/>
        </p:nvSpPr>
        <p:spPr>
          <a:xfrm>
            <a:off x="3355848" y="1527048"/>
            <a:ext cx="475488" cy="347472"/>
          </a:xfrm>
          <a:prstGeom prst="roundRect">
            <a:avLst>
              <a:gd fmla="val 13158" name="adj"/>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9"/>
          <p:cNvSpPr/>
          <p:nvPr/>
        </p:nvSpPr>
        <p:spPr>
          <a:xfrm>
            <a:off x="3355848" y="1527048"/>
            <a:ext cx="47548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02</a:t>
            </a:r>
            <a:endParaRPr b="0" i="0" sz="1100" u="none" cap="none" strike="noStrike">
              <a:solidFill>
                <a:schemeClr val="dk1"/>
              </a:solidFill>
              <a:latin typeface="Calibri"/>
              <a:ea typeface="Calibri"/>
              <a:cs typeface="Calibri"/>
              <a:sym typeface="Calibri"/>
            </a:endParaRPr>
          </a:p>
        </p:txBody>
      </p:sp>
      <p:sp>
        <p:nvSpPr>
          <p:cNvPr id="159" name="Google Shape;159;p29"/>
          <p:cNvSpPr/>
          <p:nvPr/>
        </p:nvSpPr>
        <p:spPr>
          <a:xfrm>
            <a:off x="5321808" y="1554480"/>
            <a:ext cx="56692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20 min</a:t>
            </a:r>
            <a:endParaRPr b="0" i="0" sz="900" u="none" cap="none" strike="noStrike">
              <a:solidFill>
                <a:schemeClr val="dk1"/>
              </a:solidFill>
              <a:latin typeface="Calibri"/>
              <a:ea typeface="Calibri"/>
              <a:cs typeface="Calibri"/>
              <a:sym typeface="Calibri"/>
            </a:endParaRPr>
          </a:p>
        </p:txBody>
      </p:sp>
      <p:sp>
        <p:nvSpPr>
          <p:cNvPr id="160" name="Google Shape;160;p29"/>
          <p:cNvSpPr/>
          <p:nvPr/>
        </p:nvSpPr>
        <p:spPr>
          <a:xfrm>
            <a:off x="3328416" y="1965960"/>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Resultados generales</a:t>
            </a:r>
            <a:endParaRPr b="0" i="0" sz="1100" u="none" cap="none" strike="noStrike">
              <a:solidFill>
                <a:schemeClr val="dk1"/>
              </a:solidFill>
              <a:latin typeface="Calibri"/>
              <a:ea typeface="Calibri"/>
              <a:cs typeface="Calibri"/>
              <a:sym typeface="Calibri"/>
            </a:endParaRPr>
          </a:p>
        </p:txBody>
      </p:sp>
      <p:sp>
        <p:nvSpPr>
          <p:cNvPr id="161" name="Google Shape;161;p29"/>
          <p:cNvSpPr/>
          <p:nvPr/>
        </p:nvSpPr>
        <p:spPr>
          <a:xfrm>
            <a:off x="6163056" y="1389888"/>
            <a:ext cx="2743200" cy="1508760"/>
          </a:xfrm>
          <a:prstGeom prst="roundRect">
            <a:avLst>
              <a:gd fmla="val 4848" name="adj"/>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9"/>
          <p:cNvSpPr/>
          <p:nvPr/>
        </p:nvSpPr>
        <p:spPr>
          <a:xfrm>
            <a:off x="6300216" y="1527048"/>
            <a:ext cx="475488" cy="347472"/>
          </a:xfrm>
          <a:prstGeom prst="roundRect">
            <a:avLst>
              <a:gd fmla="val 13158" name="adj"/>
            </a:avLst>
          </a:prstGeom>
          <a:solidFill>
            <a:srgbClr val="E0C233"/>
          </a:solidFill>
          <a:ln cap="flat" cmpd="sng" w="12700">
            <a:solidFill>
              <a:srgbClr val="E0C2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9"/>
          <p:cNvSpPr/>
          <p:nvPr/>
        </p:nvSpPr>
        <p:spPr>
          <a:xfrm>
            <a:off x="6300216" y="1527048"/>
            <a:ext cx="47548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03</a:t>
            </a:r>
            <a:endParaRPr b="0" i="0" sz="1100" u="none" cap="none" strike="noStrike">
              <a:solidFill>
                <a:schemeClr val="dk1"/>
              </a:solidFill>
              <a:latin typeface="Calibri"/>
              <a:ea typeface="Calibri"/>
              <a:cs typeface="Calibri"/>
              <a:sym typeface="Calibri"/>
            </a:endParaRPr>
          </a:p>
        </p:txBody>
      </p:sp>
      <p:sp>
        <p:nvSpPr>
          <p:cNvPr id="164" name="Google Shape;164;p29"/>
          <p:cNvSpPr/>
          <p:nvPr/>
        </p:nvSpPr>
        <p:spPr>
          <a:xfrm>
            <a:off x="8266176" y="1554480"/>
            <a:ext cx="56692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15 min</a:t>
            </a:r>
            <a:endParaRPr b="0" i="0" sz="900" u="none" cap="none" strike="noStrike">
              <a:solidFill>
                <a:schemeClr val="dk1"/>
              </a:solidFill>
              <a:latin typeface="Calibri"/>
              <a:ea typeface="Calibri"/>
              <a:cs typeface="Calibri"/>
              <a:sym typeface="Calibri"/>
            </a:endParaRPr>
          </a:p>
        </p:txBody>
      </p:sp>
      <p:sp>
        <p:nvSpPr>
          <p:cNvPr id="165" name="Google Shape;165;p29"/>
          <p:cNvSpPr/>
          <p:nvPr/>
        </p:nvSpPr>
        <p:spPr>
          <a:xfrm>
            <a:off x="6272784" y="1965960"/>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Entendimiento de métricas</a:t>
            </a:r>
            <a:endParaRPr b="0" i="0" sz="1100" u="none" cap="none" strike="noStrike">
              <a:solidFill>
                <a:schemeClr val="dk1"/>
              </a:solidFill>
              <a:latin typeface="Calibri"/>
              <a:ea typeface="Calibri"/>
              <a:cs typeface="Calibri"/>
              <a:sym typeface="Calibri"/>
            </a:endParaRPr>
          </a:p>
        </p:txBody>
      </p:sp>
      <p:sp>
        <p:nvSpPr>
          <p:cNvPr id="166" name="Google Shape;166;p29"/>
          <p:cNvSpPr/>
          <p:nvPr/>
        </p:nvSpPr>
        <p:spPr>
          <a:xfrm>
            <a:off x="274320" y="3108960"/>
            <a:ext cx="2743200" cy="1508760"/>
          </a:xfrm>
          <a:prstGeom prst="roundRect">
            <a:avLst>
              <a:gd fmla="val 4848" name="adj"/>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9"/>
          <p:cNvSpPr/>
          <p:nvPr/>
        </p:nvSpPr>
        <p:spPr>
          <a:xfrm>
            <a:off x="411480" y="3246120"/>
            <a:ext cx="475488" cy="347472"/>
          </a:xfrm>
          <a:prstGeom prst="roundRect">
            <a:avLst>
              <a:gd fmla="val 13158" name="adj"/>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9"/>
          <p:cNvSpPr/>
          <p:nvPr/>
        </p:nvSpPr>
        <p:spPr>
          <a:xfrm>
            <a:off x="411480" y="3246120"/>
            <a:ext cx="47548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04</a:t>
            </a:r>
            <a:endParaRPr b="0" i="0" sz="1100" u="none" cap="none" strike="noStrike">
              <a:solidFill>
                <a:schemeClr val="dk1"/>
              </a:solidFill>
              <a:latin typeface="Calibri"/>
              <a:ea typeface="Calibri"/>
              <a:cs typeface="Calibri"/>
              <a:sym typeface="Calibri"/>
            </a:endParaRPr>
          </a:p>
        </p:txBody>
      </p:sp>
      <p:sp>
        <p:nvSpPr>
          <p:cNvPr id="169" name="Google Shape;169;p29"/>
          <p:cNvSpPr/>
          <p:nvPr/>
        </p:nvSpPr>
        <p:spPr>
          <a:xfrm>
            <a:off x="2377440" y="3273552"/>
            <a:ext cx="56692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20 min</a:t>
            </a:r>
            <a:endParaRPr b="0" i="0" sz="900" u="none" cap="none" strike="noStrike">
              <a:solidFill>
                <a:schemeClr val="dk1"/>
              </a:solidFill>
              <a:latin typeface="Calibri"/>
              <a:ea typeface="Calibri"/>
              <a:cs typeface="Calibri"/>
              <a:sym typeface="Calibri"/>
            </a:endParaRPr>
          </a:p>
        </p:txBody>
      </p:sp>
      <p:sp>
        <p:nvSpPr>
          <p:cNvPr id="170" name="Google Shape;170;p29"/>
          <p:cNvSpPr/>
          <p:nvPr/>
        </p:nvSpPr>
        <p:spPr>
          <a:xfrm>
            <a:off x="384048" y="3685032"/>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Dashboard de pricing</a:t>
            </a:r>
            <a:endParaRPr b="0" i="0" sz="1100" u="none" cap="none" strike="noStrike">
              <a:solidFill>
                <a:schemeClr val="dk1"/>
              </a:solidFill>
              <a:latin typeface="Calibri"/>
              <a:ea typeface="Calibri"/>
              <a:cs typeface="Calibri"/>
              <a:sym typeface="Calibri"/>
            </a:endParaRPr>
          </a:p>
        </p:txBody>
      </p:sp>
      <p:sp>
        <p:nvSpPr>
          <p:cNvPr id="171" name="Google Shape;171;p29"/>
          <p:cNvSpPr/>
          <p:nvPr/>
        </p:nvSpPr>
        <p:spPr>
          <a:xfrm>
            <a:off x="3218688" y="3108960"/>
            <a:ext cx="2743200" cy="1508760"/>
          </a:xfrm>
          <a:prstGeom prst="roundRect">
            <a:avLst>
              <a:gd fmla="val 4848" name="adj"/>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9"/>
          <p:cNvSpPr/>
          <p:nvPr/>
        </p:nvSpPr>
        <p:spPr>
          <a:xfrm>
            <a:off x="3355848" y="3246120"/>
            <a:ext cx="475488" cy="347472"/>
          </a:xfrm>
          <a:prstGeom prst="roundRect">
            <a:avLst>
              <a:gd fmla="val 13158" name="adj"/>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9"/>
          <p:cNvSpPr/>
          <p:nvPr/>
        </p:nvSpPr>
        <p:spPr>
          <a:xfrm>
            <a:off x="3355848" y="3246120"/>
            <a:ext cx="47548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05</a:t>
            </a:r>
            <a:endParaRPr b="0" i="0" sz="1100" u="none" cap="none" strike="noStrike">
              <a:solidFill>
                <a:schemeClr val="dk1"/>
              </a:solidFill>
              <a:latin typeface="Calibri"/>
              <a:ea typeface="Calibri"/>
              <a:cs typeface="Calibri"/>
              <a:sym typeface="Calibri"/>
            </a:endParaRPr>
          </a:p>
        </p:txBody>
      </p:sp>
      <p:sp>
        <p:nvSpPr>
          <p:cNvPr id="174" name="Google Shape;174;p29"/>
          <p:cNvSpPr/>
          <p:nvPr/>
        </p:nvSpPr>
        <p:spPr>
          <a:xfrm>
            <a:off x="5321808" y="3273552"/>
            <a:ext cx="56692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20 min</a:t>
            </a:r>
            <a:endParaRPr b="0" i="0" sz="900" u="none" cap="none" strike="noStrike">
              <a:solidFill>
                <a:schemeClr val="dk1"/>
              </a:solidFill>
              <a:latin typeface="Calibri"/>
              <a:ea typeface="Calibri"/>
              <a:cs typeface="Calibri"/>
              <a:sym typeface="Calibri"/>
            </a:endParaRPr>
          </a:p>
        </p:txBody>
      </p:sp>
      <p:sp>
        <p:nvSpPr>
          <p:cNvPr id="175" name="Google Shape;175;p29"/>
          <p:cNvSpPr/>
          <p:nvPr/>
        </p:nvSpPr>
        <p:spPr>
          <a:xfrm>
            <a:off x="3328416" y="3685032"/>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Acciones e iniciativas</a:t>
            </a:r>
            <a:endParaRPr b="0" i="0" sz="1100" u="none" cap="none" strike="noStrike">
              <a:solidFill>
                <a:schemeClr val="dk1"/>
              </a:solidFill>
              <a:latin typeface="Calibri"/>
              <a:ea typeface="Calibri"/>
              <a:cs typeface="Calibri"/>
              <a:sym typeface="Calibri"/>
            </a:endParaRPr>
          </a:p>
        </p:txBody>
      </p:sp>
      <p:sp>
        <p:nvSpPr>
          <p:cNvPr id="176" name="Google Shape;176;p29"/>
          <p:cNvSpPr/>
          <p:nvPr/>
        </p:nvSpPr>
        <p:spPr>
          <a:xfrm>
            <a:off x="6163056" y="3108960"/>
            <a:ext cx="2743200" cy="1508760"/>
          </a:xfrm>
          <a:prstGeom prst="roundRect">
            <a:avLst>
              <a:gd fmla="val 4848" name="adj"/>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9"/>
          <p:cNvSpPr/>
          <p:nvPr/>
        </p:nvSpPr>
        <p:spPr>
          <a:xfrm>
            <a:off x="6300216" y="3246120"/>
            <a:ext cx="475488" cy="347472"/>
          </a:xfrm>
          <a:prstGeom prst="roundRect">
            <a:avLst>
              <a:gd fmla="val 13158" name="adj"/>
            </a:avLst>
          </a:prstGeom>
          <a:solidFill>
            <a:srgbClr val="E0C233"/>
          </a:solidFill>
          <a:ln cap="flat" cmpd="sng" w="12700">
            <a:solidFill>
              <a:srgbClr val="E0C2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9"/>
          <p:cNvSpPr/>
          <p:nvPr/>
        </p:nvSpPr>
        <p:spPr>
          <a:xfrm>
            <a:off x="6300216" y="3246120"/>
            <a:ext cx="475488"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06</a:t>
            </a:r>
            <a:endParaRPr b="0" i="0" sz="1100" u="none" cap="none" strike="noStrike">
              <a:solidFill>
                <a:schemeClr val="dk1"/>
              </a:solidFill>
              <a:latin typeface="Calibri"/>
              <a:ea typeface="Calibri"/>
              <a:cs typeface="Calibri"/>
              <a:sym typeface="Calibri"/>
            </a:endParaRPr>
          </a:p>
        </p:txBody>
      </p:sp>
      <p:sp>
        <p:nvSpPr>
          <p:cNvPr id="179" name="Google Shape;179;p29"/>
          <p:cNvSpPr/>
          <p:nvPr/>
        </p:nvSpPr>
        <p:spPr>
          <a:xfrm>
            <a:off x="8266176" y="3273552"/>
            <a:ext cx="56692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10 min</a:t>
            </a:r>
            <a:endParaRPr b="0" i="0" sz="900" u="none" cap="none" strike="noStrike">
              <a:solidFill>
                <a:schemeClr val="dk1"/>
              </a:solidFill>
              <a:latin typeface="Calibri"/>
              <a:ea typeface="Calibri"/>
              <a:cs typeface="Calibri"/>
              <a:sym typeface="Calibri"/>
            </a:endParaRPr>
          </a:p>
        </p:txBody>
      </p:sp>
      <p:sp>
        <p:nvSpPr>
          <p:cNvPr id="180" name="Google Shape;180;p29"/>
          <p:cNvSpPr/>
          <p:nvPr/>
        </p:nvSpPr>
        <p:spPr>
          <a:xfrm>
            <a:off x="6272784" y="3685032"/>
            <a:ext cx="2542032"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Próximos pasos y cierre</a:t>
            </a:r>
            <a:endParaRPr b="0" i="0" sz="1100" u="none" cap="none" strike="noStrike">
              <a:solidFill>
                <a:schemeClr val="dk1"/>
              </a:solidFill>
              <a:latin typeface="Calibri"/>
              <a:ea typeface="Calibri"/>
              <a:cs typeface="Calibri"/>
              <a:sym typeface="Calibri"/>
            </a:endParaRPr>
          </a:p>
        </p:txBody>
      </p:sp>
      <p:sp>
        <p:nvSpPr>
          <p:cNvPr id="181" name="Google Shape;181;p29"/>
          <p:cNvSpPr/>
          <p:nvPr/>
        </p:nvSpPr>
        <p:spPr>
          <a:xfrm>
            <a:off x="6272784" y="4069080"/>
            <a:ext cx="254203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Compromisos y seguimiento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30"/>
          <p:cNvSpPr txBox="1"/>
          <p:nvPr/>
        </p:nvSpPr>
        <p:spPr>
          <a:xfrm>
            <a:off x="308610" y="123444"/>
            <a:ext cx="8503800" cy="361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1900" u="none" cap="none" strike="noStrike">
                <a:solidFill>
                  <a:srgbClr val="2B5545"/>
                </a:solidFill>
                <a:latin typeface="Quattrocento Sans"/>
                <a:ea typeface="Quattrocento Sans"/>
                <a:cs typeface="Quattrocento Sans"/>
                <a:sym typeface="Quattrocento Sans"/>
              </a:rPr>
              <a:t>Resultados de Pricing — Resumen Ejecutivo</a:t>
            </a:r>
            <a:endParaRPr sz="1100"/>
          </a:p>
        </p:txBody>
      </p:sp>
      <p:sp>
        <p:nvSpPr>
          <p:cNvPr id="188" name="Google Shape;188;p30"/>
          <p:cNvSpPr txBox="1"/>
          <p:nvPr/>
        </p:nvSpPr>
        <p:spPr>
          <a:xfrm>
            <a:off x="308610" y="445770"/>
            <a:ext cx="85038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s-419" sz="900" u="none" cap="none" strike="noStrike">
                <a:solidFill>
                  <a:srgbClr val="6B6B6B"/>
                </a:solidFill>
                <a:latin typeface="Quattrocento Sans"/>
                <a:ea typeface="Quattrocento Sans"/>
                <a:cs typeface="Quattrocento Sans"/>
                <a:sym typeface="Quattrocento Sans"/>
              </a:rPr>
              <a:t>Feb–Jun 2026  ·  2 stores (9 y 14)  ·  Todos los marketplaces  ·  Junio = mes parcial (al día 23)</a:t>
            </a:r>
            <a:endParaRPr sz="1100"/>
          </a:p>
        </p:txBody>
      </p:sp>
      <p:pic>
        <p:nvPicPr>
          <p:cNvPr descr="chart_waterfall_pm.png" id="189" name="Google Shape;189;p30"/>
          <p:cNvPicPr preferRelativeResize="0"/>
          <p:nvPr/>
        </p:nvPicPr>
        <p:blipFill rotWithShape="1">
          <a:blip r:embed="rId3">
            <a:alphaModFix/>
          </a:blip>
          <a:srcRect b="0" l="0" r="0" t="0"/>
          <a:stretch/>
        </p:blipFill>
        <p:spPr>
          <a:xfrm>
            <a:off x="274320" y="788670"/>
            <a:ext cx="5692140" cy="3198271"/>
          </a:xfrm>
          <a:prstGeom prst="rect">
            <a:avLst/>
          </a:prstGeom>
          <a:noFill/>
          <a:ln>
            <a:noFill/>
          </a:ln>
        </p:spPr>
      </p:pic>
      <p:sp>
        <p:nvSpPr>
          <p:cNvPr id="190" name="Google Shape;190;p30"/>
          <p:cNvSpPr/>
          <p:nvPr/>
        </p:nvSpPr>
        <p:spPr>
          <a:xfrm>
            <a:off x="6137909" y="499280"/>
            <a:ext cx="2709000" cy="651600"/>
          </a:xfrm>
          <a:prstGeom prst="rect">
            <a:avLst/>
          </a:prstGeom>
          <a:solidFill>
            <a:srgbClr val="2B5545"/>
          </a:solidFill>
          <a:ln>
            <a:noFill/>
          </a:ln>
        </p:spPr>
        <p:txBody>
          <a:bodyPr anchorCtr="0" anchor="ctr" bIns="34275" lIns="82300" spcFirstLastPara="1" rIns="82300" wrap="square" tIns="54875">
            <a:noAutofit/>
          </a:bodyPr>
          <a:lstStyle/>
          <a:p>
            <a:pPr indent="0" lvl="0" marL="0" marR="0" rtl="0" algn="ctr">
              <a:spcBef>
                <a:spcPts val="0"/>
              </a:spcBef>
              <a:spcAft>
                <a:spcPts val="0"/>
              </a:spcAft>
              <a:buNone/>
            </a:pPr>
            <a:r>
              <a:rPr b="1" i="0" lang="es-419" sz="1500" u="none" cap="none" strike="noStrike">
                <a:solidFill>
                  <a:srgbClr val="FFFFFF"/>
                </a:solidFill>
                <a:latin typeface="Quattrocento Sans"/>
                <a:ea typeface="Quattrocento Sans"/>
                <a:cs typeface="Quattrocento Sans"/>
                <a:sym typeface="Quattrocento Sans"/>
              </a:rPr>
              <a:t>17.9% PM%</a:t>
            </a:r>
            <a:endParaRPr sz="1100"/>
          </a:p>
          <a:p>
            <a:pPr indent="0" lvl="0" marL="0" marR="0" rtl="0" algn="ctr">
              <a:spcBef>
                <a:spcPts val="0"/>
              </a:spcBef>
              <a:spcAft>
                <a:spcPts val="0"/>
              </a:spcAft>
              <a:buNone/>
            </a:pPr>
            <a:r>
              <a:rPr b="0" i="0" lang="es-419" sz="800" u="none" cap="none" strike="noStrike">
                <a:solidFill>
                  <a:srgbClr val="FFFFFF"/>
                </a:solidFill>
                <a:latin typeface="Quattrocento Sans"/>
                <a:ea typeface="Quattrocento Sans"/>
                <a:cs typeface="Quattrocento Sans"/>
                <a:sym typeface="Quattrocento Sans"/>
              </a:rPr>
              <a:t>vs 23.4% en marzo (-5.4 pts)  ·  vs 19.6% en febrero (-1.6 pts)</a:t>
            </a:r>
            <a:endParaRPr sz="1100"/>
          </a:p>
        </p:txBody>
      </p:sp>
      <p:pic>
        <p:nvPicPr>
          <p:cNvPr descr="chart_regular_vs_final.png" id="191" name="Google Shape;191;p30"/>
          <p:cNvPicPr preferRelativeResize="0"/>
          <p:nvPr/>
        </p:nvPicPr>
        <p:blipFill rotWithShape="1">
          <a:blip r:embed="rId4">
            <a:alphaModFix/>
          </a:blip>
          <a:srcRect b="0" l="0" r="0" t="0"/>
          <a:stretch/>
        </p:blipFill>
        <p:spPr>
          <a:xfrm>
            <a:off x="6137909" y="1157513"/>
            <a:ext cx="2708910" cy="1826939"/>
          </a:xfrm>
          <a:prstGeom prst="rect">
            <a:avLst/>
          </a:prstGeom>
          <a:noFill/>
          <a:ln>
            <a:noFill/>
          </a:ln>
        </p:spPr>
      </p:pic>
      <p:sp>
        <p:nvSpPr>
          <p:cNvPr id="192" name="Google Shape;192;p30"/>
          <p:cNvSpPr txBox="1"/>
          <p:nvPr/>
        </p:nvSpPr>
        <p:spPr>
          <a:xfrm>
            <a:off x="6137909" y="2977594"/>
            <a:ext cx="2709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900" u="none" cap="none" strike="noStrike">
                <a:solidFill>
                  <a:srgbClr val="2B5545"/>
                </a:solidFill>
                <a:latin typeface="Quattrocento Sans"/>
                <a:ea typeface="Quattrocento Sans"/>
                <a:cs typeface="Quattrocento Sans"/>
                <a:sym typeface="Quattrocento Sans"/>
              </a:rPr>
              <a:t>Lectura adicional</a:t>
            </a:r>
            <a:endParaRPr b="1" i="0" sz="900" u="none" cap="none" strike="noStrike">
              <a:solidFill>
                <a:srgbClr val="2B5545"/>
              </a:solidFill>
              <a:latin typeface="Quattrocento Sans"/>
              <a:ea typeface="Quattrocento Sans"/>
              <a:cs typeface="Quattrocento Sans"/>
              <a:sym typeface="Quattrocento Sans"/>
            </a:endParaRPr>
          </a:p>
        </p:txBody>
      </p:sp>
      <p:sp>
        <p:nvSpPr>
          <p:cNvPr id="193" name="Google Shape;193;p30"/>
          <p:cNvSpPr txBox="1"/>
          <p:nvPr/>
        </p:nvSpPr>
        <p:spPr>
          <a:xfrm>
            <a:off x="6137910" y="3239686"/>
            <a:ext cx="2709000" cy="1059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2B5545"/>
                </a:solidFill>
                <a:latin typeface="Quattrocento Sans"/>
                <a:ea typeface="Quattrocento Sans"/>
                <a:cs typeface="Quattrocento Sans"/>
                <a:sym typeface="Quattrocento Sans"/>
              </a:rPr>
              <a:t>•  Aun sin descuentos, el margen a precio regular también cae (25.8%→20.9% PM) — confirma que no es solo campañas.</a:t>
            </a:r>
            <a:endParaRPr sz="1100"/>
          </a:p>
          <a:p>
            <a:pPr indent="0" lvl="0" marL="0" marR="0" rtl="0" algn="l">
              <a:spcBef>
                <a:spcPts val="500"/>
              </a:spcBef>
              <a:spcAft>
                <a:spcPts val="0"/>
              </a:spcAft>
              <a:buNone/>
            </a:pPr>
            <a:r>
              <a:rPr b="0" i="0" lang="es-419" sz="800" u="none" cap="none" strike="noStrike">
                <a:solidFill>
                  <a:srgbClr val="2B5545"/>
                </a:solidFill>
                <a:latin typeface="Quattrocento Sans"/>
                <a:ea typeface="Quattrocento Sans"/>
                <a:cs typeface="Quattrocento Sans"/>
                <a:sym typeface="Quattrocento Sans"/>
              </a:rPr>
              <a:t>•  PM$ real: $4.99M en junio vs $7.02M en marzo — cae en pesos, no solo en %, aunque el GMV siga creciendo.</a:t>
            </a:r>
            <a:endParaRPr sz="1100"/>
          </a:p>
          <a:p>
            <a:pPr indent="0" lvl="0" marL="0" marR="0" rtl="0" algn="l">
              <a:spcBef>
                <a:spcPts val="500"/>
              </a:spcBef>
              <a:spcAft>
                <a:spcPts val="0"/>
              </a:spcAft>
              <a:buNone/>
            </a:pPr>
            <a:r>
              <a:rPr b="0" i="0" lang="es-419" sz="800" u="none" cap="none" strike="noStrike">
                <a:solidFill>
                  <a:srgbClr val="2B5545"/>
                </a:solidFill>
                <a:latin typeface="Quattrocento Sans"/>
                <a:ea typeface="Quattrocento Sans"/>
                <a:cs typeface="Quattrocento Sans"/>
                <a:sym typeface="Quattrocento Sans"/>
              </a:rPr>
              <a:t>•  Mix de marketplace: descartado (caída pareja en los 5 canales). Rebate ($1.2–1.4M/mes) no alcanza a compensar.</a:t>
            </a:r>
            <a:endParaRPr sz="1100"/>
          </a:p>
        </p:txBody>
      </p:sp>
      <p:sp>
        <p:nvSpPr>
          <p:cNvPr id="194" name="Google Shape;194;p30"/>
          <p:cNvSpPr/>
          <p:nvPr/>
        </p:nvSpPr>
        <p:spPr>
          <a:xfrm>
            <a:off x="274320" y="4491990"/>
            <a:ext cx="8572500" cy="534900"/>
          </a:xfrm>
          <a:prstGeom prst="rect">
            <a:avLst/>
          </a:prstGeom>
          <a:solidFill>
            <a:srgbClr val="2B5545"/>
          </a:solidFill>
          <a:ln>
            <a:noFill/>
          </a:ln>
        </p:spPr>
        <p:txBody>
          <a:bodyPr anchorCtr="0" anchor="ctr" bIns="34275" lIns="68575" spcFirstLastPara="1" rIns="68575" wrap="square" tIns="54875">
            <a:noAutofit/>
          </a:bodyPr>
          <a:lstStyle/>
          <a:p>
            <a:pPr indent="0" lvl="0" marL="0" marR="0" rtl="0" algn="ctr">
              <a:spcBef>
                <a:spcPts val="0"/>
              </a:spcBef>
              <a:spcAft>
                <a:spcPts val="0"/>
              </a:spcAft>
              <a:buNone/>
            </a:pPr>
            <a:r>
              <a:rPr b="1" i="0" lang="es-419" sz="1000" u="none" cap="none" strike="noStrike">
                <a:solidFill>
                  <a:srgbClr val="FFFFFF"/>
                </a:solidFill>
                <a:latin typeface="Quattrocento Sans"/>
                <a:ea typeface="Quattrocento Sans"/>
                <a:cs typeface="Quattrocento Sans"/>
                <a:sym typeface="Quattrocento Sans"/>
              </a:rPr>
              <a:t>Compras: validar el alza de costo de proveedor (+2.5%, canasta fija).</a:t>
            </a:r>
            <a:endParaRPr sz="1100"/>
          </a:p>
          <a:p>
            <a:pPr indent="0" lvl="0" marL="0" marR="0" rtl="0" algn="ctr">
              <a:spcBef>
                <a:spcPts val="0"/>
              </a:spcBef>
              <a:spcAft>
                <a:spcPts val="0"/>
              </a:spcAft>
              <a:buNone/>
            </a:pPr>
            <a:r>
              <a:rPr b="1" i="0" lang="es-419" sz="1000" u="none" cap="none" strike="noStrike">
                <a:solidFill>
                  <a:srgbClr val="E0C233"/>
                </a:solidFill>
                <a:latin typeface="Quattrocento Sans"/>
                <a:ea typeface="Quattrocento Sans"/>
                <a:cs typeface="Quattrocento Sans"/>
                <a:sym typeface="Quattrocento Sans"/>
              </a:rPr>
              <a:t>Pricing: revisar el -1.6% de precio regular (drift sin campaña) y reglas de piso de margen en KVIs.</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31"/>
          <p:cNvSpPr/>
          <p:nvPr/>
        </p:nvSpPr>
        <p:spPr>
          <a:xfrm>
            <a:off x="0" y="0"/>
            <a:ext cx="9144000" cy="1188720"/>
          </a:xfrm>
          <a:prstGeom prst="rect">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1"/>
          <p:cNvSpPr/>
          <p:nvPr/>
        </p:nvSpPr>
        <p:spPr>
          <a:xfrm>
            <a:off x="502920" y="137160"/>
            <a:ext cx="7772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s-419" sz="2800" u="none" cap="none" strike="noStrike">
                <a:solidFill>
                  <a:srgbClr val="FFFFFF"/>
                </a:solidFill>
                <a:latin typeface="Cambria"/>
                <a:ea typeface="Cambria"/>
                <a:cs typeface="Cambria"/>
                <a:sym typeface="Cambria"/>
              </a:rPr>
              <a:t>Precio Competencia e Índices</a:t>
            </a:r>
            <a:endParaRPr b="0" i="0" sz="2800" u="none" cap="none" strike="noStrike">
              <a:solidFill>
                <a:schemeClr val="dk1"/>
              </a:solidFill>
              <a:latin typeface="Calibri"/>
              <a:ea typeface="Calibri"/>
              <a:cs typeface="Calibri"/>
              <a:sym typeface="Calibri"/>
            </a:endParaRPr>
          </a:p>
        </p:txBody>
      </p:sp>
      <p:sp>
        <p:nvSpPr>
          <p:cNvPr id="202" name="Google Shape;202;p31"/>
          <p:cNvSpPr/>
          <p:nvPr/>
        </p:nvSpPr>
        <p:spPr>
          <a:xfrm>
            <a:off x="502920" y="7498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B291"/>
              </a:buClr>
              <a:buSzPts val="1000"/>
              <a:buFont typeface="Calibri"/>
              <a:buNone/>
            </a:pPr>
            <a:r>
              <a:rPr b="0" i="0" lang="es-419" sz="1000" u="none" cap="none" strike="noStrike">
                <a:solidFill>
                  <a:srgbClr val="59B291"/>
                </a:solidFill>
                <a:latin typeface="Calibri"/>
                <a:ea typeface="Calibri"/>
                <a:cs typeface="Calibri"/>
                <a:sym typeface="Calibri"/>
              </a:rPr>
              <a:t>Precio Final (DCTO / Bundle)  ·  Guía de uso por índice</a:t>
            </a:r>
            <a:endParaRPr b="0" i="0" sz="1000" u="none" cap="none" strike="noStrike">
              <a:solidFill>
                <a:schemeClr val="dk1"/>
              </a:solidFill>
              <a:latin typeface="Calibri"/>
              <a:ea typeface="Calibri"/>
              <a:cs typeface="Calibri"/>
              <a:sym typeface="Calibri"/>
            </a:endParaRPr>
          </a:p>
        </p:txBody>
      </p:sp>
      <p:sp>
        <p:nvSpPr>
          <p:cNvPr id="203" name="Google Shape;203;p31"/>
          <p:cNvSpPr/>
          <p:nvPr/>
        </p:nvSpPr>
        <p:spPr>
          <a:xfrm>
            <a:off x="274320" y="1298448"/>
            <a:ext cx="8595360" cy="1664208"/>
          </a:xfrm>
          <a:prstGeom prst="roundRect">
            <a:avLst>
              <a:gd fmla="val 4396"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1"/>
          <p:cNvSpPr/>
          <p:nvPr/>
        </p:nvSpPr>
        <p:spPr>
          <a:xfrm>
            <a:off x="274320" y="1298448"/>
            <a:ext cx="1828800" cy="1664208"/>
          </a:xfrm>
          <a:prstGeom prst="roundRect">
            <a:avLst>
              <a:gd fmla="val 4396" name="adj"/>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1"/>
          <p:cNvSpPr/>
          <p:nvPr/>
        </p:nvSpPr>
        <p:spPr>
          <a:xfrm>
            <a:off x="274320" y="1298448"/>
            <a:ext cx="1828800" cy="16642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mbria"/>
              <a:buNone/>
            </a:pPr>
            <a:r>
              <a:rPr b="1" i="0" lang="es-419" sz="1300" u="none" cap="none" strike="noStrike">
                <a:solidFill>
                  <a:srgbClr val="FFFFFF"/>
                </a:solidFill>
                <a:latin typeface="Cambria"/>
                <a:ea typeface="Cambria"/>
                <a:cs typeface="Cambria"/>
                <a:sym typeface="Cambria"/>
              </a:rPr>
              <a:t>PRECIO</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mbria"/>
              <a:buNone/>
            </a:pPr>
            <a:r>
              <a:rPr b="1" i="0" lang="es-419" sz="1300" u="none" cap="none" strike="noStrike">
                <a:solidFill>
                  <a:srgbClr val="FFFFFF"/>
                </a:solidFill>
                <a:latin typeface="Cambria"/>
                <a:ea typeface="Cambria"/>
                <a:cs typeface="Cambria"/>
                <a:sym typeface="Cambria"/>
              </a:rPr>
              <a:t>COMP</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mbria"/>
              <a:buNone/>
            </a:pPr>
            <a:r>
              <a:rPr b="1" i="0" lang="es-419" sz="1300" u="none" cap="none" strike="noStrike">
                <a:solidFill>
                  <a:srgbClr val="FFFFFF"/>
                </a:solidFill>
                <a:latin typeface="Cambria"/>
                <a:ea typeface="Cambria"/>
                <a:cs typeface="Cambria"/>
                <a:sym typeface="Cambria"/>
              </a:rPr>
              <a:t>DCTO</a:t>
            </a:r>
            <a:endParaRPr b="0" i="0" sz="1300" u="none" cap="none" strike="noStrike">
              <a:solidFill>
                <a:schemeClr val="dk1"/>
              </a:solidFill>
              <a:latin typeface="Calibri"/>
              <a:ea typeface="Calibri"/>
              <a:cs typeface="Calibri"/>
              <a:sym typeface="Calibri"/>
            </a:endParaRPr>
          </a:p>
        </p:txBody>
      </p:sp>
      <p:sp>
        <p:nvSpPr>
          <p:cNvPr id="206" name="Google Shape;206;p31"/>
          <p:cNvSpPr/>
          <p:nvPr/>
        </p:nvSpPr>
        <p:spPr>
          <a:xfrm>
            <a:off x="2212848" y="1389888"/>
            <a:ext cx="4005072" cy="14813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950"/>
              <a:buFont typeface="Calibri"/>
              <a:buNone/>
            </a:pPr>
            <a:r>
              <a:rPr b="0" i="0" lang="es-419" sz="950" u="none" cap="none" strike="noStrike">
                <a:solidFill>
                  <a:srgbClr val="1A3630"/>
                </a:solidFill>
                <a:latin typeface="Calibri"/>
                <a:ea typeface="Calibri"/>
                <a:cs typeface="Calibri"/>
                <a:sym typeface="Calibri"/>
              </a:rPr>
              <a:t>Precio promedio de competencia de los últimos 7 días, tomando el valor </a:t>
            </a:r>
            <a:r>
              <a:rPr b="1" i="0" lang="es-419" sz="950" u="none" cap="none" strike="noStrike">
                <a:solidFill>
                  <a:srgbClr val="1A3630"/>
                </a:solidFill>
                <a:latin typeface="Calibri"/>
                <a:ea typeface="Calibri"/>
                <a:cs typeface="Calibri"/>
                <a:sym typeface="Calibri"/>
              </a:rPr>
              <a:t>MÁS BAJO</a:t>
            </a:r>
            <a:r>
              <a:rPr b="0" i="0" lang="es-419" sz="950" u="none" cap="none" strike="noStrike">
                <a:solidFill>
                  <a:srgbClr val="1A3630"/>
                </a:solidFill>
                <a:latin typeface="Calibri"/>
                <a:ea typeface="Calibri"/>
                <a:cs typeface="Calibri"/>
                <a:sym typeface="Calibri"/>
              </a:rPr>
              <a:t> entre: (a) el precio con descuento directo —o precio de lista si el descuento no es válido— y (b) el precio unitario ajustado por bundle (ej. 3x2). Refleja el precio real al que el cliente puede comprar hoy en Walmart / Chedraui. Se usa para decisiones tácticas y monitoreo diario de competitividad.</a:t>
            </a:r>
            <a:endParaRPr b="0" i="0" sz="950" u="none" cap="none" strike="noStrike">
              <a:solidFill>
                <a:schemeClr val="dk1"/>
              </a:solidFill>
              <a:latin typeface="Calibri"/>
              <a:ea typeface="Calibri"/>
              <a:cs typeface="Calibri"/>
              <a:sym typeface="Calibri"/>
            </a:endParaRPr>
          </a:p>
        </p:txBody>
      </p:sp>
      <p:sp>
        <p:nvSpPr>
          <p:cNvPr id="207" name="Google Shape;207;p31"/>
          <p:cNvSpPr/>
          <p:nvPr/>
        </p:nvSpPr>
        <p:spPr>
          <a:xfrm>
            <a:off x="6327648" y="1389888"/>
            <a:ext cx="2450592" cy="1481328"/>
          </a:xfrm>
          <a:prstGeom prst="roundRect">
            <a:avLst>
              <a:gd fmla="val 4321" name="adj"/>
            </a:avLst>
          </a:prstGeom>
          <a:solidFill>
            <a:srgbClr val="E8F4EF"/>
          </a:solidFill>
          <a:ln cap="flat" cmpd="sng" w="12700">
            <a:solidFill>
              <a:srgbClr val="C5DD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1"/>
          <p:cNvSpPr/>
          <p:nvPr/>
        </p:nvSpPr>
        <p:spPr>
          <a:xfrm>
            <a:off x="6419088" y="1463040"/>
            <a:ext cx="2267712"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545"/>
              </a:buClr>
              <a:buSzPts val="850"/>
              <a:buFont typeface="Calibri"/>
              <a:buNone/>
            </a:pPr>
            <a:r>
              <a:rPr b="1" i="0" lang="es-419" sz="850" u="none" cap="none" strike="noStrike">
                <a:solidFill>
                  <a:srgbClr val="2B5545"/>
                </a:solidFill>
                <a:latin typeface="Calibri"/>
                <a:ea typeface="Calibri"/>
                <a:cs typeface="Calibri"/>
                <a:sym typeface="Calibri"/>
              </a:rPr>
              <a:t>MXN · promedio 7 días</a:t>
            </a:r>
            <a:endParaRPr b="0" i="0" sz="850" u="none" cap="none" strike="noStrike">
              <a:solidFill>
                <a:schemeClr val="dk1"/>
              </a:solidFill>
              <a:latin typeface="Calibri"/>
              <a:ea typeface="Calibri"/>
              <a:cs typeface="Calibri"/>
              <a:sym typeface="Calibri"/>
            </a:endParaRPr>
          </a:p>
        </p:txBody>
      </p:sp>
      <p:sp>
        <p:nvSpPr>
          <p:cNvPr id="209" name="Google Shape;209;p31"/>
          <p:cNvSpPr/>
          <p:nvPr/>
        </p:nvSpPr>
        <p:spPr>
          <a:xfrm>
            <a:off x="6419088" y="1773936"/>
            <a:ext cx="2267712" cy="219456"/>
          </a:xfrm>
          <a:prstGeom prst="roundRect">
            <a:avLst>
              <a:gd fmla="val 20833" name="adj"/>
            </a:avLst>
          </a:prstGeom>
          <a:solidFill>
            <a:srgbClr val="59B291">
              <a:alpha val="18039"/>
            </a:srgbClr>
          </a:solidFill>
          <a:ln cap="flat" cmpd="sng" w="12700">
            <a:solidFill>
              <a:srgbClr val="59B29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31"/>
          <p:cNvSpPr/>
          <p:nvPr/>
        </p:nvSpPr>
        <p:spPr>
          <a:xfrm>
            <a:off x="6419088" y="1773936"/>
            <a:ext cx="22677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Walmart</a:t>
            </a:r>
            <a:endParaRPr b="0" i="0" sz="850" u="none" cap="none" strike="noStrike">
              <a:solidFill>
                <a:schemeClr val="dk1"/>
              </a:solidFill>
              <a:latin typeface="Calibri"/>
              <a:ea typeface="Calibri"/>
              <a:cs typeface="Calibri"/>
              <a:sym typeface="Calibri"/>
            </a:endParaRPr>
          </a:p>
        </p:txBody>
      </p:sp>
      <p:sp>
        <p:nvSpPr>
          <p:cNvPr id="211" name="Google Shape;211;p31"/>
          <p:cNvSpPr/>
          <p:nvPr/>
        </p:nvSpPr>
        <p:spPr>
          <a:xfrm>
            <a:off x="6419088" y="2029968"/>
            <a:ext cx="2267712" cy="219456"/>
          </a:xfrm>
          <a:prstGeom prst="roundRect">
            <a:avLst>
              <a:gd fmla="val 20833" name="adj"/>
            </a:avLst>
          </a:prstGeom>
          <a:solidFill>
            <a:srgbClr val="59B291">
              <a:alpha val="18039"/>
            </a:srgbClr>
          </a:solidFill>
          <a:ln cap="flat" cmpd="sng" w="12700">
            <a:solidFill>
              <a:srgbClr val="59B29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1"/>
          <p:cNvSpPr/>
          <p:nvPr/>
        </p:nvSpPr>
        <p:spPr>
          <a:xfrm>
            <a:off x="6419088" y="2029968"/>
            <a:ext cx="22677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Walmart Express</a:t>
            </a:r>
            <a:endParaRPr b="0" i="0" sz="850" u="none" cap="none" strike="noStrike">
              <a:solidFill>
                <a:schemeClr val="dk1"/>
              </a:solidFill>
              <a:latin typeface="Calibri"/>
              <a:ea typeface="Calibri"/>
              <a:cs typeface="Calibri"/>
              <a:sym typeface="Calibri"/>
            </a:endParaRPr>
          </a:p>
        </p:txBody>
      </p:sp>
      <p:sp>
        <p:nvSpPr>
          <p:cNvPr id="213" name="Google Shape;213;p31"/>
          <p:cNvSpPr/>
          <p:nvPr/>
        </p:nvSpPr>
        <p:spPr>
          <a:xfrm>
            <a:off x="6419088" y="2286000"/>
            <a:ext cx="2267712" cy="219456"/>
          </a:xfrm>
          <a:prstGeom prst="roundRect">
            <a:avLst>
              <a:gd fmla="val 20833" name="adj"/>
            </a:avLst>
          </a:prstGeom>
          <a:solidFill>
            <a:srgbClr val="59B291">
              <a:alpha val="18039"/>
            </a:srgbClr>
          </a:solidFill>
          <a:ln cap="flat" cmpd="sng" w="12700">
            <a:solidFill>
              <a:srgbClr val="59B29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1"/>
          <p:cNvSpPr/>
          <p:nvPr/>
        </p:nvSpPr>
        <p:spPr>
          <a:xfrm>
            <a:off x="6419088" y="2286000"/>
            <a:ext cx="22677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Chedraui</a:t>
            </a:r>
            <a:endParaRPr b="0" i="0" sz="850" u="none" cap="none" strike="noStrike">
              <a:solidFill>
                <a:schemeClr val="dk1"/>
              </a:solidFill>
              <a:latin typeface="Calibri"/>
              <a:ea typeface="Calibri"/>
              <a:cs typeface="Calibri"/>
              <a:sym typeface="Calibri"/>
            </a:endParaRPr>
          </a:p>
        </p:txBody>
      </p:sp>
      <p:sp>
        <p:nvSpPr>
          <p:cNvPr id="215" name="Google Shape;215;p31"/>
          <p:cNvSpPr/>
          <p:nvPr/>
        </p:nvSpPr>
        <p:spPr>
          <a:xfrm>
            <a:off x="6419088" y="2542032"/>
            <a:ext cx="2267712" cy="219456"/>
          </a:xfrm>
          <a:prstGeom prst="roundRect">
            <a:avLst>
              <a:gd fmla="val 20833" name="adj"/>
            </a:avLst>
          </a:prstGeom>
          <a:solidFill>
            <a:srgbClr val="59B291">
              <a:alpha val="18039"/>
            </a:srgbClr>
          </a:solidFill>
          <a:ln cap="flat" cmpd="sng" w="12700">
            <a:solidFill>
              <a:srgbClr val="59B29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1"/>
          <p:cNvSpPr/>
          <p:nvPr/>
        </p:nvSpPr>
        <p:spPr>
          <a:xfrm>
            <a:off x="6419088" y="2542032"/>
            <a:ext cx="226771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Chedraui Selecto</a:t>
            </a:r>
            <a:endParaRPr b="0" i="0" sz="850" u="none" cap="none" strike="noStrike">
              <a:solidFill>
                <a:schemeClr val="dk1"/>
              </a:solidFill>
              <a:latin typeface="Calibri"/>
              <a:ea typeface="Calibri"/>
              <a:cs typeface="Calibri"/>
              <a:sym typeface="Calibri"/>
            </a:endParaRPr>
          </a:p>
        </p:txBody>
      </p:sp>
      <p:sp>
        <p:nvSpPr>
          <p:cNvPr id="217" name="Google Shape;217;p31"/>
          <p:cNvSpPr/>
          <p:nvPr/>
        </p:nvSpPr>
        <p:spPr>
          <a:xfrm>
            <a:off x="274320" y="3090672"/>
            <a:ext cx="8595360" cy="310896"/>
          </a:xfrm>
          <a:prstGeom prst="rect">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31"/>
          <p:cNvSpPr/>
          <p:nvPr/>
        </p:nvSpPr>
        <p:spPr>
          <a:xfrm>
            <a:off x="274320" y="3090672"/>
            <a:ext cx="85953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C233"/>
              </a:buClr>
              <a:buSzPts val="900"/>
              <a:buFont typeface="Calibri"/>
              <a:buNone/>
            </a:pPr>
            <a:r>
              <a:rPr b="1" i="0" lang="es-419" sz="900" u="none" cap="none" strike="noStrike">
                <a:solidFill>
                  <a:srgbClr val="E0C233"/>
                </a:solidFill>
                <a:latin typeface="Calibri"/>
                <a:ea typeface="Calibri"/>
                <a:cs typeface="Calibri"/>
                <a:sym typeface="Calibri"/>
              </a:rPr>
              <a:t>GUÍA: ¿CUÁNDO USAR CADA ÍNDICE?</a:t>
            </a:r>
            <a:endParaRPr b="0" i="0" sz="900" u="none" cap="none" strike="noStrike">
              <a:solidFill>
                <a:schemeClr val="dk1"/>
              </a:solidFill>
              <a:latin typeface="Calibri"/>
              <a:ea typeface="Calibri"/>
              <a:cs typeface="Calibri"/>
              <a:sym typeface="Calibri"/>
            </a:endParaRPr>
          </a:p>
        </p:txBody>
      </p:sp>
      <p:sp>
        <p:nvSpPr>
          <p:cNvPr id="219" name="Google Shape;219;p31"/>
          <p:cNvSpPr/>
          <p:nvPr/>
        </p:nvSpPr>
        <p:spPr>
          <a:xfrm>
            <a:off x="274320" y="3429000"/>
            <a:ext cx="1993392" cy="274320"/>
          </a:xfrm>
          <a:prstGeom prst="rect">
            <a:avLst/>
          </a:prstGeom>
          <a:solidFill>
            <a:srgbClr val="DDE8E4"/>
          </a:solidFill>
          <a:ln cap="flat" cmpd="sng" w="12700">
            <a:solidFill>
              <a:srgbClr val="C5DD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1"/>
          <p:cNvSpPr/>
          <p:nvPr/>
        </p:nvSpPr>
        <p:spPr>
          <a:xfrm>
            <a:off x="347472" y="3429000"/>
            <a:ext cx="1874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00"/>
              <a:buFont typeface="Calibri"/>
              <a:buNone/>
            </a:pPr>
            <a:r>
              <a:rPr b="1" i="0" lang="es-419" sz="800" u="none" cap="none" strike="noStrike">
                <a:solidFill>
                  <a:srgbClr val="1A3630"/>
                </a:solidFill>
                <a:latin typeface="Calibri"/>
                <a:ea typeface="Calibri"/>
                <a:cs typeface="Calibri"/>
                <a:sym typeface="Calibri"/>
              </a:rPr>
              <a:t>COLUMNA</a:t>
            </a:r>
            <a:endParaRPr b="0" i="0" sz="800" u="none" cap="none" strike="noStrike">
              <a:solidFill>
                <a:schemeClr val="dk1"/>
              </a:solidFill>
              <a:latin typeface="Calibri"/>
              <a:ea typeface="Calibri"/>
              <a:cs typeface="Calibri"/>
              <a:sym typeface="Calibri"/>
            </a:endParaRPr>
          </a:p>
        </p:txBody>
      </p:sp>
      <p:sp>
        <p:nvSpPr>
          <p:cNvPr id="221" name="Google Shape;221;p31"/>
          <p:cNvSpPr/>
          <p:nvPr/>
        </p:nvSpPr>
        <p:spPr>
          <a:xfrm>
            <a:off x="2331720" y="3429000"/>
            <a:ext cx="2862072" cy="274320"/>
          </a:xfrm>
          <a:prstGeom prst="rect">
            <a:avLst/>
          </a:prstGeom>
          <a:solidFill>
            <a:srgbClr val="DDE8E4"/>
          </a:solidFill>
          <a:ln cap="flat" cmpd="sng" w="12700">
            <a:solidFill>
              <a:srgbClr val="C5DD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31"/>
          <p:cNvSpPr/>
          <p:nvPr/>
        </p:nvSpPr>
        <p:spPr>
          <a:xfrm>
            <a:off x="2404872" y="342900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00"/>
              <a:buFont typeface="Calibri"/>
              <a:buNone/>
            </a:pPr>
            <a:r>
              <a:rPr b="1" i="0" lang="es-419" sz="800" u="none" cap="none" strike="noStrike">
                <a:solidFill>
                  <a:srgbClr val="1A3630"/>
                </a:solidFill>
                <a:latin typeface="Calibri"/>
                <a:ea typeface="Calibri"/>
                <a:cs typeface="Calibri"/>
                <a:sym typeface="Calibri"/>
              </a:rPr>
              <a:t>DESCRIPCIÓN</a:t>
            </a:r>
            <a:endParaRPr b="0" i="0" sz="800" u="none" cap="none" strike="noStrike">
              <a:solidFill>
                <a:schemeClr val="dk1"/>
              </a:solidFill>
              <a:latin typeface="Calibri"/>
              <a:ea typeface="Calibri"/>
              <a:cs typeface="Calibri"/>
              <a:sym typeface="Calibri"/>
            </a:endParaRPr>
          </a:p>
        </p:txBody>
      </p:sp>
      <p:sp>
        <p:nvSpPr>
          <p:cNvPr id="223" name="Google Shape;223;p31"/>
          <p:cNvSpPr/>
          <p:nvPr/>
        </p:nvSpPr>
        <p:spPr>
          <a:xfrm>
            <a:off x="5257800" y="3429000"/>
            <a:ext cx="2084832" cy="274320"/>
          </a:xfrm>
          <a:prstGeom prst="rect">
            <a:avLst/>
          </a:prstGeom>
          <a:solidFill>
            <a:srgbClr val="DDE8E4"/>
          </a:solidFill>
          <a:ln cap="flat" cmpd="sng" w="12700">
            <a:solidFill>
              <a:srgbClr val="C5DD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31"/>
          <p:cNvSpPr/>
          <p:nvPr/>
        </p:nvSpPr>
        <p:spPr>
          <a:xfrm>
            <a:off x="5330952" y="3429000"/>
            <a:ext cx="1965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00"/>
              <a:buFont typeface="Calibri"/>
              <a:buNone/>
            </a:pPr>
            <a:r>
              <a:rPr b="1" i="0" lang="es-419" sz="800" u="none" cap="none" strike="noStrike">
                <a:solidFill>
                  <a:srgbClr val="1A3630"/>
                </a:solidFill>
                <a:latin typeface="Calibri"/>
                <a:ea typeface="Calibri"/>
                <a:cs typeface="Calibri"/>
                <a:sym typeface="Calibri"/>
              </a:rPr>
              <a:t>USO</a:t>
            </a:r>
            <a:endParaRPr b="0" i="0" sz="800" u="none" cap="none" strike="noStrike">
              <a:solidFill>
                <a:schemeClr val="dk1"/>
              </a:solidFill>
              <a:latin typeface="Calibri"/>
              <a:ea typeface="Calibri"/>
              <a:cs typeface="Calibri"/>
              <a:sym typeface="Calibri"/>
            </a:endParaRPr>
          </a:p>
        </p:txBody>
      </p:sp>
      <p:sp>
        <p:nvSpPr>
          <p:cNvPr id="225" name="Google Shape;225;p31"/>
          <p:cNvSpPr/>
          <p:nvPr/>
        </p:nvSpPr>
        <p:spPr>
          <a:xfrm>
            <a:off x="7406640" y="3429000"/>
            <a:ext cx="1453896" cy="274320"/>
          </a:xfrm>
          <a:prstGeom prst="rect">
            <a:avLst/>
          </a:prstGeom>
          <a:solidFill>
            <a:srgbClr val="DDE8E4"/>
          </a:solidFill>
          <a:ln cap="flat" cmpd="sng" w="12700">
            <a:solidFill>
              <a:srgbClr val="C5DD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1"/>
          <p:cNvSpPr/>
          <p:nvPr/>
        </p:nvSpPr>
        <p:spPr>
          <a:xfrm>
            <a:off x="7479792" y="3429000"/>
            <a:ext cx="133502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00"/>
              <a:buFont typeface="Calibri"/>
              <a:buNone/>
            </a:pPr>
            <a:r>
              <a:rPr b="1" i="0" lang="es-419" sz="800" u="none" cap="none" strike="noStrike">
                <a:solidFill>
                  <a:srgbClr val="1A3630"/>
                </a:solidFill>
                <a:latin typeface="Calibri"/>
                <a:ea typeface="Calibri"/>
                <a:cs typeface="Calibri"/>
                <a:sym typeface="Calibri"/>
              </a:rPr>
              <a:t>NOTAS</a:t>
            </a:r>
            <a:endParaRPr b="0" i="0" sz="800" u="none" cap="none" strike="noStrike">
              <a:solidFill>
                <a:schemeClr val="dk1"/>
              </a:solidFill>
              <a:latin typeface="Calibri"/>
              <a:ea typeface="Calibri"/>
              <a:cs typeface="Calibri"/>
              <a:sym typeface="Calibri"/>
            </a:endParaRPr>
          </a:p>
        </p:txBody>
      </p:sp>
      <p:sp>
        <p:nvSpPr>
          <p:cNvPr id="227" name="Google Shape;227;p31"/>
          <p:cNvSpPr/>
          <p:nvPr/>
        </p:nvSpPr>
        <p:spPr>
          <a:xfrm>
            <a:off x="274320" y="3730752"/>
            <a:ext cx="8595360" cy="630936"/>
          </a:xfrm>
          <a:prstGeom prst="rect">
            <a:avLst/>
          </a:prstGeom>
          <a:solidFill>
            <a:srgbClr val="FFFFFF"/>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31"/>
          <p:cNvSpPr/>
          <p:nvPr/>
        </p:nvSpPr>
        <p:spPr>
          <a:xfrm>
            <a:off x="347472" y="3867912"/>
            <a:ext cx="1856232" cy="329184"/>
          </a:xfrm>
          <a:prstGeom prst="roundRect">
            <a:avLst>
              <a:gd fmla="val 16667" name="adj"/>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31"/>
          <p:cNvSpPr/>
          <p:nvPr/>
        </p:nvSpPr>
        <p:spPr>
          <a:xfrm>
            <a:off x="347472" y="3867912"/>
            <a:ext cx="185623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INDEX PRECIO DCTO</a:t>
            </a:r>
            <a:endParaRPr b="0" i="0" sz="800" u="none" cap="none" strike="noStrike">
              <a:solidFill>
                <a:schemeClr val="dk1"/>
              </a:solidFill>
              <a:latin typeface="Calibri"/>
              <a:ea typeface="Calibri"/>
              <a:cs typeface="Calibri"/>
              <a:sym typeface="Calibri"/>
            </a:endParaRPr>
          </a:p>
        </p:txBody>
      </p:sp>
      <p:sp>
        <p:nvSpPr>
          <p:cNvPr id="230" name="Google Shape;230;p31"/>
          <p:cNvSpPr/>
          <p:nvPr/>
        </p:nvSpPr>
        <p:spPr>
          <a:xfrm>
            <a:off x="2404872" y="3776472"/>
            <a:ext cx="276148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Monitoreo táctico y operativo diario. Refleja lo que el cliente ve en la app del competidor hoy, incluyendo promociones.</a:t>
            </a:r>
            <a:endParaRPr b="0" i="0" sz="850" u="none" cap="none" strike="noStrike">
              <a:solidFill>
                <a:schemeClr val="dk1"/>
              </a:solidFill>
              <a:latin typeface="Calibri"/>
              <a:ea typeface="Calibri"/>
              <a:cs typeface="Calibri"/>
              <a:sym typeface="Calibri"/>
            </a:endParaRPr>
          </a:p>
        </p:txBody>
      </p:sp>
      <p:sp>
        <p:nvSpPr>
          <p:cNvPr id="231" name="Google Shape;231;p31"/>
          <p:cNvSpPr/>
          <p:nvPr/>
        </p:nvSpPr>
        <p:spPr>
          <a:xfrm>
            <a:off x="5330952" y="3776472"/>
            <a:ext cx="1984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Alertas diarias, reacciones rápidas de precio</a:t>
            </a:r>
            <a:endParaRPr b="0" i="0" sz="850" u="none" cap="none" strike="noStrike">
              <a:solidFill>
                <a:schemeClr val="dk1"/>
              </a:solidFill>
              <a:latin typeface="Calibri"/>
              <a:ea typeface="Calibri"/>
              <a:cs typeface="Calibri"/>
              <a:sym typeface="Calibri"/>
            </a:endParaRPr>
          </a:p>
        </p:txBody>
      </p:sp>
      <p:sp>
        <p:nvSpPr>
          <p:cNvPr id="232" name="Google Shape;232;p31"/>
          <p:cNvSpPr/>
          <p:nvPr/>
        </p:nvSpPr>
        <p:spPr>
          <a:xfrm>
            <a:off x="7461504" y="3776472"/>
            <a:ext cx="138988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750"/>
              <a:buFont typeface="Calibri"/>
              <a:buNone/>
            </a:pPr>
            <a:r>
              <a:rPr b="0" i="0" lang="es-419" sz="750" u="none" cap="none" strike="noStrike">
                <a:solidFill>
                  <a:srgbClr val="6B9989"/>
                </a:solidFill>
                <a:latin typeface="Calibri"/>
                <a:ea typeface="Calibri"/>
                <a:cs typeface="Calibri"/>
                <a:sym typeface="Calibri"/>
              </a:rPr>
              <a:t>Sensible a promos temporales; puede variar día a día</a:t>
            </a:r>
            <a:endParaRPr b="0" i="0" sz="750" u="none" cap="none" strike="noStrike">
              <a:solidFill>
                <a:schemeClr val="dk1"/>
              </a:solidFill>
              <a:latin typeface="Calibri"/>
              <a:ea typeface="Calibri"/>
              <a:cs typeface="Calibri"/>
              <a:sym typeface="Calibri"/>
            </a:endParaRPr>
          </a:p>
        </p:txBody>
      </p:sp>
      <p:sp>
        <p:nvSpPr>
          <p:cNvPr id="233" name="Google Shape;233;p31"/>
          <p:cNvSpPr/>
          <p:nvPr/>
        </p:nvSpPr>
        <p:spPr>
          <a:xfrm>
            <a:off x="274320" y="4389120"/>
            <a:ext cx="8595360" cy="630936"/>
          </a:xfrm>
          <a:prstGeom prst="rect">
            <a:avLst/>
          </a:prstGeom>
          <a:solidFill>
            <a:srgbClr val="F4F9F7"/>
          </a:solidFill>
          <a:ln cap="flat" cmpd="sng" w="12700">
            <a:solidFill>
              <a:srgbClr val="E5EDE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1"/>
          <p:cNvSpPr/>
          <p:nvPr/>
        </p:nvSpPr>
        <p:spPr>
          <a:xfrm>
            <a:off x="347472" y="4526280"/>
            <a:ext cx="1856232" cy="329184"/>
          </a:xfrm>
          <a:prstGeom prst="roundRect">
            <a:avLst>
              <a:gd fmla="val 16667" name="adj"/>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1"/>
          <p:cNvSpPr/>
          <p:nvPr/>
        </p:nvSpPr>
        <p:spPr>
          <a:xfrm>
            <a:off x="347472" y="4526280"/>
            <a:ext cx="1856232"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INDEX PRECIO LINEA</a:t>
            </a:r>
            <a:endParaRPr b="0" i="0" sz="800" u="none" cap="none" strike="noStrike">
              <a:solidFill>
                <a:schemeClr val="dk1"/>
              </a:solidFill>
              <a:latin typeface="Calibri"/>
              <a:ea typeface="Calibri"/>
              <a:cs typeface="Calibri"/>
              <a:sym typeface="Calibri"/>
            </a:endParaRPr>
          </a:p>
        </p:txBody>
      </p:sp>
      <p:sp>
        <p:nvSpPr>
          <p:cNvPr id="236" name="Google Shape;236;p31"/>
          <p:cNvSpPr/>
          <p:nvPr/>
        </p:nvSpPr>
        <p:spPr>
          <a:xfrm>
            <a:off x="2404872" y="4434840"/>
            <a:ext cx="276148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Decisiones estratégicas de mediano plazo y negociación con proveedores. Más estable; no se distorsiona por bundles temporales.</a:t>
            </a:r>
            <a:endParaRPr b="0" i="0" sz="850" u="none" cap="none" strike="noStrike">
              <a:solidFill>
                <a:schemeClr val="dk1"/>
              </a:solidFill>
              <a:latin typeface="Calibri"/>
              <a:ea typeface="Calibri"/>
              <a:cs typeface="Calibri"/>
              <a:sym typeface="Calibri"/>
            </a:endParaRPr>
          </a:p>
        </p:txBody>
      </p:sp>
      <p:sp>
        <p:nvSpPr>
          <p:cNvPr id="237" name="Google Shape;237;p31"/>
          <p:cNvSpPr/>
          <p:nvPr/>
        </p:nvSpPr>
        <p:spPr>
          <a:xfrm>
            <a:off x="5330952" y="4434840"/>
            <a:ext cx="198424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850"/>
              <a:buFont typeface="Calibri"/>
              <a:buNone/>
            </a:pPr>
            <a:r>
              <a:rPr b="0" i="0" lang="es-419" sz="850" u="none" cap="none" strike="noStrike">
                <a:solidFill>
                  <a:srgbClr val="1A3630"/>
                </a:solidFill>
                <a:latin typeface="Calibri"/>
                <a:ea typeface="Calibri"/>
                <a:cs typeface="Calibri"/>
                <a:sym typeface="Calibri"/>
              </a:rPr>
              <a:t>Revisiones semanales, presentaciones a comercial, análisis de posicionamiento</a:t>
            </a:r>
            <a:endParaRPr b="0" i="0" sz="850" u="none" cap="none" strike="noStrike">
              <a:solidFill>
                <a:schemeClr val="dk1"/>
              </a:solidFill>
              <a:latin typeface="Calibri"/>
              <a:ea typeface="Calibri"/>
              <a:cs typeface="Calibri"/>
              <a:sym typeface="Calibri"/>
            </a:endParaRPr>
          </a:p>
        </p:txBody>
      </p:sp>
      <p:sp>
        <p:nvSpPr>
          <p:cNvPr id="238" name="Google Shape;238;p31"/>
          <p:cNvSpPr/>
          <p:nvPr/>
        </p:nvSpPr>
        <p:spPr>
          <a:xfrm>
            <a:off x="7461504" y="4434840"/>
            <a:ext cx="1389888"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750"/>
              <a:buFont typeface="Calibri"/>
              <a:buNone/>
            </a:pPr>
            <a:r>
              <a:rPr b="0" i="0" lang="es-419" sz="750" u="none" cap="none" strike="noStrike">
                <a:solidFill>
                  <a:srgbClr val="6B9989"/>
                </a:solidFill>
                <a:latin typeface="Calibri"/>
                <a:ea typeface="Calibri"/>
                <a:cs typeface="Calibri"/>
                <a:sym typeface="Calibri"/>
              </a:rPr>
              <a:t>Base más limpia para comparar posición competitiva real</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32"/>
          <p:cNvSpPr/>
          <p:nvPr/>
        </p:nvSpPr>
        <p:spPr>
          <a:xfrm>
            <a:off x="0" y="0"/>
            <a:ext cx="9144000" cy="1188720"/>
          </a:xfrm>
          <a:prstGeom prst="rect">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2"/>
          <p:cNvSpPr/>
          <p:nvPr/>
        </p:nvSpPr>
        <p:spPr>
          <a:xfrm>
            <a:off x="502920" y="118872"/>
            <a:ext cx="822960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i="0" lang="es-419" sz="2600" u="none" cap="none" strike="noStrike">
                <a:solidFill>
                  <a:srgbClr val="FFFFFF"/>
                </a:solidFill>
                <a:latin typeface="Cambria"/>
                <a:ea typeface="Cambria"/>
                <a:cs typeface="Cambria"/>
                <a:sym typeface="Cambria"/>
              </a:rPr>
              <a:t>Del precio más bajo al precio inteligente</a:t>
            </a:r>
            <a:endParaRPr b="0" i="0" sz="2600" u="none" cap="none" strike="noStrike">
              <a:solidFill>
                <a:schemeClr val="dk1"/>
              </a:solidFill>
              <a:latin typeface="Calibri"/>
              <a:ea typeface="Calibri"/>
              <a:cs typeface="Calibri"/>
              <a:sym typeface="Calibri"/>
            </a:endParaRPr>
          </a:p>
        </p:txBody>
      </p:sp>
      <p:sp>
        <p:nvSpPr>
          <p:cNvPr id="246" name="Google Shape;246;p32"/>
          <p:cNvSpPr/>
          <p:nvPr/>
        </p:nvSpPr>
        <p:spPr>
          <a:xfrm>
            <a:off x="502920" y="749808"/>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B291"/>
              </a:buClr>
              <a:buSzPts val="1000"/>
              <a:buFont typeface="Calibri"/>
              <a:buNone/>
            </a:pPr>
            <a:r>
              <a:rPr b="0" i="0" lang="es-419" sz="1000" u="none" cap="none" strike="noStrike">
                <a:solidFill>
                  <a:srgbClr val="59B291"/>
                </a:solidFill>
                <a:latin typeface="Calibri"/>
                <a:ea typeface="Calibri"/>
                <a:cs typeface="Calibri"/>
                <a:sym typeface="Calibri"/>
              </a:rPr>
              <a:t>Equilibrar competitividad y captura de margen — oportunidad identificada en dashboard</a:t>
            </a:r>
            <a:endParaRPr b="0" i="0" sz="1000" u="none" cap="none" strike="noStrike">
              <a:solidFill>
                <a:schemeClr val="dk1"/>
              </a:solidFill>
              <a:latin typeface="Calibri"/>
              <a:ea typeface="Calibri"/>
              <a:cs typeface="Calibri"/>
              <a:sym typeface="Calibri"/>
            </a:endParaRPr>
          </a:p>
        </p:txBody>
      </p:sp>
      <p:sp>
        <p:nvSpPr>
          <p:cNvPr id="247" name="Google Shape;247;p32"/>
          <p:cNvSpPr/>
          <p:nvPr/>
        </p:nvSpPr>
        <p:spPr>
          <a:xfrm>
            <a:off x="274320" y="1298448"/>
            <a:ext cx="2743200" cy="896112"/>
          </a:xfrm>
          <a:prstGeom prst="roundRect">
            <a:avLst>
              <a:gd fmla="val 8163" name="adj"/>
            </a:avLst>
          </a:prstGeom>
          <a:solidFill>
            <a:srgbClr val="59B291">
              <a:alpha val="12156"/>
            </a:srgbClr>
          </a:solidFill>
          <a:ln cap="flat" cmpd="sng" w="12700">
            <a:solidFill>
              <a:srgbClr val="59B291">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2"/>
          <p:cNvSpPr/>
          <p:nvPr/>
        </p:nvSpPr>
        <p:spPr>
          <a:xfrm>
            <a:off x="384048" y="1335024"/>
            <a:ext cx="11887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4D30"/>
              </a:buClr>
              <a:buSzPts val="2800"/>
              <a:buFont typeface="Cambria"/>
              <a:buNone/>
            </a:pPr>
            <a:r>
              <a:rPr b="1" i="0" lang="es-419" sz="2800" u="none" cap="none" strike="noStrike">
                <a:solidFill>
                  <a:srgbClr val="1A4D30"/>
                </a:solidFill>
                <a:latin typeface="Cambria"/>
                <a:ea typeface="Cambria"/>
                <a:cs typeface="Cambria"/>
                <a:sym typeface="Cambria"/>
              </a:rPr>
              <a:t>950</a:t>
            </a:r>
            <a:endParaRPr b="0" i="0" sz="2800" u="none" cap="none" strike="noStrike">
              <a:solidFill>
                <a:schemeClr val="dk1"/>
              </a:solidFill>
              <a:latin typeface="Calibri"/>
              <a:ea typeface="Calibri"/>
              <a:cs typeface="Calibri"/>
              <a:sym typeface="Calibri"/>
            </a:endParaRPr>
          </a:p>
        </p:txBody>
      </p:sp>
      <p:sp>
        <p:nvSpPr>
          <p:cNvPr id="249" name="Google Shape;249;p32"/>
          <p:cNvSpPr/>
          <p:nvPr/>
        </p:nvSpPr>
        <p:spPr>
          <a:xfrm>
            <a:off x="384048" y="1335024"/>
            <a:ext cx="2523744"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A4D30"/>
              </a:buClr>
              <a:buSzPts val="1100"/>
              <a:buFont typeface="Calibri"/>
              <a:buNone/>
            </a:pPr>
            <a:r>
              <a:rPr b="1" i="0" lang="es-419" sz="1100" u="none" cap="none" strike="noStrike">
                <a:solidFill>
                  <a:srgbClr val="1A4D30"/>
                </a:solidFill>
                <a:latin typeface="Calibri"/>
                <a:ea typeface="Calibri"/>
                <a:cs typeface="Calibri"/>
                <a:sym typeface="Calibri"/>
              </a:rPr>
              <a:t>SKUs más baratos</a:t>
            </a:r>
            <a:endParaRPr b="0" i="0" sz="1100" u="none" cap="none" strike="noStrike">
              <a:solidFill>
                <a:schemeClr val="dk1"/>
              </a:solidFill>
              <a:latin typeface="Calibri"/>
              <a:ea typeface="Calibri"/>
              <a:cs typeface="Calibri"/>
              <a:sym typeface="Calibri"/>
            </a:endParaRPr>
          </a:p>
        </p:txBody>
      </p:sp>
      <p:sp>
        <p:nvSpPr>
          <p:cNvPr id="250" name="Google Shape;250;p32"/>
          <p:cNvSpPr/>
          <p:nvPr/>
        </p:nvSpPr>
        <p:spPr>
          <a:xfrm>
            <a:off x="384048" y="1828800"/>
            <a:ext cx="25237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Oportunidad de subir margen</a:t>
            </a:r>
            <a:endParaRPr b="0" i="0" sz="900" u="none" cap="none" strike="noStrike">
              <a:solidFill>
                <a:schemeClr val="dk1"/>
              </a:solidFill>
              <a:latin typeface="Calibri"/>
              <a:ea typeface="Calibri"/>
              <a:cs typeface="Calibri"/>
              <a:sym typeface="Calibri"/>
            </a:endParaRPr>
          </a:p>
        </p:txBody>
      </p:sp>
      <p:sp>
        <p:nvSpPr>
          <p:cNvPr id="251" name="Google Shape;251;p32"/>
          <p:cNvSpPr/>
          <p:nvPr/>
        </p:nvSpPr>
        <p:spPr>
          <a:xfrm>
            <a:off x="3154680" y="1298448"/>
            <a:ext cx="2743200" cy="896112"/>
          </a:xfrm>
          <a:prstGeom prst="roundRect">
            <a:avLst>
              <a:gd fmla="val 8163" name="adj"/>
            </a:avLst>
          </a:prstGeom>
          <a:solidFill>
            <a:srgbClr val="DE6A73">
              <a:alpha val="12156"/>
            </a:srgbClr>
          </a:solidFill>
          <a:ln cap="flat" cmpd="sng" w="12700">
            <a:solidFill>
              <a:srgbClr val="DE6A73">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2"/>
          <p:cNvSpPr/>
          <p:nvPr/>
        </p:nvSpPr>
        <p:spPr>
          <a:xfrm>
            <a:off x="3264408" y="1335024"/>
            <a:ext cx="11887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2030"/>
              </a:buClr>
              <a:buSzPts val="2800"/>
              <a:buFont typeface="Cambria"/>
              <a:buNone/>
            </a:pPr>
            <a:r>
              <a:rPr b="1" i="0" lang="es-419" sz="2800" u="none" cap="none" strike="noStrike">
                <a:solidFill>
                  <a:srgbClr val="7A2030"/>
                </a:solidFill>
                <a:latin typeface="Cambria"/>
                <a:ea typeface="Cambria"/>
                <a:cs typeface="Cambria"/>
                <a:sym typeface="Cambria"/>
              </a:rPr>
              <a:t>1,483</a:t>
            </a:r>
            <a:endParaRPr b="0" i="0" sz="2800" u="none" cap="none" strike="noStrike">
              <a:solidFill>
                <a:schemeClr val="dk1"/>
              </a:solidFill>
              <a:latin typeface="Calibri"/>
              <a:ea typeface="Calibri"/>
              <a:cs typeface="Calibri"/>
              <a:sym typeface="Calibri"/>
            </a:endParaRPr>
          </a:p>
        </p:txBody>
      </p:sp>
      <p:sp>
        <p:nvSpPr>
          <p:cNvPr id="253" name="Google Shape;253;p32"/>
          <p:cNvSpPr/>
          <p:nvPr/>
        </p:nvSpPr>
        <p:spPr>
          <a:xfrm>
            <a:off x="3264408" y="1335024"/>
            <a:ext cx="2523744"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7A2030"/>
              </a:buClr>
              <a:buSzPts val="1100"/>
              <a:buFont typeface="Calibri"/>
              <a:buNone/>
            </a:pPr>
            <a:r>
              <a:rPr b="1" i="0" lang="es-419" sz="1100" u="none" cap="none" strike="noStrike">
                <a:solidFill>
                  <a:srgbClr val="7A2030"/>
                </a:solidFill>
                <a:latin typeface="Calibri"/>
                <a:ea typeface="Calibri"/>
                <a:cs typeface="Calibri"/>
                <a:sym typeface="Calibri"/>
              </a:rPr>
              <a:t>SKUs más caros</a:t>
            </a:r>
            <a:endParaRPr b="0" i="0" sz="1100" u="none" cap="none" strike="noStrike">
              <a:solidFill>
                <a:schemeClr val="dk1"/>
              </a:solidFill>
              <a:latin typeface="Calibri"/>
              <a:ea typeface="Calibri"/>
              <a:cs typeface="Calibri"/>
              <a:sym typeface="Calibri"/>
            </a:endParaRPr>
          </a:p>
        </p:txBody>
      </p:sp>
      <p:sp>
        <p:nvSpPr>
          <p:cNvPr id="254" name="Google Shape;254;p32"/>
          <p:cNvSpPr/>
          <p:nvPr/>
        </p:nvSpPr>
        <p:spPr>
          <a:xfrm>
            <a:off x="3264408" y="1828800"/>
            <a:ext cx="25237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Monitorear sin arriesgar margen</a:t>
            </a:r>
            <a:endParaRPr b="0" i="0" sz="900" u="none" cap="none" strike="noStrike">
              <a:solidFill>
                <a:schemeClr val="dk1"/>
              </a:solidFill>
              <a:latin typeface="Calibri"/>
              <a:ea typeface="Calibri"/>
              <a:cs typeface="Calibri"/>
              <a:sym typeface="Calibri"/>
            </a:endParaRPr>
          </a:p>
        </p:txBody>
      </p:sp>
      <p:sp>
        <p:nvSpPr>
          <p:cNvPr id="255" name="Google Shape;255;p32"/>
          <p:cNvSpPr/>
          <p:nvPr/>
        </p:nvSpPr>
        <p:spPr>
          <a:xfrm>
            <a:off x="6035040" y="1298448"/>
            <a:ext cx="2743200" cy="896112"/>
          </a:xfrm>
          <a:prstGeom prst="roundRect">
            <a:avLst>
              <a:gd fmla="val 8163" name="adj"/>
            </a:avLst>
          </a:prstGeom>
          <a:solidFill>
            <a:srgbClr val="E0C233">
              <a:alpha val="12156"/>
            </a:srgbClr>
          </a:solidFill>
          <a:ln cap="flat" cmpd="sng" w="12700">
            <a:solidFill>
              <a:srgbClr val="E0C233">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2"/>
          <p:cNvSpPr/>
          <p:nvPr/>
        </p:nvSpPr>
        <p:spPr>
          <a:xfrm>
            <a:off x="6144768" y="1335024"/>
            <a:ext cx="118872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200"/>
              </a:buClr>
              <a:buSzPts val="2800"/>
              <a:buFont typeface="Cambria"/>
              <a:buNone/>
            </a:pPr>
            <a:r>
              <a:rPr b="1" i="0" lang="es-419" sz="2800" u="none" cap="none" strike="noStrike">
                <a:solidFill>
                  <a:srgbClr val="5A4200"/>
                </a:solidFill>
                <a:latin typeface="Cambria"/>
                <a:ea typeface="Cambria"/>
                <a:cs typeface="Cambria"/>
                <a:sym typeface="Cambria"/>
              </a:rPr>
              <a:t>656</a:t>
            </a:r>
            <a:endParaRPr b="0" i="0" sz="2800" u="none" cap="none" strike="noStrike">
              <a:solidFill>
                <a:schemeClr val="dk1"/>
              </a:solidFill>
              <a:latin typeface="Calibri"/>
              <a:ea typeface="Calibri"/>
              <a:cs typeface="Calibri"/>
              <a:sym typeface="Calibri"/>
            </a:endParaRPr>
          </a:p>
        </p:txBody>
      </p:sp>
      <p:sp>
        <p:nvSpPr>
          <p:cNvPr id="257" name="Google Shape;257;p32"/>
          <p:cNvSpPr/>
          <p:nvPr/>
        </p:nvSpPr>
        <p:spPr>
          <a:xfrm>
            <a:off x="6144768" y="1335024"/>
            <a:ext cx="2523744"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4200"/>
              </a:buClr>
              <a:buSzPts val="1100"/>
              <a:buFont typeface="Calibri"/>
              <a:buNone/>
            </a:pPr>
            <a:r>
              <a:rPr b="1" i="0" lang="es-419" sz="1100" u="none" cap="none" strike="noStrike">
                <a:solidFill>
                  <a:srgbClr val="5A4200"/>
                </a:solidFill>
                <a:latin typeface="Calibri"/>
                <a:ea typeface="Calibri"/>
                <a:cs typeface="Calibri"/>
                <a:sym typeface="Calibri"/>
              </a:rPr>
              <a:t>En parity</a:t>
            </a:r>
            <a:endParaRPr b="0" i="0" sz="1100" u="none" cap="none" strike="noStrike">
              <a:solidFill>
                <a:schemeClr val="dk1"/>
              </a:solidFill>
              <a:latin typeface="Calibri"/>
              <a:ea typeface="Calibri"/>
              <a:cs typeface="Calibri"/>
              <a:sym typeface="Calibri"/>
            </a:endParaRPr>
          </a:p>
        </p:txBody>
      </p:sp>
      <p:sp>
        <p:nvSpPr>
          <p:cNvPr id="258" name="Google Shape;258;p32"/>
          <p:cNvSpPr/>
          <p:nvPr/>
        </p:nvSpPr>
        <p:spPr>
          <a:xfrm>
            <a:off x="6144768" y="1828800"/>
            <a:ext cx="25237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Zona segura — mover según margen</a:t>
            </a:r>
            <a:endParaRPr b="0" i="0" sz="900" u="none" cap="none" strike="noStrike">
              <a:solidFill>
                <a:schemeClr val="dk1"/>
              </a:solidFill>
              <a:latin typeface="Calibri"/>
              <a:ea typeface="Calibri"/>
              <a:cs typeface="Calibri"/>
              <a:sym typeface="Calibri"/>
            </a:endParaRPr>
          </a:p>
        </p:txBody>
      </p:sp>
      <p:sp>
        <p:nvSpPr>
          <p:cNvPr id="259" name="Google Shape;259;p32"/>
          <p:cNvSpPr/>
          <p:nvPr/>
        </p:nvSpPr>
        <p:spPr>
          <a:xfrm>
            <a:off x="274320" y="2219669"/>
            <a:ext cx="4572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000"/>
              <a:buFont typeface="Calibri"/>
              <a:buNone/>
            </a:pPr>
            <a:r>
              <a:rPr b="1" i="0" lang="es-419" sz="1000" u="none" cap="none" strike="noStrike">
                <a:solidFill>
                  <a:srgbClr val="1A3630"/>
                </a:solidFill>
                <a:latin typeface="Calibri"/>
                <a:ea typeface="Calibri"/>
                <a:cs typeface="Calibri"/>
                <a:sym typeface="Calibri"/>
              </a:rPr>
              <a:t>3 palancas de acción</a:t>
            </a:r>
            <a:endParaRPr b="0" i="0" sz="1000" u="none" cap="none" strike="noStrike">
              <a:solidFill>
                <a:schemeClr val="dk1"/>
              </a:solidFill>
              <a:latin typeface="Calibri"/>
              <a:ea typeface="Calibri"/>
              <a:cs typeface="Calibri"/>
              <a:sym typeface="Calibri"/>
            </a:endParaRPr>
          </a:p>
        </p:txBody>
      </p:sp>
      <p:sp>
        <p:nvSpPr>
          <p:cNvPr id="260" name="Google Shape;260;p32"/>
          <p:cNvSpPr/>
          <p:nvPr/>
        </p:nvSpPr>
        <p:spPr>
          <a:xfrm>
            <a:off x="274320" y="2585429"/>
            <a:ext cx="2743200" cy="2212800"/>
          </a:xfrm>
          <a:prstGeom prst="roundRect">
            <a:avLst>
              <a:gd fmla="val 3306"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2"/>
          <p:cNvSpPr/>
          <p:nvPr/>
        </p:nvSpPr>
        <p:spPr>
          <a:xfrm>
            <a:off x="402336" y="2731733"/>
            <a:ext cx="347400" cy="347400"/>
          </a:xfrm>
          <a:prstGeom prst="ellipse">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2"/>
          <p:cNvSpPr/>
          <p:nvPr/>
        </p:nvSpPr>
        <p:spPr>
          <a:xfrm>
            <a:off x="402336" y="2731733"/>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263" name="Google Shape;263;p32"/>
          <p:cNvSpPr/>
          <p:nvPr/>
        </p:nvSpPr>
        <p:spPr>
          <a:xfrm>
            <a:off x="822960" y="2768309"/>
            <a:ext cx="2084700" cy="274200"/>
          </a:xfrm>
          <a:prstGeom prst="roundRect">
            <a:avLst>
              <a:gd fmla="val 20000" name="adj"/>
            </a:avLst>
          </a:prstGeom>
          <a:solidFill>
            <a:srgbClr val="59B291">
              <a:alpha val="20000"/>
            </a:srgbClr>
          </a:solidFill>
          <a:ln cap="flat" cmpd="sng" w="12700">
            <a:solidFill>
              <a:srgbClr val="59B291">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2"/>
          <p:cNvSpPr/>
          <p:nvPr/>
        </p:nvSpPr>
        <p:spPr>
          <a:xfrm>
            <a:off x="822960" y="2768309"/>
            <a:ext cx="208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750"/>
              <a:buFont typeface="Calibri"/>
              <a:buNone/>
            </a:pPr>
            <a:r>
              <a:rPr b="1" i="0" lang="es-419" sz="750" u="none" cap="none" strike="noStrike">
                <a:solidFill>
                  <a:srgbClr val="1A3630"/>
                </a:solidFill>
                <a:latin typeface="Calibri"/>
                <a:ea typeface="Calibri"/>
                <a:cs typeface="Calibri"/>
                <a:sym typeface="Calibri"/>
              </a:rPr>
              <a:t>OPORTUNIDAD · 950 SKUs</a:t>
            </a:r>
            <a:endParaRPr b="0" i="0" sz="750" u="none" cap="none" strike="noStrike">
              <a:solidFill>
                <a:schemeClr val="dk1"/>
              </a:solidFill>
              <a:latin typeface="Calibri"/>
              <a:ea typeface="Calibri"/>
              <a:cs typeface="Calibri"/>
              <a:sym typeface="Calibri"/>
            </a:endParaRPr>
          </a:p>
        </p:txBody>
      </p:sp>
      <p:sp>
        <p:nvSpPr>
          <p:cNvPr id="265" name="Google Shape;265;p32"/>
          <p:cNvSpPr/>
          <p:nvPr/>
        </p:nvSpPr>
        <p:spPr>
          <a:xfrm>
            <a:off x="402336" y="3152357"/>
            <a:ext cx="2505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000"/>
              <a:buFont typeface="Calibri"/>
              <a:buNone/>
            </a:pPr>
            <a:r>
              <a:rPr b="1" i="0" lang="es-419" sz="1000" u="none" cap="none" strike="noStrike">
                <a:solidFill>
                  <a:srgbClr val="1A3630"/>
                </a:solidFill>
                <a:latin typeface="Calibri"/>
                <a:ea typeface="Calibri"/>
                <a:cs typeface="Calibri"/>
                <a:sym typeface="Calibri"/>
              </a:rPr>
              <a:t>Subir margen donde somos más baratos</a:t>
            </a:r>
            <a:endParaRPr b="0" i="0" sz="1000" u="none" cap="none" strike="noStrike">
              <a:solidFill>
                <a:schemeClr val="dk1"/>
              </a:solidFill>
              <a:latin typeface="Calibri"/>
              <a:ea typeface="Calibri"/>
              <a:cs typeface="Calibri"/>
              <a:sym typeface="Calibri"/>
            </a:endParaRPr>
          </a:p>
        </p:txBody>
      </p:sp>
      <p:sp>
        <p:nvSpPr>
          <p:cNvPr id="266" name="Google Shape;266;p32"/>
          <p:cNvSpPr/>
          <p:nvPr/>
        </p:nvSpPr>
        <p:spPr>
          <a:xfrm>
            <a:off x="402336" y="3664421"/>
            <a:ext cx="25056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950 SKUs con precio por debajo de competencia. Priorizar los de mayor rotación y margen actual 20-30%. Subir precio gradualmente sin salir de parity.</a:t>
            </a:r>
            <a:endParaRPr b="0" i="0" sz="900" u="none" cap="none" strike="noStrike">
              <a:solidFill>
                <a:schemeClr val="dk1"/>
              </a:solidFill>
              <a:latin typeface="Calibri"/>
              <a:ea typeface="Calibri"/>
              <a:cs typeface="Calibri"/>
              <a:sym typeface="Calibri"/>
            </a:endParaRPr>
          </a:p>
        </p:txBody>
      </p:sp>
      <p:sp>
        <p:nvSpPr>
          <p:cNvPr id="267" name="Google Shape;267;p32"/>
          <p:cNvSpPr/>
          <p:nvPr/>
        </p:nvSpPr>
        <p:spPr>
          <a:xfrm>
            <a:off x="3154680" y="2585429"/>
            <a:ext cx="2743200" cy="2212800"/>
          </a:xfrm>
          <a:prstGeom prst="roundRect">
            <a:avLst>
              <a:gd fmla="val 3306"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2"/>
          <p:cNvSpPr/>
          <p:nvPr/>
        </p:nvSpPr>
        <p:spPr>
          <a:xfrm>
            <a:off x="3282696" y="2731733"/>
            <a:ext cx="347400" cy="347400"/>
          </a:xfrm>
          <a:prstGeom prst="ellipse">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32"/>
          <p:cNvSpPr/>
          <p:nvPr/>
        </p:nvSpPr>
        <p:spPr>
          <a:xfrm>
            <a:off x="3282696" y="2731733"/>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270" name="Google Shape;270;p32"/>
          <p:cNvSpPr/>
          <p:nvPr/>
        </p:nvSpPr>
        <p:spPr>
          <a:xfrm>
            <a:off x="3703320" y="2768309"/>
            <a:ext cx="2084700" cy="274200"/>
          </a:xfrm>
          <a:prstGeom prst="roundRect">
            <a:avLst>
              <a:gd fmla="val 20000" name="adj"/>
            </a:avLst>
          </a:prstGeom>
          <a:solidFill>
            <a:srgbClr val="DE6A73">
              <a:alpha val="20000"/>
            </a:srgbClr>
          </a:solidFill>
          <a:ln cap="flat" cmpd="sng" w="12700">
            <a:solidFill>
              <a:srgbClr val="DE6A73">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2"/>
          <p:cNvSpPr/>
          <p:nvPr/>
        </p:nvSpPr>
        <p:spPr>
          <a:xfrm>
            <a:off x="3703320" y="2768309"/>
            <a:ext cx="208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750"/>
              <a:buFont typeface="Calibri"/>
              <a:buNone/>
            </a:pPr>
            <a:r>
              <a:rPr b="1" i="0" lang="es-419" sz="750" u="none" cap="none" strike="noStrike">
                <a:solidFill>
                  <a:srgbClr val="1A3630"/>
                </a:solidFill>
                <a:latin typeface="Calibri"/>
                <a:ea typeface="Calibri"/>
                <a:cs typeface="Calibri"/>
                <a:sym typeface="Calibri"/>
              </a:rPr>
              <a:t>MONITOREAR · 1,483 SKUs</a:t>
            </a:r>
            <a:endParaRPr b="0" i="0" sz="750" u="none" cap="none" strike="noStrike">
              <a:solidFill>
                <a:schemeClr val="dk1"/>
              </a:solidFill>
              <a:latin typeface="Calibri"/>
              <a:ea typeface="Calibri"/>
              <a:cs typeface="Calibri"/>
              <a:sym typeface="Calibri"/>
            </a:endParaRPr>
          </a:p>
        </p:txBody>
      </p:sp>
      <p:sp>
        <p:nvSpPr>
          <p:cNvPr id="272" name="Google Shape;272;p32"/>
          <p:cNvSpPr/>
          <p:nvPr/>
        </p:nvSpPr>
        <p:spPr>
          <a:xfrm>
            <a:off x="3282696" y="3152357"/>
            <a:ext cx="2505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000"/>
              <a:buFont typeface="Calibri"/>
              <a:buNone/>
            </a:pPr>
            <a:r>
              <a:rPr b="1" i="0" lang="es-419" sz="1000" u="none" cap="none" strike="noStrike">
                <a:solidFill>
                  <a:srgbClr val="1A3630"/>
                </a:solidFill>
                <a:latin typeface="Calibri"/>
                <a:ea typeface="Calibri"/>
                <a:cs typeface="Calibri"/>
                <a:sym typeface="Calibri"/>
              </a:rPr>
              <a:t>Monitorear los más caros sin arriesgar margen</a:t>
            </a:r>
            <a:endParaRPr b="0" i="0" sz="1000" u="none" cap="none" strike="noStrike">
              <a:solidFill>
                <a:schemeClr val="dk1"/>
              </a:solidFill>
              <a:latin typeface="Calibri"/>
              <a:ea typeface="Calibri"/>
              <a:cs typeface="Calibri"/>
              <a:sym typeface="Calibri"/>
            </a:endParaRPr>
          </a:p>
        </p:txBody>
      </p:sp>
      <p:sp>
        <p:nvSpPr>
          <p:cNvPr id="273" name="Google Shape;273;p32"/>
          <p:cNvSpPr/>
          <p:nvPr/>
        </p:nvSpPr>
        <p:spPr>
          <a:xfrm>
            <a:off x="3282696" y="3664421"/>
            <a:ext cx="25056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1,483 SKUs más caros que competencia. Evaluar elasticidad por categoría. Bajar solo donde la rotación está cayendo o el margen lo permite.</a:t>
            </a:r>
            <a:endParaRPr b="0" i="0" sz="900" u="none" cap="none" strike="noStrike">
              <a:solidFill>
                <a:schemeClr val="dk1"/>
              </a:solidFill>
              <a:latin typeface="Calibri"/>
              <a:ea typeface="Calibri"/>
              <a:cs typeface="Calibri"/>
              <a:sym typeface="Calibri"/>
            </a:endParaRPr>
          </a:p>
        </p:txBody>
      </p:sp>
      <p:sp>
        <p:nvSpPr>
          <p:cNvPr id="274" name="Google Shape;274;p32"/>
          <p:cNvSpPr/>
          <p:nvPr/>
        </p:nvSpPr>
        <p:spPr>
          <a:xfrm>
            <a:off x="6035040" y="2585429"/>
            <a:ext cx="2743200" cy="2212800"/>
          </a:xfrm>
          <a:prstGeom prst="roundRect">
            <a:avLst>
              <a:gd fmla="val 3306"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32"/>
          <p:cNvSpPr/>
          <p:nvPr/>
        </p:nvSpPr>
        <p:spPr>
          <a:xfrm>
            <a:off x="6163056" y="2731733"/>
            <a:ext cx="347400" cy="347400"/>
          </a:xfrm>
          <a:prstGeom prst="ellipse">
            <a:avLst/>
          </a:prstGeom>
          <a:solidFill>
            <a:srgbClr val="E0C233"/>
          </a:solidFill>
          <a:ln cap="flat" cmpd="sng" w="12700">
            <a:solidFill>
              <a:srgbClr val="E0C2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32"/>
          <p:cNvSpPr/>
          <p:nvPr/>
        </p:nvSpPr>
        <p:spPr>
          <a:xfrm>
            <a:off x="6163056" y="2731733"/>
            <a:ext cx="3474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100"/>
              <a:buFont typeface="Calibri"/>
              <a:buNone/>
            </a:pPr>
            <a:r>
              <a:rPr b="1" i="0" lang="es-419" sz="1100" u="none" cap="none" strike="noStrike">
                <a:solidFill>
                  <a:srgbClr val="2B5545"/>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277" name="Google Shape;277;p32"/>
          <p:cNvSpPr/>
          <p:nvPr/>
        </p:nvSpPr>
        <p:spPr>
          <a:xfrm>
            <a:off x="6583680" y="2768309"/>
            <a:ext cx="2084700" cy="274200"/>
          </a:xfrm>
          <a:prstGeom prst="roundRect">
            <a:avLst>
              <a:gd fmla="val 20000" name="adj"/>
            </a:avLst>
          </a:prstGeom>
          <a:solidFill>
            <a:srgbClr val="E0C233">
              <a:alpha val="20000"/>
            </a:srgbClr>
          </a:solidFill>
          <a:ln cap="flat" cmpd="sng" w="12700">
            <a:solidFill>
              <a:srgbClr val="E0C233">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2"/>
          <p:cNvSpPr/>
          <p:nvPr/>
        </p:nvSpPr>
        <p:spPr>
          <a:xfrm>
            <a:off x="6583680" y="2768309"/>
            <a:ext cx="2084700" cy="274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3630"/>
              </a:buClr>
              <a:buSzPts val="750"/>
              <a:buFont typeface="Calibri"/>
              <a:buNone/>
            </a:pPr>
            <a:r>
              <a:rPr b="1" i="0" lang="es-419" sz="750" u="none" cap="none" strike="noStrike">
                <a:solidFill>
                  <a:srgbClr val="1A3630"/>
                </a:solidFill>
                <a:latin typeface="Calibri"/>
                <a:ea typeface="Calibri"/>
                <a:cs typeface="Calibri"/>
                <a:sym typeface="Calibri"/>
              </a:rPr>
              <a:t>MANTENER · 656 SKUs</a:t>
            </a:r>
            <a:endParaRPr b="0" i="0" sz="750" u="none" cap="none" strike="noStrike">
              <a:solidFill>
                <a:schemeClr val="dk1"/>
              </a:solidFill>
              <a:latin typeface="Calibri"/>
              <a:ea typeface="Calibri"/>
              <a:cs typeface="Calibri"/>
              <a:sym typeface="Calibri"/>
            </a:endParaRPr>
          </a:p>
        </p:txBody>
      </p:sp>
      <p:sp>
        <p:nvSpPr>
          <p:cNvPr id="279" name="Google Shape;279;p32"/>
          <p:cNvSpPr/>
          <p:nvPr/>
        </p:nvSpPr>
        <p:spPr>
          <a:xfrm>
            <a:off x="6163056" y="3152357"/>
            <a:ext cx="25056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000"/>
              <a:buFont typeface="Calibri"/>
              <a:buNone/>
            </a:pPr>
            <a:r>
              <a:rPr b="1" i="0" lang="es-419" sz="1000" u="none" cap="none" strike="noStrike">
                <a:solidFill>
                  <a:srgbClr val="1A3630"/>
                </a:solidFill>
                <a:latin typeface="Calibri"/>
                <a:ea typeface="Calibri"/>
                <a:cs typeface="Calibri"/>
                <a:sym typeface="Calibri"/>
              </a:rPr>
              <a:t>Defender parity en SKUs estratégicos</a:t>
            </a:r>
            <a:endParaRPr b="0" i="0" sz="1000" u="none" cap="none" strike="noStrike">
              <a:solidFill>
                <a:schemeClr val="dk1"/>
              </a:solidFill>
              <a:latin typeface="Calibri"/>
              <a:ea typeface="Calibri"/>
              <a:cs typeface="Calibri"/>
              <a:sym typeface="Calibri"/>
            </a:endParaRPr>
          </a:p>
        </p:txBody>
      </p:sp>
      <p:sp>
        <p:nvSpPr>
          <p:cNvPr id="280" name="Google Shape;280;p32"/>
          <p:cNvSpPr/>
          <p:nvPr/>
        </p:nvSpPr>
        <p:spPr>
          <a:xfrm>
            <a:off x="6163056" y="3664421"/>
            <a:ext cx="25056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656 SKUs en parity. Mantener posición en productos de alta visibilidad. Mover margen solo si el índice competitivo lo permite sin exposición.</a:t>
            </a:r>
            <a:endParaRPr b="0" i="0" sz="900" u="none" cap="none" strike="noStrike">
              <a:solidFill>
                <a:schemeClr val="dk1"/>
              </a:solidFill>
              <a:latin typeface="Calibri"/>
              <a:ea typeface="Calibri"/>
              <a:cs typeface="Calibri"/>
              <a:sym typeface="Calibri"/>
            </a:endParaRPr>
          </a:p>
        </p:txBody>
      </p:sp>
      <p:sp>
        <p:nvSpPr>
          <p:cNvPr id="281" name="Google Shape;281;p32"/>
          <p:cNvSpPr/>
          <p:nvPr/>
        </p:nvSpPr>
        <p:spPr>
          <a:xfrm>
            <a:off x="274320" y="4853141"/>
            <a:ext cx="8595300" cy="0"/>
          </a:xfrm>
          <a:prstGeom prst="roundRect">
            <a:avLst>
              <a:gd fmla="val 16667" name="adj"/>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2"/>
          <p:cNvSpPr/>
          <p:nvPr/>
        </p:nvSpPr>
        <p:spPr>
          <a:xfrm>
            <a:off x="237845" y="4774945"/>
            <a:ext cx="8595300" cy="347400"/>
          </a:xfrm>
          <a:prstGeom prst="roundRect">
            <a:avLst>
              <a:gd fmla="val 15789" name="adj"/>
            </a:avLst>
          </a:prstGeom>
          <a:solidFill>
            <a:srgbClr val="2B5545">
              <a:alpha val="12156"/>
            </a:srgbClr>
          </a:solidFill>
          <a:ln cap="flat" cmpd="sng" w="12700">
            <a:solidFill>
              <a:srgbClr val="2B5545">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2"/>
          <p:cNvSpPr/>
          <p:nvPr/>
        </p:nvSpPr>
        <p:spPr>
          <a:xfrm>
            <a:off x="423475" y="4774950"/>
            <a:ext cx="8409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5545"/>
              </a:buClr>
              <a:buSzPts val="900"/>
              <a:buFont typeface="Calibri"/>
              <a:buNone/>
            </a:pPr>
            <a:r>
              <a:rPr b="1" i="0" lang="es-419" sz="900" u="none" cap="none" strike="noStrike">
                <a:solidFill>
                  <a:srgbClr val="2B5545"/>
                </a:solidFill>
                <a:latin typeface="Calibri"/>
                <a:ea typeface="Calibri"/>
                <a:cs typeface="Calibri"/>
                <a:sym typeface="Calibri"/>
              </a:rPr>
              <a:t>Regla de oro: </a:t>
            </a:r>
            <a:r>
              <a:rPr b="0" i="0" lang="es-419" sz="900" u="none" cap="none" strike="noStrike">
                <a:solidFill>
                  <a:srgbClr val="6B9989"/>
                </a:solidFill>
                <a:latin typeface="Calibri"/>
                <a:ea typeface="Calibri"/>
                <a:cs typeface="Calibri"/>
                <a:sym typeface="Calibri"/>
              </a:rPr>
              <a:t>subir precio solo si índice competitivo &gt; 0.95  ·  rotación estable o creciente  ·  margen actual &lt; 30%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33"/>
          <p:cNvSpPr/>
          <p:nvPr/>
        </p:nvSpPr>
        <p:spPr>
          <a:xfrm>
            <a:off x="0" y="0"/>
            <a:ext cx="9144000" cy="1188720"/>
          </a:xfrm>
          <a:prstGeom prst="rect">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33"/>
          <p:cNvSpPr/>
          <p:nvPr/>
        </p:nvSpPr>
        <p:spPr>
          <a:xfrm>
            <a:off x="502920" y="137160"/>
            <a:ext cx="73152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s-419" sz="3000" u="none" cap="none" strike="noStrike">
                <a:solidFill>
                  <a:srgbClr val="FFFFFF"/>
                </a:solidFill>
                <a:latin typeface="Cambria"/>
                <a:ea typeface="Cambria"/>
                <a:cs typeface="Cambria"/>
                <a:sym typeface="Cambria"/>
              </a:rPr>
              <a:t>Acciones Principales</a:t>
            </a:r>
            <a:endParaRPr b="0" i="0" sz="3000" u="none" cap="none" strike="noStrike">
              <a:solidFill>
                <a:schemeClr val="dk1"/>
              </a:solidFill>
              <a:latin typeface="Calibri"/>
              <a:ea typeface="Calibri"/>
              <a:cs typeface="Calibri"/>
              <a:sym typeface="Calibri"/>
            </a:endParaRPr>
          </a:p>
        </p:txBody>
      </p:sp>
      <p:sp>
        <p:nvSpPr>
          <p:cNvPr id="291" name="Google Shape;291;p33"/>
          <p:cNvSpPr/>
          <p:nvPr/>
        </p:nvSpPr>
        <p:spPr>
          <a:xfrm>
            <a:off x="502920" y="749808"/>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B291"/>
              </a:buClr>
              <a:buSzPts val="1000"/>
              <a:buFont typeface="Calibri"/>
              <a:buNone/>
            </a:pPr>
            <a:r>
              <a:rPr b="0" i="0" lang="es-419" sz="1000" u="none" cap="none" strike="noStrike">
                <a:solidFill>
                  <a:srgbClr val="59B291"/>
                </a:solidFill>
                <a:latin typeface="Calibri"/>
                <a:ea typeface="Calibri"/>
                <a:cs typeface="Calibri"/>
                <a:sym typeface="Calibri"/>
              </a:rPr>
              <a:t>Iniciativas de pricing prioritarias para este ciclo</a:t>
            </a:r>
            <a:endParaRPr b="0" i="0" sz="1000" u="none" cap="none" strike="noStrike">
              <a:solidFill>
                <a:schemeClr val="dk1"/>
              </a:solidFill>
              <a:latin typeface="Calibri"/>
              <a:ea typeface="Calibri"/>
              <a:cs typeface="Calibri"/>
              <a:sym typeface="Calibri"/>
            </a:endParaRPr>
          </a:p>
        </p:txBody>
      </p:sp>
      <p:sp>
        <p:nvSpPr>
          <p:cNvPr id="292" name="Google Shape;292;p33"/>
          <p:cNvSpPr/>
          <p:nvPr/>
        </p:nvSpPr>
        <p:spPr>
          <a:xfrm>
            <a:off x="256032" y="1371600"/>
            <a:ext cx="2743200" cy="1627632"/>
          </a:xfrm>
          <a:prstGeom prst="roundRect">
            <a:avLst>
              <a:gd fmla="val 4494"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3"/>
          <p:cNvSpPr/>
          <p:nvPr/>
        </p:nvSpPr>
        <p:spPr>
          <a:xfrm>
            <a:off x="365760" y="1499616"/>
            <a:ext cx="1188720" cy="256032"/>
          </a:xfrm>
          <a:prstGeom prst="roundRect">
            <a:avLst>
              <a:gd fmla="val 28571" name="adj"/>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
          <p:cNvSpPr/>
          <p:nvPr/>
        </p:nvSpPr>
        <p:spPr>
          <a:xfrm>
            <a:off x="365760" y="1499616"/>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Alta prioridad</a:t>
            </a:r>
            <a:endParaRPr b="0" i="0" sz="800" u="none" cap="none" strike="noStrike">
              <a:solidFill>
                <a:schemeClr val="dk1"/>
              </a:solidFill>
              <a:latin typeface="Calibri"/>
              <a:ea typeface="Calibri"/>
              <a:cs typeface="Calibri"/>
              <a:sym typeface="Calibri"/>
            </a:endParaRPr>
          </a:p>
        </p:txBody>
      </p:sp>
      <p:sp>
        <p:nvSpPr>
          <p:cNvPr id="295" name="Google Shape;295;p33"/>
          <p:cNvSpPr/>
          <p:nvPr/>
        </p:nvSpPr>
        <p:spPr>
          <a:xfrm>
            <a:off x="1673352" y="1517904"/>
            <a:ext cx="1216152"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800"/>
              <a:buFont typeface="Calibri"/>
              <a:buNone/>
            </a:pPr>
            <a:r>
              <a:rPr b="0" i="0" lang="es-419" sz="800" u="none" cap="none" strike="noStrike">
                <a:solidFill>
                  <a:srgbClr val="6B9989"/>
                </a:solidFill>
                <a:latin typeface="Calibri"/>
                <a:ea typeface="Calibri"/>
                <a:cs typeface="Calibri"/>
                <a:sym typeface="Calibri"/>
              </a:rPr>
              <a:t>Owner: Pricing</a:t>
            </a:r>
            <a:endParaRPr b="0" i="0" sz="800" u="none" cap="none" strike="noStrike">
              <a:solidFill>
                <a:schemeClr val="dk1"/>
              </a:solidFill>
              <a:latin typeface="Calibri"/>
              <a:ea typeface="Calibri"/>
              <a:cs typeface="Calibri"/>
              <a:sym typeface="Calibri"/>
            </a:endParaRPr>
          </a:p>
        </p:txBody>
      </p:sp>
      <p:sp>
        <p:nvSpPr>
          <p:cNvPr id="296" name="Google Shape;296;p33"/>
          <p:cNvSpPr/>
          <p:nvPr/>
        </p:nvSpPr>
        <p:spPr>
          <a:xfrm>
            <a:off x="365760" y="1856232"/>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Revisión de precios por categoría</a:t>
            </a:r>
            <a:endParaRPr b="0" i="0" sz="1100" u="none" cap="none" strike="noStrike">
              <a:solidFill>
                <a:schemeClr val="dk1"/>
              </a:solidFill>
              <a:latin typeface="Calibri"/>
              <a:ea typeface="Calibri"/>
              <a:cs typeface="Calibri"/>
              <a:sym typeface="Calibri"/>
            </a:endParaRPr>
          </a:p>
        </p:txBody>
      </p:sp>
      <p:sp>
        <p:nvSpPr>
          <p:cNvPr id="297" name="Google Shape;297;p33"/>
          <p:cNvSpPr/>
          <p:nvPr/>
        </p:nvSpPr>
        <p:spPr>
          <a:xfrm>
            <a:off x="365760" y="2340864"/>
            <a:ext cx="252374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Identificar SKUs con PM bajo el piso mínimo y simular ajuste</a:t>
            </a:r>
            <a:endParaRPr b="0" i="0" sz="900" u="none" cap="none" strike="noStrike">
              <a:solidFill>
                <a:schemeClr val="dk1"/>
              </a:solidFill>
              <a:latin typeface="Calibri"/>
              <a:ea typeface="Calibri"/>
              <a:cs typeface="Calibri"/>
              <a:sym typeface="Calibri"/>
            </a:endParaRPr>
          </a:p>
        </p:txBody>
      </p:sp>
      <p:sp>
        <p:nvSpPr>
          <p:cNvPr id="298" name="Google Shape;298;p33"/>
          <p:cNvSpPr/>
          <p:nvPr/>
        </p:nvSpPr>
        <p:spPr>
          <a:xfrm>
            <a:off x="3182112" y="1371600"/>
            <a:ext cx="2743200" cy="1627632"/>
          </a:xfrm>
          <a:prstGeom prst="roundRect">
            <a:avLst>
              <a:gd fmla="val 4494"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33"/>
          <p:cNvSpPr/>
          <p:nvPr/>
        </p:nvSpPr>
        <p:spPr>
          <a:xfrm>
            <a:off x="3291840" y="1499616"/>
            <a:ext cx="1188720" cy="256032"/>
          </a:xfrm>
          <a:prstGeom prst="roundRect">
            <a:avLst>
              <a:gd fmla="val 28571" name="adj"/>
            </a:avLst>
          </a:prstGeom>
          <a:solidFill>
            <a:srgbClr val="E0C233"/>
          </a:solidFill>
          <a:ln cap="flat" cmpd="sng" w="12700">
            <a:solidFill>
              <a:srgbClr val="E0C2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3"/>
          <p:cNvSpPr/>
          <p:nvPr/>
        </p:nvSpPr>
        <p:spPr>
          <a:xfrm>
            <a:off x="3291840" y="1499616"/>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Esta semana</a:t>
            </a:r>
            <a:endParaRPr b="0" i="0" sz="800" u="none" cap="none" strike="noStrike">
              <a:solidFill>
                <a:schemeClr val="dk1"/>
              </a:solidFill>
              <a:latin typeface="Calibri"/>
              <a:ea typeface="Calibri"/>
              <a:cs typeface="Calibri"/>
              <a:sym typeface="Calibri"/>
            </a:endParaRPr>
          </a:p>
        </p:txBody>
      </p:sp>
      <p:sp>
        <p:nvSpPr>
          <p:cNvPr id="301" name="Google Shape;301;p33"/>
          <p:cNvSpPr/>
          <p:nvPr/>
        </p:nvSpPr>
        <p:spPr>
          <a:xfrm>
            <a:off x="4599432" y="1517904"/>
            <a:ext cx="1216152"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800"/>
              <a:buFont typeface="Calibri"/>
              <a:buNone/>
            </a:pPr>
            <a:r>
              <a:rPr b="0" i="0" lang="es-419" sz="800" u="none" cap="none" strike="noStrike">
                <a:solidFill>
                  <a:srgbClr val="6B9989"/>
                </a:solidFill>
                <a:latin typeface="Calibri"/>
                <a:ea typeface="Calibri"/>
                <a:cs typeface="Calibri"/>
                <a:sym typeface="Calibri"/>
              </a:rPr>
              <a:t>Owner: Growth</a:t>
            </a:r>
            <a:endParaRPr b="0" i="0" sz="800" u="none" cap="none" strike="noStrike">
              <a:solidFill>
                <a:schemeClr val="dk1"/>
              </a:solidFill>
              <a:latin typeface="Calibri"/>
              <a:ea typeface="Calibri"/>
              <a:cs typeface="Calibri"/>
              <a:sym typeface="Calibri"/>
            </a:endParaRPr>
          </a:p>
        </p:txBody>
      </p:sp>
      <p:sp>
        <p:nvSpPr>
          <p:cNvPr id="302" name="Google Shape;302;p33"/>
          <p:cNvSpPr/>
          <p:nvPr/>
        </p:nvSpPr>
        <p:spPr>
          <a:xfrm>
            <a:off x="3291840" y="1856232"/>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Optimización de descuentos</a:t>
            </a:r>
            <a:endParaRPr b="0" i="0" sz="1100" u="none" cap="none" strike="noStrike">
              <a:solidFill>
                <a:schemeClr val="dk1"/>
              </a:solidFill>
              <a:latin typeface="Calibri"/>
              <a:ea typeface="Calibri"/>
              <a:cs typeface="Calibri"/>
              <a:sym typeface="Calibri"/>
            </a:endParaRPr>
          </a:p>
        </p:txBody>
      </p:sp>
      <p:sp>
        <p:nvSpPr>
          <p:cNvPr id="303" name="Google Shape;303;p33"/>
          <p:cNvSpPr/>
          <p:nvPr/>
        </p:nvSpPr>
        <p:spPr>
          <a:xfrm>
            <a:off x="3291840" y="2340864"/>
            <a:ext cx="252374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Revisar promociones que erosionan GP — priorizar las de mayor impacto</a:t>
            </a:r>
            <a:endParaRPr b="0" i="0" sz="900" u="none" cap="none" strike="noStrike">
              <a:solidFill>
                <a:schemeClr val="dk1"/>
              </a:solidFill>
              <a:latin typeface="Calibri"/>
              <a:ea typeface="Calibri"/>
              <a:cs typeface="Calibri"/>
              <a:sym typeface="Calibri"/>
            </a:endParaRPr>
          </a:p>
        </p:txBody>
      </p:sp>
      <p:sp>
        <p:nvSpPr>
          <p:cNvPr id="304" name="Google Shape;304;p33"/>
          <p:cNvSpPr/>
          <p:nvPr/>
        </p:nvSpPr>
        <p:spPr>
          <a:xfrm>
            <a:off x="6108192" y="1371600"/>
            <a:ext cx="2743200" cy="1627632"/>
          </a:xfrm>
          <a:prstGeom prst="roundRect">
            <a:avLst>
              <a:gd fmla="val 4494"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3"/>
          <p:cNvSpPr/>
          <p:nvPr/>
        </p:nvSpPr>
        <p:spPr>
          <a:xfrm>
            <a:off x="6217920" y="1499616"/>
            <a:ext cx="1188720" cy="256032"/>
          </a:xfrm>
          <a:prstGeom prst="roundRect">
            <a:avLst>
              <a:gd fmla="val 28571" name="adj"/>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
          <p:cNvSpPr/>
          <p:nvPr/>
        </p:nvSpPr>
        <p:spPr>
          <a:xfrm>
            <a:off x="6217920" y="1499616"/>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Análisis</a:t>
            </a:r>
            <a:endParaRPr b="0" i="0" sz="800" u="none" cap="none" strike="noStrike">
              <a:solidFill>
                <a:schemeClr val="dk1"/>
              </a:solidFill>
              <a:latin typeface="Calibri"/>
              <a:ea typeface="Calibri"/>
              <a:cs typeface="Calibri"/>
              <a:sym typeface="Calibri"/>
            </a:endParaRPr>
          </a:p>
        </p:txBody>
      </p:sp>
      <p:sp>
        <p:nvSpPr>
          <p:cNvPr id="307" name="Google Shape;307;p33"/>
          <p:cNvSpPr/>
          <p:nvPr/>
        </p:nvSpPr>
        <p:spPr>
          <a:xfrm>
            <a:off x="7525512" y="1517904"/>
            <a:ext cx="1216152"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800"/>
              <a:buFont typeface="Calibri"/>
              <a:buNone/>
            </a:pPr>
            <a:r>
              <a:rPr b="0" i="0" lang="es-419" sz="800" u="none" cap="none" strike="noStrike">
                <a:solidFill>
                  <a:srgbClr val="6B9989"/>
                </a:solidFill>
                <a:latin typeface="Calibri"/>
                <a:ea typeface="Calibri"/>
                <a:cs typeface="Calibri"/>
                <a:sym typeface="Calibri"/>
              </a:rPr>
              <a:t>Owner: Analytics</a:t>
            </a:r>
            <a:endParaRPr b="0" i="0" sz="800" u="none" cap="none" strike="noStrike">
              <a:solidFill>
                <a:schemeClr val="dk1"/>
              </a:solidFill>
              <a:latin typeface="Calibri"/>
              <a:ea typeface="Calibri"/>
              <a:cs typeface="Calibri"/>
              <a:sym typeface="Calibri"/>
            </a:endParaRPr>
          </a:p>
        </p:txBody>
      </p:sp>
      <p:sp>
        <p:nvSpPr>
          <p:cNvPr id="308" name="Google Shape;308;p33"/>
          <p:cNvSpPr/>
          <p:nvPr/>
        </p:nvSpPr>
        <p:spPr>
          <a:xfrm>
            <a:off x="6217920" y="1856232"/>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Análisis de elasticidad</a:t>
            </a:r>
            <a:endParaRPr b="0" i="0" sz="1100" u="none" cap="none" strike="noStrike">
              <a:solidFill>
                <a:schemeClr val="dk1"/>
              </a:solidFill>
              <a:latin typeface="Calibri"/>
              <a:ea typeface="Calibri"/>
              <a:cs typeface="Calibri"/>
              <a:sym typeface="Calibri"/>
            </a:endParaRPr>
          </a:p>
        </p:txBody>
      </p:sp>
      <p:sp>
        <p:nvSpPr>
          <p:cNvPr id="309" name="Google Shape;309;p33"/>
          <p:cNvSpPr/>
          <p:nvPr/>
        </p:nvSpPr>
        <p:spPr>
          <a:xfrm>
            <a:off x="6217920" y="2340864"/>
            <a:ext cx="252374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Categorías que soportan aumento de precio sin afectar volumen</a:t>
            </a:r>
            <a:endParaRPr b="0" i="0" sz="900" u="none" cap="none" strike="noStrike">
              <a:solidFill>
                <a:schemeClr val="dk1"/>
              </a:solidFill>
              <a:latin typeface="Calibri"/>
              <a:ea typeface="Calibri"/>
              <a:cs typeface="Calibri"/>
              <a:sym typeface="Calibri"/>
            </a:endParaRPr>
          </a:p>
        </p:txBody>
      </p:sp>
      <p:sp>
        <p:nvSpPr>
          <p:cNvPr id="310" name="Google Shape;310;p33"/>
          <p:cNvSpPr/>
          <p:nvPr/>
        </p:nvSpPr>
        <p:spPr>
          <a:xfrm>
            <a:off x="256032" y="3182112"/>
            <a:ext cx="2743200" cy="1627632"/>
          </a:xfrm>
          <a:prstGeom prst="roundRect">
            <a:avLst>
              <a:gd fmla="val 4494"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3"/>
          <p:cNvSpPr/>
          <p:nvPr/>
        </p:nvSpPr>
        <p:spPr>
          <a:xfrm>
            <a:off x="365760" y="3310128"/>
            <a:ext cx="1188720" cy="256032"/>
          </a:xfrm>
          <a:prstGeom prst="roundRect">
            <a:avLst>
              <a:gd fmla="val 28571" name="adj"/>
            </a:avLst>
          </a:prstGeom>
          <a:solidFill>
            <a:srgbClr val="7F77DD"/>
          </a:solidFill>
          <a:ln cap="flat" cmpd="sng" w="12700">
            <a:solidFill>
              <a:srgbClr val="7F77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3"/>
          <p:cNvSpPr/>
          <p:nvPr/>
        </p:nvSpPr>
        <p:spPr>
          <a:xfrm>
            <a:off x="365760" y="3310128"/>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Estrategia</a:t>
            </a:r>
            <a:endParaRPr b="0" i="0" sz="800" u="none" cap="none" strike="noStrike">
              <a:solidFill>
                <a:schemeClr val="dk1"/>
              </a:solidFill>
              <a:latin typeface="Calibri"/>
              <a:ea typeface="Calibri"/>
              <a:cs typeface="Calibri"/>
              <a:sym typeface="Calibri"/>
            </a:endParaRPr>
          </a:p>
        </p:txBody>
      </p:sp>
      <p:sp>
        <p:nvSpPr>
          <p:cNvPr id="313" name="Google Shape;313;p33"/>
          <p:cNvSpPr/>
          <p:nvPr/>
        </p:nvSpPr>
        <p:spPr>
          <a:xfrm>
            <a:off x="1673352" y="3328416"/>
            <a:ext cx="1216152"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800"/>
              <a:buFont typeface="Calibri"/>
              <a:buNone/>
            </a:pPr>
            <a:r>
              <a:rPr b="0" i="0" lang="es-419" sz="800" u="none" cap="none" strike="noStrike">
                <a:solidFill>
                  <a:srgbClr val="6B9989"/>
                </a:solidFill>
                <a:latin typeface="Calibri"/>
                <a:ea typeface="Calibri"/>
                <a:cs typeface="Calibri"/>
                <a:sym typeface="Calibri"/>
              </a:rPr>
              <a:t>Owner: Comercial</a:t>
            </a:r>
            <a:endParaRPr b="0" i="0" sz="800" u="none" cap="none" strike="noStrike">
              <a:solidFill>
                <a:schemeClr val="dk1"/>
              </a:solidFill>
              <a:latin typeface="Calibri"/>
              <a:ea typeface="Calibri"/>
              <a:cs typeface="Calibri"/>
              <a:sym typeface="Calibri"/>
            </a:endParaRPr>
          </a:p>
        </p:txBody>
      </p:sp>
      <p:sp>
        <p:nvSpPr>
          <p:cNvPr id="314" name="Google Shape;314;p33"/>
          <p:cNvSpPr/>
          <p:nvPr/>
        </p:nvSpPr>
        <p:spPr>
          <a:xfrm>
            <a:off x="365760" y="3666744"/>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Estrategia por canal</a:t>
            </a:r>
            <a:endParaRPr b="0" i="0" sz="1100" u="none" cap="none" strike="noStrike">
              <a:solidFill>
                <a:schemeClr val="dk1"/>
              </a:solidFill>
              <a:latin typeface="Calibri"/>
              <a:ea typeface="Calibri"/>
              <a:cs typeface="Calibri"/>
              <a:sym typeface="Calibri"/>
            </a:endParaRPr>
          </a:p>
        </p:txBody>
      </p:sp>
      <p:sp>
        <p:nvSpPr>
          <p:cNvPr id="315" name="Google Shape;315;p33"/>
          <p:cNvSpPr/>
          <p:nvPr/>
        </p:nvSpPr>
        <p:spPr>
          <a:xfrm>
            <a:off x="365760" y="4151376"/>
            <a:ext cx="252374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Diferencial de precios: marketplace, directo, wholesale</a:t>
            </a:r>
            <a:endParaRPr b="0" i="0" sz="900" u="none" cap="none" strike="noStrike">
              <a:solidFill>
                <a:schemeClr val="dk1"/>
              </a:solidFill>
              <a:latin typeface="Calibri"/>
              <a:ea typeface="Calibri"/>
              <a:cs typeface="Calibri"/>
              <a:sym typeface="Calibri"/>
            </a:endParaRPr>
          </a:p>
        </p:txBody>
      </p:sp>
      <p:sp>
        <p:nvSpPr>
          <p:cNvPr id="316" name="Google Shape;316;p33"/>
          <p:cNvSpPr/>
          <p:nvPr/>
        </p:nvSpPr>
        <p:spPr>
          <a:xfrm>
            <a:off x="3182112" y="3182112"/>
            <a:ext cx="2743200" cy="1627632"/>
          </a:xfrm>
          <a:prstGeom prst="roundRect">
            <a:avLst>
              <a:gd fmla="val 4494"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
          <p:cNvSpPr/>
          <p:nvPr/>
        </p:nvSpPr>
        <p:spPr>
          <a:xfrm>
            <a:off x="3291840" y="3310128"/>
            <a:ext cx="1188720" cy="256032"/>
          </a:xfrm>
          <a:prstGeom prst="roundRect">
            <a:avLst>
              <a:gd fmla="val 28571" name="adj"/>
            </a:avLst>
          </a:prstGeom>
          <a:solidFill>
            <a:srgbClr val="DE6A73"/>
          </a:solidFill>
          <a:ln cap="flat" cmpd="sng" w="12700">
            <a:solidFill>
              <a:srgbClr val="DE6A7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33"/>
          <p:cNvSpPr/>
          <p:nvPr/>
        </p:nvSpPr>
        <p:spPr>
          <a:xfrm>
            <a:off x="3291840" y="3310128"/>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Sistema</a:t>
            </a:r>
            <a:endParaRPr b="0" i="0" sz="800" u="none" cap="none" strike="noStrike">
              <a:solidFill>
                <a:schemeClr val="dk1"/>
              </a:solidFill>
              <a:latin typeface="Calibri"/>
              <a:ea typeface="Calibri"/>
              <a:cs typeface="Calibri"/>
              <a:sym typeface="Calibri"/>
            </a:endParaRPr>
          </a:p>
        </p:txBody>
      </p:sp>
      <p:sp>
        <p:nvSpPr>
          <p:cNvPr id="319" name="Google Shape;319;p33"/>
          <p:cNvSpPr/>
          <p:nvPr/>
        </p:nvSpPr>
        <p:spPr>
          <a:xfrm>
            <a:off x="4599432" y="3328416"/>
            <a:ext cx="1216152"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800"/>
              <a:buFont typeface="Calibri"/>
              <a:buNone/>
            </a:pPr>
            <a:r>
              <a:rPr b="0" i="0" lang="es-419" sz="800" u="none" cap="none" strike="noStrike">
                <a:solidFill>
                  <a:srgbClr val="6B9989"/>
                </a:solidFill>
                <a:latin typeface="Calibri"/>
                <a:ea typeface="Calibri"/>
                <a:cs typeface="Calibri"/>
                <a:sym typeface="Calibri"/>
              </a:rPr>
              <a:t>Owner: Pricing</a:t>
            </a:r>
            <a:endParaRPr b="0" i="0" sz="800" u="none" cap="none" strike="noStrike">
              <a:solidFill>
                <a:schemeClr val="dk1"/>
              </a:solidFill>
              <a:latin typeface="Calibri"/>
              <a:ea typeface="Calibri"/>
              <a:cs typeface="Calibri"/>
              <a:sym typeface="Calibri"/>
            </a:endParaRPr>
          </a:p>
        </p:txBody>
      </p:sp>
      <p:sp>
        <p:nvSpPr>
          <p:cNvPr id="320" name="Google Shape;320;p33"/>
          <p:cNvSpPr/>
          <p:nvPr/>
        </p:nvSpPr>
        <p:spPr>
          <a:xfrm>
            <a:off x="3291840" y="3666744"/>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Alertas de margen</a:t>
            </a:r>
            <a:endParaRPr b="0" i="0" sz="1100" u="none" cap="none" strike="noStrike">
              <a:solidFill>
                <a:schemeClr val="dk1"/>
              </a:solidFill>
              <a:latin typeface="Calibri"/>
              <a:ea typeface="Calibri"/>
              <a:cs typeface="Calibri"/>
              <a:sym typeface="Calibri"/>
            </a:endParaRPr>
          </a:p>
        </p:txBody>
      </p:sp>
      <p:sp>
        <p:nvSpPr>
          <p:cNvPr id="321" name="Google Shape;321;p33"/>
          <p:cNvSpPr/>
          <p:nvPr/>
        </p:nvSpPr>
        <p:spPr>
          <a:xfrm>
            <a:off x="3291840" y="4151376"/>
            <a:ext cx="252374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Definir umbrales de PM mínimo y reglas de escalamiento</a:t>
            </a:r>
            <a:endParaRPr b="0" i="0" sz="900" u="none" cap="none" strike="noStrike">
              <a:solidFill>
                <a:schemeClr val="dk1"/>
              </a:solidFill>
              <a:latin typeface="Calibri"/>
              <a:ea typeface="Calibri"/>
              <a:cs typeface="Calibri"/>
              <a:sym typeface="Calibri"/>
            </a:endParaRPr>
          </a:p>
        </p:txBody>
      </p:sp>
      <p:sp>
        <p:nvSpPr>
          <p:cNvPr id="322" name="Google Shape;322;p33"/>
          <p:cNvSpPr/>
          <p:nvPr/>
        </p:nvSpPr>
        <p:spPr>
          <a:xfrm>
            <a:off x="6108192" y="3182112"/>
            <a:ext cx="2743200" cy="1627632"/>
          </a:xfrm>
          <a:prstGeom prst="roundRect">
            <a:avLst>
              <a:gd fmla="val 4494" name="adj"/>
            </a:avLst>
          </a:prstGeom>
          <a:solidFill>
            <a:srgbClr val="F4F9F7"/>
          </a:solidFill>
          <a:ln cap="flat" cmpd="sng" w="12700">
            <a:solidFill>
              <a:srgbClr val="DDE8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3"/>
          <p:cNvSpPr/>
          <p:nvPr/>
        </p:nvSpPr>
        <p:spPr>
          <a:xfrm>
            <a:off x="6217920" y="3310128"/>
            <a:ext cx="1188720" cy="256032"/>
          </a:xfrm>
          <a:prstGeom prst="roundRect">
            <a:avLst>
              <a:gd fmla="val 28571" name="adj"/>
            </a:avLst>
          </a:prstGeom>
          <a:solidFill>
            <a:srgbClr val="2B5545"/>
          </a:solidFill>
          <a:ln cap="flat" cmpd="sng" w="12700">
            <a:solidFill>
              <a:srgbClr val="2B55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3"/>
          <p:cNvSpPr/>
          <p:nvPr/>
        </p:nvSpPr>
        <p:spPr>
          <a:xfrm>
            <a:off x="6217920" y="3310128"/>
            <a:ext cx="11887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s-419" sz="800" u="none" cap="none" strike="noStrike">
                <a:solidFill>
                  <a:srgbClr val="FFFFFF"/>
                </a:solidFill>
                <a:latin typeface="Calibri"/>
                <a:ea typeface="Calibri"/>
                <a:cs typeface="Calibri"/>
                <a:sym typeface="Calibri"/>
              </a:rPr>
              <a:t>Cierre</a:t>
            </a:r>
            <a:endParaRPr b="0" i="0" sz="800" u="none" cap="none" strike="noStrike">
              <a:solidFill>
                <a:schemeClr val="dk1"/>
              </a:solidFill>
              <a:latin typeface="Calibri"/>
              <a:ea typeface="Calibri"/>
              <a:cs typeface="Calibri"/>
              <a:sym typeface="Calibri"/>
            </a:endParaRPr>
          </a:p>
        </p:txBody>
      </p:sp>
      <p:sp>
        <p:nvSpPr>
          <p:cNvPr id="325" name="Google Shape;325;p33"/>
          <p:cNvSpPr/>
          <p:nvPr/>
        </p:nvSpPr>
        <p:spPr>
          <a:xfrm>
            <a:off x="7525512" y="3328416"/>
            <a:ext cx="1216152"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9989"/>
              </a:buClr>
              <a:buSzPts val="800"/>
              <a:buFont typeface="Calibri"/>
              <a:buNone/>
            </a:pPr>
            <a:r>
              <a:rPr b="0" i="0" lang="es-419" sz="800" u="none" cap="none" strike="noStrike">
                <a:solidFill>
                  <a:srgbClr val="6B9989"/>
                </a:solidFill>
                <a:latin typeface="Calibri"/>
                <a:ea typeface="Calibri"/>
                <a:cs typeface="Calibri"/>
                <a:sym typeface="Calibri"/>
              </a:rPr>
              <a:t>Owner: Todos</a:t>
            </a:r>
            <a:endParaRPr b="0" i="0" sz="800" u="none" cap="none" strike="noStrike">
              <a:solidFill>
                <a:schemeClr val="dk1"/>
              </a:solidFill>
              <a:latin typeface="Calibri"/>
              <a:ea typeface="Calibri"/>
              <a:cs typeface="Calibri"/>
              <a:sym typeface="Calibri"/>
            </a:endParaRPr>
          </a:p>
        </p:txBody>
      </p:sp>
      <p:sp>
        <p:nvSpPr>
          <p:cNvPr id="326" name="Google Shape;326;p33"/>
          <p:cNvSpPr/>
          <p:nvPr/>
        </p:nvSpPr>
        <p:spPr>
          <a:xfrm>
            <a:off x="6217920" y="3666744"/>
            <a:ext cx="252374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3630"/>
              </a:buClr>
              <a:buSzPts val="1100"/>
              <a:buFont typeface="Calibri"/>
              <a:buNone/>
            </a:pPr>
            <a:r>
              <a:rPr b="1" i="0" lang="es-419" sz="1100" u="none" cap="none" strike="noStrike">
                <a:solidFill>
                  <a:srgbClr val="1A3630"/>
                </a:solidFill>
                <a:latin typeface="Calibri"/>
                <a:ea typeface="Calibri"/>
                <a:cs typeface="Calibri"/>
                <a:sym typeface="Calibri"/>
              </a:rPr>
              <a:t>Ownership y fechas</a:t>
            </a:r>
            <a:endParaRPr b="0" i="0" sz="1100" u="none" cap="none" strike="noStrike">
              <a:solidFill>
                <a:schemeClr val="dk1"/>
              </a:solidFill>
              <a:latin typeface="Calibri"/>
              <a:ea typeface="Calibri"/>
              <a:cs typeface="Calibri"/>
              <a:sym typeface="Calibri"/>
            </a:endParaRPr>
          </a:p>
        </p:txBody>
      </p:sp>
      <p:sp>
        <p:nvSpPr>
          <p:cNvPr id="327" name="Google Shape;327;p33"/>
          <p:cNvSpPr/>
          <p:nvPr/>
        </p:nvSpPr>
        <p:spPr>
          <a:xfrm>
            <a:off x="6217920" y="4151376"/>
            <a:ext cx="2523744"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Asignar responsable y deadline a cada acción antes del cierre</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5545"/>
        </a:solidFill>
      </p:bgPr>
    </p:bg>
    <p:spTree>
      <p:nvGrpSpPr>
        <p:cNvPr id="332" name="Shape 332"/>
        <p:cNvGrpSpPr/>
        <p:nvPr/>
      </p:nvGrpSpPr>
      <p:grpSpPr>
        <a:xfrm>
          <a:off x="0" y="0"/>
          <a:ext cx="0" cy="0"/>
          <a:chOff x="0" y="0"/>
          <a:chExt cx="0" cy="0"/>
        </a:xfrm>
      </p:grpSpPr>
      <p:sp>
        <p:nvSpPr>
          <p:cNvPr id="333" name="Google Shape;333;p34"/>
          <p:cNvSpPr/>
          <p:nvPr/>
        </p:nvSpPr>
        <p:spPr>
          <a:xfrm>
            <a:off x="-1097280" y="3840480"/>
            <a:ext cx="2926080" cy="2926080"/>
          </a:xfrm>
          <a:prstGeom prst="ellipse">
            <a:avLst/>
          </a:prstGeom>
          <a:solidFill>
            <a:srgbClr val="DE6A73">
              <a:alpha val="20000"/>
            </a:srgbClr>
          </a:solidFill>
          <a:ln cap="flat" cmpd="sng" w="12700">
            <a:solidFill>
              <a:srgbClr val="DE6A73">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4"/>
          <p:cNvSpPr/>
          <p:nvPr/>
        </p:nvSpPr>
        <p:spPr>
          <a:xfrm>
            <a:off x="7315200" y="-914400"/>
            <a:ext cx="2926080" cy="2926080"/>
          </a:xfrm>
          <a:prstGeom prst="ellipse">
            <a:avLst/>
          </a:prstGeom>
          <a:solidFill>
            <a:srgbClr val="E0C233">
              <a:alpha val="18039"/>
            </a:srgbClr>
          </a:solidFill>
          <a:ln cap="flat" cmpd="sng" w="12700">
            <a:solidFill>
              <a:srgbClr val="E0C233">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4"/>
          <p:cNvSpPr/>
          <p:nvPr/>
        </p:nvSpPr>
        <p:spPr>
          <a:xfrm>
            <a:off x="640080" y="548640"/>
            <a:ext cx="77724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200"/>
              <a:buFont typeface="Cambria"/>
              <a:buNone/>
            </a:pPr>
            <a:r>
              <a:rPr b="1" i="0" lang="es-419" sz="4200" u="none" cap="none" strike="noStrike">
                <a:solidFill>
                  <a:srgbClr val="FFFFFF"/>
                </a:solidFill>
                <a:latin typeface="Cambria"/>
                <a:ea typeface="Cambria"/>
                <a:cs typeface="Cambria"/>
                <a:sym typeface="Cambria"/>
              </a:rPr>
              <a:t>Próximos Pasos</a:t>
            </a:r>
            <a:endParaRPr b="0" i="0" sz="4200" u="none" cap="none" strike="noStrike">
              <a:solidFill>
                <a:schemeClr val="dk1"/>
              </a:solidFill>
              <a:latin typeface="Calibri"/>
              <a:ea typeface="Calibri"/>
              <a:cs typeface="Calibri"/>
              <a:sym typeface="Calibri"/>
            </a:endParaRPr>
          </a:p>
        </p:txBody>
      </p:sp>
      <p:sp>
        <p:nvSpPr>
          <p:cNvPr id="336" name="Google Shape;336;p34"/>
          <p:cNvSpPr/>
          <p:nvPr/>
        </p:nvSpPr>
        <p:spPr>
          <a:xfrm>
            <a:off x="594360" y="1636776"/>
            <a:ext cx="329184" cy="329184"/>
          </a:xfrm>
          <a:prstGeom prst="ellipse">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4"/>
          <p:cNvSpPr/>
          <p:nvPr/>
        </p:nvSpPr>
        <p:spPr>
          <a:xfrm>
            <a:off x="594360" y="163677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000"/>
              <a:buFont typeface="Calibri"/>
              <a:buNone/>
            </a:pPr>
            <a:r>
              <a:rPr b="1" i="0" lang="es-419" sz="1000" u="none" cap="none" strike="noStrike">
                <a:solidFill>
                  <a:srgbClr val="2B5545"/>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338" name="Google Shape;338;p34"/>
          <p:cNvSpPr/>
          <p:nvPr/>
        </p:nvSpPr>
        <p:spPr>
          <a:xfrm>
            <a:off x="1051560" y="1600200"/>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s-419" sz="1300" u="none" cap="none" strike="noStrike">
                <a:solidFill>
                  <a:srgbClr val="FFFFFF"/>
                </a:solidFill>
                <a:latin typeface="Calibri"/>
                <a:ea typeface="Calibri"/>
                <a:cs typeface="Calibri"/>
                <a:sym typeface="Calibri"/>
              </a:rPr>
              <a:t>Confirmar owners y deadlines de cada acción definida hoy</a:t>
            </a:r>
            <a:endParaRPr b="0" i="0" sz="1300" u="none" cap="none" strike="noStrike">
              <a:solidFill>
                <a:schemeClr val="dk1"/>
              </a:solidFill>
              <a:latin typeface="Calibri"/>
              <a:ea typeface="Calibri"/>
              <a:cs typeface="Calibri"/>
              <a:sym typeface="Calibri"/>
            </a:endParaRPr>
          </a:p>
        </p:txBody>
      </p:sp>
      <p:sp>
        <p:nvSpPr>
          <p:cNvPr id="339" name="Google Shape;339;p34"/>
          <p:cNvSpPr/>
          <p:nvPr/>
        </p:nvSpPr>
        <p:spPr>
          <a:xfrm>
            <a:off x="594360" y="2295144"/>
            <a:ext cx="329184" cy="329184"/>
          </a:xfrm>
          <a:prstGeom prst="ellipse">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4"/>
          <p:cNvSpPr/>
          <p:nvPr/>
        </p:nvSpPr>
        <p:spPr>
          <a:xfrm>
            <a:off x="594360" y="229514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000"/>
              <a:buFont typeface="Calibri"/>
              <a:buNone/>
            </a:pPr>
            <a:r>
              <a:rPr b="1" i="0" lang="es-419" sz="1000" u="none" cap="none" strike="noStrike">
                <a:solidFill>
                  <a:srgbClr val="2B5545"/>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341" name="Google Shape;341;p34"/>
          <p:cNvSpPr/>
          <p:nvPr/>
        </p:nvSpPr>
        <p:spPr>
          <a:xfrm>
            <a:off x="1051560" y="2258568"/>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s-419" sz="1300" u="none" cap="none" strike="noStrike">
                <a:solidFill>
                  <a:srgbClr val="FFFFFF"/>
                </a:solidFill>
                <a:latin typeface="Calibri"/>
                <a:ea typeface="Calibri"/>
                <a:cs typeface="Calibri"/>
                <a:sym typeface="Calibri"/>
              </a:rPr>
              <a:t>Actualizar el tracker de pricing con los acuerdos del meeting</a:t>
            </a:r>
            <a:endParaRPr b="0" i="0" sz="1300" u="none" cap="none" strike="noStrike">
              <a:solidFill>
                <a:schemeClr val="dk1"/>
              </a:solidFill>
              <a:latin typeface="Calibri"/>
              <a:ea typeface="Calibri"/>
              <a:cs typeface="Calibri"/>
              <a:sym typeface="Calibri"/>
            </a:endParaRPr>
          </a:p>
        </p:txBody>
      </p:sp>
      <p:sp>
        <p:nvSpPr>
          <p:cNvPr id="342" name="Google Shape;342;p34"/>
          <p:cNvSpPr/>
          <p:nvPr/>
        </p:nvSpPr>
        <p:spPr>
          <a:xfrm>
            <a:off x="594360" y="2953512"/>
            <a:ext cx="329184" cy="329184"/>
          </a:xfrm>
          <a:prstGeom prst="ellipse">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4"/>
          <p:cNvSpPr/>
          <p:nvPr/>
        </p:nvSpPr>
        <p:spPr>
          <a:xfrm>
            <a:off x="594360" y="29535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000"/>
              <a:buFont typeface="Calibri"/>
              <a:buNone/>
            </a:pPr>
            <a:r>
              <a:rPr b="1" i="0" lang="es-419" sz="1000" u="none" cap="none" strike="noStrike">
                <a:solidFill>
                  <a:srgbClr val="2B5545"/>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344" name="Google Shape;344;p34"/>
          <p:cNvSpPr/>
          <p:nvPr/>
        </p:nvSpPr>
        <p:spPr>
          <a:xfrm>
            <a:off x="1051560" y="2916936"/>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s-419" sz="1300" u="none" cap="none" strike="noStrike">
                <a:solidFill>
                  <a:srgbClr val="FFFFFF"/>
                </a:solidFill>
                <a:latin typeface="Calibri"/>
                <a:ea typeface="Calibri"/>
                <a:cs typeface="Calibri"/>
                <a:sym typeface="Calibri"/>
              </a:rPr>
              <a:t>Compartir resumen de resultados al equipo directivo</a:t>
            </a:r>
            <a:endParaRPr b="0" i="0" sz="1300" u="none" cap="none" strike="noStrike">
              <a:solidFill>
                <a:schemeClr val="dk1"/>
              </a:solidFill>
              <a:latin typeface="Calibri"/>
              <a:ea typeface="Calibri"/>
              <a:cs typeface="Calibri"/>
              <a:sym typeface="Calibri"/>
            </a:endParaRPr>
          </a:p>
        </p:txBody>
      </p:sp>
      <p:sp>
        <p:nvSpPr>
          <p:cNvPr id="345" name="Google Shape;345;p34"/>
          <p:cNvSpPr/>
          <p:nvPr/>
        </p:nvSpPr>
        <p:spPr>
          <a:xfrm>
            <a:off x="594360" y="3611880"/>
            <a:ext cx="329184" cy="329184"/>
          </a:xfrm>
          <a:prstGeom prst="ellipse">
            <a:avLst/>
          </a:prstGeom>
          <a:solidFill>
            <a:srgbClr val="59B291"/>
          </a:solidFill>
          <a:ln cap="flat" cmpd="sng" w="12700">
            <a:solidFill>
              <a:srgbClr val="59B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4"/>
          <p:cNvSpPr/>
          <p:nvPr/>
        </p:nvSpPr>
        <p:spPr>
          <a:xfrm>
            <a:off x="594360" y="36118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B5545"/>
              </a:buClr>
              <a:buSzPts val="1000"/>
              <a:buFont typeface="Calibri"/>
              <a:buNone/>
            </a:pPr>
            <a:r>
              <a:rPr b="1" i="0" lang="es-419" sz="1000" u="none" cap="none" strike="noStrike">
                <a:solidFill>
                  <a:srgbClr val="2B5545"/>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347" name="Google Shape;347;p34"/>
          <p:cNvSpPr/>
          <p:nvPr/>
        </p:nvSpPr>
        <p:spPr>
          <a:xfrm>
            <a:off x="1051560" y="3575304"/>
            <a:ext cx="6858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s-419" sz="1300" u="none" cap="none" strike="noStrike">
                <a:solidFill>
                  <a:srgbClr val="FFFFFF"/>
                </a:solidFill>
                <a:latin typeface="Calibri"/>
                <a:ea typeface="Calibri"/>
                <a:cs typeface="Calibri"/>
                <a:sym typeface="Calibri"/>
              </a:rPr>
              <a:t>Próxima reunión: misma hora, semana 27</a:t>
            </a:r>
            <a:endParaRPr b="0" i="0" sz="1300" u="none" cap="none" strike="noStrike">
              <a:solidFill>
                <a:schemeClr val="dk1"/>
              </a:solidFill>
              <a:latin typeface="Calibri"/>
              <a:ea typeface="Calibri"/>
              <a:cs typeface="Calibri"/>
              <a:sym typeface="Calibri"/>
            </a:endParaRPr>
          </a:p>
        </p:txBody>
      </p:sp>
      <p:sp>
        <p:nvSpPr>
          <p:cNvPr id="348" name="Google Shape;348;p34"/>
          <p:cNvSpPr/>
          <p:nvPr/>
        </p:nvSpPr>
        <p:spPr>
          <a:xfrm>
            <a:off x="0" y="4709160"/>
            <a:ext cx="9144000" cy="434340"/>
          </a:xfrm>
          <a:prstGeom prst="rect">
            <a:avLst/>
          </a:prstGeom>
          <a:solidFill>
            <a:srgbClr val="1E3D34"/>
          </a:solidFill>
          <a:ln cap="flat" cmpd="sng" w="12700">
            <a:solidFill>
              <a:srgbClr val="1E3D3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4"/>
          <p:cNvSpPr/>
          <p:nvPr/>
        </p:nvSpPr>
        <p:spPr>
          <a:xfrm>
            <a:off x="457200" y="4754880"/>
            <a:ext cx="822960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9989"/>
              </a:buClr>
              <a:buSzPts val="900"/>
              <a:buFont typeface="Calibri"/>
              <a:buNone/>
            </a:pPr>
            <a:r>
              <a:rPr b="0" i="0" lang="es-419" sz="900" u="none" cap="none" strike="noStrike">
                <a:solidFill>
                  <a:srgbClr val="6B9989"/>
                </a:solidFill>
                <a:latin typeface="Calibri"/>
                <a:ea typeface="Calibri"/>
                <a:cs typeface="Calibri"/>
                <a:sym typeface="Calibri"/>
              </a:rPr>
              <a:t>Weekly Pricing  ·  Semana 26  ·  Junio 2026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5545"/>
        </a:solidFill>
      </p:bgPr>
    </p:bg>
    <p:spTree>
      <p:nvGrpSpPr>
        <p:cNvPr id="353" name="Shape 353"/>
        <p:cNvGrpSpPr/>
        <p:nvPr/>
      </p:nvGrpSpPr>
      <p:grpSpPr>
        <a:xfrm>
          <a:off x="0" y="0"/>
          <a:ext cx="0" cy="0"/>
          <a:chOff x="0" y="0"/>
          <a:chExt cx="0" cy="0"/>
        </a:xfrm>
      </p:grpSpPr>
      <p:sp>
        <p:nvSpPr>
          <p:cNvPr id="354" name="Google Shape;354;p35"/>
          <p:cNvSpPr txBox="1"/>
          <p:nvPr/>
        </p:nvSpPr>
        <p:spPr>
          <a:xfrm>
            <a:off x="548640" y="1577340"/>
            <a:ext cx="8023860"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3000" u="none" cap="none" strike="noStrike">
                <a:solidFill>
                  <a:srgbClr val="FFFFFF"/>
                </a:solidFill>
                <a:latin typeface="Quattrocento Sans"/>
                <a:ea typeface="Quattrocento Sans"/>
                <a:cs typeface="Quattrocento Sans"/>
                <a:sym typeface="Quattrocento Sans"/>
              </a:rPr>
              <a:t>Reporte de Pricing</a:t>
            </a:r>
            <a:endParaRPr sz="1100"/>
          </a:p>
        </p:txBody>
      </p:sp>
      <p:sp>
        <p:nvSpPr>
          <p:cNvPr id="355" name="Google Shape;355;p35"/>
          <p:cNvSpPr txBox="1"/>
          <p:nvPr/>
        </p:nvSpPr>
        <p:spPr>
          <a:xfrm>
            <a:off x="548640" y="2263140"/>
            <a:ext cx="8023860"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700" u="none" cap="none" strike="noStrike">
                <a:solidFill>
                  <a:srgbClr val="CFE3DA"/>
                </a:solidFill>
                <a:latin typeface="Quattrocento Sans"/>
                <a:ea typeface="Quattrocento Sans"/>
                <a:cs typeface="Quattrocento Sans"/>
                <a:sym typeface="Quattrocento Sans"/>
              </a:rPr>
              <a:t>Márgenes, Causas de la Caída y Estrategia de Fin de Semana</a:t>
            </a:r>
            <a:endParaRPr sz="1100"/>
          </a:p>
        </p:txBody>
      </p:sp>
      <p:sp>
        <p:nvSpPr>
          <p:cNvPr id="356" name="Google Shape;356;p35"/>
          <p:cNvSpPr txBox="1"/>
          <p:nvPr/>
        </p:nvSpPr>
        <p:spPr>
          <a:xfrm>
            <a:off x="548640" y="2811779"/>
            <a:ext cx="8023860"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100" u="none" cap="none" strike="noStrike">
                <a:solidFill>
                  <a:srgbClr val="E0C233"/>
                </a:solidFill>
                <a:latin typeface="Quattrocento Sans"/>
                <a:ea typeface="Quattrocento Sans"/>
                <a:cs typeface="Quattrocento Sans"/>
                <a:sym typeface="Quattrocento Sans"/>
              </a:rPr>
              <a:t>Cierre de Junio 2026  ·  Stores 9 y 14  ·  Todos los marketplaces</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36"/>
          <p:cNvSpPr txBox="1"/>
          <p:nvPr/>
        </p:nvSpPr>
        <p:spPr>
          <a:xfrm>
            <a:off x="411480" y="205740"/>
            <a:ext cx="7543800"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2100" u="none" cap="none" strike="noStrike">
                <a:solidFill>
                  <a:srgbClr val="2B5545"/>
                </a:solidFill>
                <a:latin typeface="Quattrocento Sans"/>
                <a:ea typeface="Quattrocento Sans"/>
                <a:cs typeface="Quattrocento Sans"/>
                <a:sym typeface="Quattrocento Sans"/>
              </a:rPr>
              <a:t>Resumen del cierre de junio</a:t>
            </a:r>
            <a:endParaRPr sz="1100"/>
          </a:p>
        </p:txBody>
      </p:sp>
      <p:sp>
        <p:nvSpPr>
          <p:cNvPr id="362" name="Google Shape;362;p36"/>
          <p:cNvSpPr txBox="1"/>
          <p:nvPr/>
        </p:nvSpPr>
        <p:spPr>
          <a:xfrm>
            <a:off x="411480" y="603504"/>
            <a:ext cx="75438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s-419" sz="1000" u="none" cap="none" strike="noStrike">
                <a:solidFill>
                  <a:srgbClr val="6B6B6B"/>
                </a:solidFill>
                <a:latin typeface="Quattrocento Sans"/>
                <a:ea typeface="Quattrocento Sans"/>
                <a:cs typeface="Quattrocento Sans"/>
                <a:sym typeface="Quattrocento Sans"/>
              </a:rPr>
              <a:t>Junio 2026, mes completo (1-30 jun)  ·  Datos al 30 jun</a:t>
            </a:r>
            <a:endParaRPr sz="1100"/>
          </a:p>
        </p:txBody>
      </p:sp>
      <p:sp>
        <p:nvSpPr>
          <p:cNvPr id="363" name="Google Shape;363;p36"/>
          <p:cNvSpPr/>
          <p:nvPr/>
        </p:nvSpPr>
        <p:spPr>
          <a:xfrm>
            <a:off x="411480" y="960120"/>
            <a:ext cx="2606040" cy="720090"/>
          </a:xfrm>
          <a:prstGeom prst="rect">
            <a:avLst/>
          </a:prstGeom>
          <a:solidFill>
            <a:srgbClr val="2B5545"/>
          </a:solidFill>
          <a:ln>
            <a:noFill/>
          </a:ln>
        </p:spPr>
        <p:txBody>
          <a:bodyPr anchorCtr="0" anchor="ctr" bIns="34275" lIns="82300" spcFirstLastPara="1" rIns="82300" wrap="square" tIns="68575">
            <a:noAutofit/>
          </a:bodyPr>
          <a:lstStyle/>
          <a:p>
            <a:pPr indent="0" lvl="0" marL="0" marR="0" rtl="0" algn="ctr">
              <a:spcBef>
                <a:spcPts val="0"/>
              </a:spcBef>
              <a:spcAft>
                <a:spcPts val="0"/>
              </a:spcAft>
              <a:buNone/>
            </a:pPr>
            <a:r>
              <a:rPr b="1" i="0" lang="es-419" sz="1600" u="none" cap="none" strike="noStrike">
                <a:solidFill>
                  <a:srgbClr val="FFFFFF"/>
                </a:solidFill>
                <a:latin typeface="Quattrocento Sans"/>
                <a:ea typeface="Quattrocento Sans"/>
                <a:cs typeface="Quattrocento Sans"/>
                <a:sym typeface="Quattrocento Sans"/>
              </a:rPr>
              <a:t>$39.44M GMV</a:t>
            </a:r>
            <a:endParaRPr sz="1100"/>
          </a:p>
          <a:p>
            <a:pPr indent="0" lvl="0" marL="0" marR="0" rtl="0" algn="ctr">
              <a:spcBef>
                <a:spcPts val="0"/>
              </a:spcBef>
              <a:spcAft>
                <a:spcPts val="0"/>
              </a:spcAft>
              <a:buNone/>
            </a:pPr>
            <a:r>
              <a:rPr b="0" i="0" lang="es-419" sz="800" u="none" cap="none" strike="noStrike">
                <a:solidFill>
                  <a:srgbClr val="FFFFFF"/>
                </a:solidFill>
                <a:latin typeface="Quattrocento Sans"/>
                <a:ea typeface="Quattrocento Sans"/>
                <a:cs typeface="Quattrocento Sans"/>
                <a:sym typeface="Quattrocento Sans"/>
              </a:rPr>
              <a:t>Junio 2026 (cierre)</a:t>
            </a:r>
            <a:endParaRPr sz="1100"/>
          </a:p>
        </p:txBody>
      </p:sp>
      <p:sp>
        <p:nvSpPr>
          <p:cNvPr id="364" name="Google Shape;364;p36"/>
          <p:cNvSpPr/>
          <p:nvPr/>
        </p:nvSpPr>
        <p:spPr>
          <a:xfrm>
            <a:off x="3154680" y="960120"/>
            <a:ext cx="2606040" cy="720090"/>
          </a:xfrm>
          <a:prstGeom prst="rect">
            <a:avLst/>
          </a:prstGeom>
          <a:solidFill>
            <a:srgbClr val="2B5545"/>
          </a:solidFill>
          <a:ln>
            <a:noFill/>
          </a:ln>
        </p:spPr>
        <p:txBody>
          <a:bodyPr anchorCtr="0" anchor="ctr" bIns="34275" lIns="82300" spcFirstLastPara="1" rIns="82300" wrap="square" tIns="68575">
            <a:noAutofit/>
          </a:bodyPr>
          <a:lstStyle/>
          <a:p>
            <a:pPr indent="0" lvl="0" marL="0" marR="0" rtl="0" algn="ctr">
              <a:spcBef>
                <a:spcPts val="0"/>
              </a:spcBef>
              <a:spcAft>
                <a:spcPts val="0"/>
              </a:spcAft>
              <a:buNone/>
            </a:pPr>
            <a:r>
              <a:rPr b="1" i="0" lang="es-419" sz="1600" u="none" cap="none" strike="noStrike">
                <a:solidFill>
                  <a:srgbClr val="FFFFFF"/>
                </a:solidFill>
                <a:latin typeface="Quattrocento Sans"/>
                <a:ea typeface="Quattrocento Sans"/>
                <a:cs typeface="Quattrocento Sans"/>
                <a:sym typeface="Quattrocento Sans"/>
              </a:rPr>
              <a:t>22.61% GP%</a:t>
            </a:r>
            <a:endParaRPr sz="1100"/>
          </a:p>
          <a:p>
            <a:pPr indent="0" lvl="0" marL="0" marR="0" rtl="0" algn="ctr">
              <a:spcBef>
                <a:spcPts val="0"/>
              </a:spcBef>
              <a:spcAft>
                <a:spcPts val="0"/>
              </a:spcAft>
              <a:buNone/>
            </a:pPr>
            <a:r>
              <a:rPr b="0" i="0" lang="es-419" sz="800" u="none" cap="none" strike="noStrike">
                <a:solidFill>
                  <a:srgbClr val="FFFFFF"/>
                </a:solidFill>
                <a:latin typeface="Quattrocento Sans"/>
                <a:ea typeface="Quattrocento Sans"/>
                <a:cs typeface="Quattrocento Sans"/>
                <a:sym typeface="Quattrocento Sans"/>
              </a:rPr>
              <a:t>-0.92pts vs mayo</a:t>
            </a:r>
            <a:endParaRPr sz="1100"/>
          </a:p>
        </p:txBody>
      </p:sp>
      <p:sp>
        <p:nvSpPr>
          <p:cNvPr id="365" name="Google Shape;365;p36"/>
          <p:cNvSpPr/>
          <p:nvPr/>
        </p:nvSpPr>
        <p:spPr>
          <a:xfrm>
            <a:off x="5897880" y="960120"/>
            <a:ext cx="2606040" cy="720090"/>
          </a:xfrm>
          <a:prstGeom prst="rect">
            <a:avLst/>
          </a:prstGeom>
          <a:solidFill>
            <a:srgbClr val="2B5545"/>
          </a:solidFill>
          <a:ln>
            <a:noFill/>
          </a:ln>
        </p:spPr>
        <p:txBody>
          <a:bodyPr anchorCtr="0" anchor="ctr" bIns="34275" lIns="82300" spcFirstLastPara="1" rIns="82300" wrap="square" tIns="68575">
            <a:noAutofit/>
          </a:bodyPr>
          <a:lstStyle/>
          <a:p>
            <a:pPr indent="0" lvl="0" marL="0" marR="0" rtl="0" algn="ctr">
              <a:spcBef>
                <a:spcPts val="0"/>
              </a:spcBef>
              <a:spcAft>
                <a:spcPts val="0"/>
              </a:spcAft>
              <a:buNone/>
            </a:pPr>
            <a:r>
              <a:rPr b="1" i="0" lang="es-419" sz="1600" u="none" cap="none" strike="noStrike">
                <a:solidFill>
                  <a:srgbClr val="FFFFFF"/>
                </a:solidFill>
                <a:latin typeface="Quattrocento Sans"/>
                <a:ea typeface="Quattrocento Sans"/>
                <a:cs typeface="Quattrocento Sans"/>
                <a:sym typeface="Quattrocento Sans"/>
              </a:rPr>
              <a:t>17.34% PM%</a:t>
            </a:r>
            <a:endParaRPr sz="1100"/>
          </a:p>
          <a:p>
            <a:pPr indent="0" lvl="0" marL="0" marR="0" rtl="0" algn="ctr">
              <a:spcBef>
                <a:spcPts val="0"/>
              </a:spcBef>
              <a:spcAft>
                <a:spcPts val="0"/>
              </a:spcAft>
              <a:buNone/>
            </a:pPr>
            <a:r>
              <a:rPr b="0" i="0" lang="es-419" sz="800" u="none" cap="none" strike="noStrike">
                <a:solidFill>
                  <a:srgbClr val="FFFFFF"/>
                </a:solidFill>
                <a:latin typeface="Quattrocento Sans"/>
                <a:ea typeface="Quattrocento Sans"/>
                <a:cs typeface="Quattrocento Sans"/>
                <a:sym typeface="Quattrocento Sans"/>
              </a:rPr>
              <a:t>-1.01pts vs mayo</a:t>
            </a:r>
            <a:endParaRPr sz="1100"/>
          </a:p>
        </p:txBody>
      </p:sp>
      <p:sp>
        <p:nvSpPr>
          <p:cNvPr id="366" name="Google Shape;366;p36"/>
          <p:cNvSpPr txBox="1"/>
          <p:nvPr/>
        </p:nvSpPr>
        <p:spPr>
          <a:xfrm>
            <a:off x="480060" y="1851660"/>
            <a:ext cx="8229600" cy="274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Junio cerró con GP% 22.61% (-0.92pts vs mayo) y PM% 17.34% (-1.01pts vs mayo) — continúa la baja gradual iniciada en mayo.</a:t>
            </a:r>
            <a:endParaRPr sz="1100"/>
          </a:p>
          <a:p>
            <a:pPr indent="0" lvl="0" marL="0" marR="0" rtl="0" algn="l">
              <a:spcBef>
                <a:spcPts val="70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La última semana del mes (22-28 jun) fue la más floja: GP% 22.28% (-0.32pts) y PM% 16.86% (-0.58pts) vs. la semana previa (15-21 jun).</a:t>
            </a:r>
            <a:endParaRPr sz="1100"/>
          </a:p>
          <a:p>
            <a:pPr indent="0" lvl="0" marL="0" marR="0" rtl="0" algn="l">
              <a:spcBef>
                <a:spcPts val="70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Causas (sobre PM%): ~78% de la baja es mix (más peso de descuento, 16.2%→19.2% de ventas) y ~22% es rate — las líneas con descuento tienen PM% negativo (-11.8% en la última semana) porque el descuento pega sobre precio final pero el IVA no cuenta para PM.</a:t>
            </a:r>
            <a:endParaRPr sz="1100"/>
          </a:p>
          <a:p>
            <a:pPr indent="0" lvl="0" marL="0" marR="0" rtl="0" algn="l">
              <a:spcBef>
                <a:spcPts val="70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Fin de semana 26-28 jun: la estrategia de Pricing (127 SKUs, 3 palancas) sostuvo GP% 27.0% en sus líneas con descuento, muy por encima del 7.5% del descuento genérico de la tienda — la selección por elasticidad + floor de margen funcionó.</a:t>
            </a:r>
            <a:endParaRPr sz="1100"/>
          </a:p>
          <a:p>
            <a:pPr indent="0" lvl="0" marL="0" marR="0" rtl="0" algn="l">
              <a:spcBef>
                <a:spcPts val="70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Competitividad: favorables en precio de lista (61.3% de SKUs más baratos), pero solo 36.0% al precio final — el descuento propio no alcanza a cubrir las promos activas de competencia.</a:t>
            </a:r>
            <a:endParaRPr sz="1100"/>
          </a:p>
        </p:txBody>
      </p:sp>
      <p:sp>
        <p:nvSpPr>
          <p:cNvPr id="367" name="Google Shape;367;p36"/>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1" name="Shape 371"/>
        <p:cNvGrpSpPr/>
        <p:nvPr/>
      </p:nvGrpSpPr>
      <p:grpSpPr>
        <a:xfrm>
          <a:off x="0" y="0"/>
          <a:ext cx="0" cy="0"/>
          <a:chOff x="0" y="0"/>
          <a:chExt cx="0" cy="0"/>
        </a:xfrm>
      </p:grpSpPr>
      <p:sp>
        <p:nvSpPr>
          <p:cNvPr id="372" name="Google Shape;372;p37"/>
          <p:cNvSpPr txBox="1"/>
          <p:nvPr/>
        </p:nvSpPr>
        <p:spPr>
          <a:xfrm>
            <a:off x="411480" y="205740"/>
            <a:ext cx="7543800"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2000" u="none" cap="none" strike="noStrike">
                <a:solidFill>
                  <a:srgbClr val="2B5545"/>
                </a:solidFill>
                <a:latin typeface="Quattrocento Sans"/>
                <a:ea typeface="Quattrocento Sans"/>
                <a:cs typeface="Quattrocento Sans"/>
                <a:sym typeface="Quattrocento Sans"/>
              </a:rPr>
              <a:t>Tendencia semanal de margen — junio cerrado</a:t>
            </a:r>
            <a:endParaRPr sz="1100"/>
          </a:p>
        </p:txBody>
      </p:sp>
      <p:sp>
        <p:nvSpPr>
          <p:cNvPr id="373" name="Google Shape;373;p37"/>
          <p:cNvSpPr txBox="1"/>
          <p:nvPr/>
        </p:nvSpPr>
        <p:spPr>
          <a:xfrm>
            <a:off x="411480" y="603504"/>
            <a:ext cx="7543800"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100" u="none" cap="none" strike="noStrike">
                <a:solidFill>
                  <a:srgbClr val="6B6B6B"/>
                </a:solidFill>
                <a:latin typeface="Quattrocento Sans"/>
                <a:ea typeface="Quattrocento Sans"/>
                <a:cs typeface="Quattrocento Sans"/>
                <a:sym typeface="Quattrocento Sans"/>
              </a:rPr>
              <a:t>Mayo = cierre de referencia  |  Las 4 semanas de junio muestran una baja gradual</a:t>
            </a:r>
            <a:endParaRPr sz="1100"/>
          </a:p>
        </p:txBody>
      </p:sp>
      <p:pic>
        <p:nvPicPr>
          <p:cNvPr descr="wk_chart1_trend.png" id="374" name="Google Shape;374;p37"/>
          <p:cNvPicPr preferRelativeResize="0"/>
          <p:nvPr/>
        </p:nvPicPr>
        <p:blipFill rotWithShape="1">
          <a:blip r:embed="rId3">
            <a:alphaModFix/>
          </a:blip>
          <a:srcRect b="0" l="0" r="0" t="0"/>
          <a:stretch/>
        </p:blipFill>
        <p:spPr>
          <a:xfrm>
            <a:off x="617220" y="994410"/>
            <a:ext cx="7886700" cy="4211834"/>
          </a:xfrm>
          <a:prstGeom prst="rect">
            <a:avLst/>
          </a:prstGeom>
          <a:noFill/>
          <a:ln>
            <a:noFill/>
          </a:ln>
        </p:spPr>
      </p:pic>
      <p:sp>
        <p:nvSpPr>
          <p:cNvPr id="375" name="Google Shape;375;p37"/>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38"/>
          <p:cNvSpPr txBox="1"/>
          <p:nvPr/>
        </p:nvSpPr>
        <p:spPr>
          <a:xfrm>
            <a:off x="411480" y="205740"/>
            <a:ext cx="7543800"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2000" u="none" cap="none" strike="noStrike">
                <a:solidFill>
                  <a:srgbClr val="2B5545"/>
                </a:solidFill>
                <a:latin typeface="Quattrocento Sans"/>
                <a:ea typeface="Quattrocento Sans"/>
                <a:cs typeface="Quattrocento Sans"/>
                <a:sym typeface="Quattrocento Sans"/>
              </a:rPr>
              <a:t>¿Por qué cae el margen? (PM%)</a:t>
            </a:r>
            <a:endParaRPr sz="1100"/>
          </a:p>
        </p:txBody>
      </p:sp>
      <p:sp>
        <p:nvSpPr>
          <p:cNvPr id="381" name="Google Shape;381;p38"/>
          <p:cNvSpPr txBox="1"/>
          <p:nvPr/>
        </p:nvSpPr>
        <p:spPr>
          <a:xfrm>
            <a:off x="411480" y="603504"/>
            <a:ext cx="7886700"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100" u="none" cap="none" strike="noStrike">
                <a:solidFill>
                  <a:srgbClr val="6B6B6B"/>
                </a:solidFill>
                <a:latin typeface="Quattrocento Sans"/>
                <a:ea typeface="Quattrocento Sans"/>
                <a:cs typeface="Quattrocento Sans"/>
                <a:sym typeface="Quattrocento Sans"/>
              </a:rPr>
              <a:t>El peso del descuento sobre ventas subió de 16.2% a ~19.2%, y el PM% de esas líneas se volvió más negativo al cierre del mes</a:t>
            </a:r>
            <a:endParaRPr sz="1100"/>
          </a:p>
        </p:txBody>
      </p:sp>
      <p:pic>
        <p:nvPicPr>
          <p:cNvPr descr="wk_chart2_mix.png" id="382" name="Google Shape;382;p38"/>
          <p:cNvPicPr preferRelativeResize="0"/>
          <p:nvPr/>
        </p:nvPicPr>
        <p:blipFill rotWithShape="1">
          <a:blip r:embed="rId3">
            <a:alphaModFix/>
          </a:blip>
          <a:srcRect b="0" l="0" r="0" t="0"/>
          <a:stretch/>
        </p:blipFill>
        <p:spPr>
          <a:xfrm>
            <a:off x="582930" y="1099086"/>
            <a:ext cx="7749540" cy="3253939"/>
          </a:xfrm>
          <a:prstGeom prst="rect">
            <a:avLst/>
          </a:prstGeom>
          <a:noFill/>
          <a:ln>
            <a:noFill/>
          </a:ln>
        </p:spPr>
      </p:pic>
      <p:sp>
        <p:nvSpPr>
          <p:cNvPr id="383" name="Google Shape;383;p38"/>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7" name="Shape 387"/>
        <p:cNvGrpSpPr/>
        <p:nvPr/>
      </p:nvGrpSpPr>
      <p:grpSpPr>
        <a:xfrm>
          <a:off x="0" y="0"/>
          <a:ext cx="0" cy="0"/>
          <a:chOff x="0" y="0"/>
          <a:chExt cx="0" cy="0"/>
        </a:xfrm>
      </p:grpSpPr>
      <p:sp>
        <p:nvSpPr>
          <p:cNvPr id="388" name="Google Shape;388;p39"/>
          <p:cNvSpPr txBox="1"/>
          <p:nvPr/>
        </p:nvSpPr>
        <p:spPr>
          <a:xfrm>
            <a:off x="411480" y="205740"/>
            <a:ext cx="7543800"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1800" u="none" cap="none" strike="noStrike">
                <a:solidFill>
                  <a:srgbClr val="2B5545"/>
                </a:solidFill>
                <a:latin typeface="Quattrocento Sans"/>
                <a:ea typeface="Quattrocento Sans"/>
                <a:cs typeface="Quattrocento Sans"/>
                <a:sym typeface="Quattrocento Sans"/>
              </a:rPr>
              <a:t>Descomposición del PM%: Mix vs. Rate (Mayo → Junio)</a:t>
            </a:r>
            <a:endParaRPr sz="1100"/>
          </a:p>
        </p:txBody>
      </p:sp>
      <p:pic>
        <p:nvPicPr>
          <p:cNvPr descr="wk_chart3_decomposicion.png" id="389" name="Google Shape;389;p39"/>
          <p:cNvPicPr preferRelativeResize="0"/>
          <p:nvPr/>
        </p:nvPicPr>
        <p:blipFill rotWithShape="1">
          <a:blip r:embed="rId3">
            <a:alphaModFix/>
          </a:blip>
          <a:srcRect b="0" l="0" r="0" t="0"/>
          <a:stretch/>
        </p:blipFill>
        <p:spPr>
          <a:xfrm>
            <a:off x="822960" y="690922"/>
            <a:ext cx="7475220" cy="3576489"/>
          </a:xfrm>
          <a:prstGeom prst="rect">
            <a:avLst/>
          </a:prstGeom>
          <a:noFill/>
          <a:ln>
            <a:noFill/>
          </a:ln>
        </p:spPr>
      </p:pic>
      <p:sp>
        <p:nvSpPr>
          <p:cNvPr id="390" name="Google Shape;390;p39"/>
          <p:cNvSpPr txBox="1"/>
          <p:nvPr/>
        </p:nvSpPr>
        <p:spPr>
          <a:xfrm>
            <a:off x="571500" y="4341114"/>
            <a:ext cx="7886700"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Base: Pure Margin % (sin IVA/IEPS), no GP%. 78% de la caída es por más peso de descuento en el mix · 22% es compresión real en líneas con descuento (llegan a PM% negativo, -11.8% en la última semana).</a:t>
            </a:r>
            <a:endParaRPr sz="1100"/>
          </a:p>
        </p:txBody>
      </p:sp>
      <p:sp>
        <p:nvSpPr>
          <p:cNvPr id="391" name="Google Shape;391;p39"/>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40"/>
          <p:cNvSpPr txBox="1"/>
          <p:nvPr/>
        </p:nvSpPr>
        <p:spPr>
          <a:xfrm>
            <a:off x="411480" y="205740"/>
            <a:ext cx="7886700"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1800" u="none" cap="none" strike="noStrike">
                <a:solidFill>
                  <a:srgbClr val="2B5545"/>
                </a:solidFill>
                <a:latin typeface="Quattrocento Sans"/>
                <a:ea typeface="Quattrocento Sans"/>
                <a:cs typeface="Quattrocento Sans"/>
                <a:sym typeface="Quattrocento Sans"/>
              </a:rPr>
              <a:t>Estrategia de Fin de Semana (26-28 jun): Resultados</a:t>
            </a:r>
            <a:endParaRPr sz="1100"/>
          </a:p>
        </p:txBody>
      </p:sp>
      <p:sp>
        <p:nvSpPr>
          <p:cNvPr id="397" name="Google Shape;397;p40"/>
          <p:cNvSpPr txBox="1"/>
          <p:nvPr/>
        </p:nvSpPr>
        <p:spPr>
          <a:xfrm>
            <a:off x="411480" y="603504"/>
            <a:ext cx="8092440" cy="2743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s-419" sz="1000" u="none" cap="none" strike="noStrike">
                <a:solidFill>
                  <a:srgbClr val="6B6B6B"/>
                </a:solidFill>
                <a:latin typeface="Quattrocento Sans"/>
                <a:ea typeface="Quattrocento Sans"/>
                <a:cs typeface="Quattrocento Sans"/>
                <a:sym typeface="Quattrocento Sans"/>
              </a:rPr>
              <a:t>Propuesta: 135 productos · 3 palancas · floor de margen 22% · impacto estimado $210,931</a:t>
            </a:r>
            <a:endParaRPr sz="1100"/>
          </a:p>
        </p:txBody>
      </p:sp>
      <p:pic>
        <p:nvPicPr>
          <p:cNvPr descr="wk_chart4_fds.png" id="398" name="Google Shape;398;p40"/>
          <p:cNvPicPr preferRelativeResize="0"/>
          <p:nvPr/>
        </p:nvPicPr>
        <p:blipFill rotWithShape="1">
          <a:blip r:embed="rId3">
            <a:alphaModFix/>
          </a:blip>
          <a:srcRect b="0" l="0" r="0" t="0"/>
          <a:stretch/>
        </p:blipFill>
        <p:spPr>
          <a:xfrm>
            <a:off x="697230" y="1066191"/>
            <a:ext cx="7749540" cy="2602839"/>
          </a:xfrm>
          <a:prstGeom prst="rect">
            <a:avLst/>
          </a:prstGeom>
          <a:noFill/>
          <a:ln>
            <a:noFill/>
          </a:ln>
        </p:spPr>
      </p:pic>
      <p:sp>
        <p:nvSpPr>
          <p:cNvPr id="399" name="Google Shape;399;p40"/>
          <p:cNvSpPr txBox="1"/>
          <p:nvPr/>
        </p:nvSpPr>
        <p:spPr>
          <a:xfrm>
            <a:off x="480060" y="3669030"/>
            <a:ext cx="8229600" cy="13030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De los 127 SKUs analizados, 93 tuvieron venta el finde (77 con descuento activo) y 34 no vendieron nada — revisar si conviene ajustarlos o quitarlos la próxima vez.</a:t>
            </a:r>
            <a:endParaRPr sz="1100"/>
          </a:p>
          <a:p>
            <a:pPr indent="0" lvl="0" marL="0" marR="0" rtl="0" algn="l">
              <a:spcBef>
                <a:spcPts val="70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Los SKUs con descuento de la estrategia sostuvieron GP% 27.0% (floor 22%) y, en PM%, +17.5% — vs. -14.2% PM% del descuento genérico del resto de la tienda (ahí sí negativo).</a:t>
            </a:r>
            <a:endParaRPr sz="1100"/>
          </a:p>
          <a:p>
            <a:pPr indent="0" lvl="0" marL="0" marR="0" rtl="0" algn="l">
              <a:spcBef>
                <a:spcPts val="700"/>
              </a:spcBef>
              <a:spcAft>
                <a:spcPts val="0"/>
              </a:spcAft>
              <a:buNone/>
            </a:pPr>
            <a:r>
              <a:rPr b="0" i="0" lang="es-419" sz="1100" u="none" cap="none" strike="noStrike">
                <a:solidFill>
                  <a:srgbClr val="2B5545"/>
                </a:solidFill>
                <a:latin typeface="Quattrocento Sans"/>
                <a:ea typeface="Quattrocento Sans"/>
                <a:cs typeface="Quattrocento Sans"/>
                <a:sym typeface="Quattrocento Sans"/>
              </a:rPr>
              <a:t>•  La selección por elasticidad + floor de margen funcionó: el descuento dirigido fue el único que mantuvo PM% positivo ese fin de semana.</a:t>
            </a:r>
            <a:endParaRPr sz="1100"/>
          </a:p>
        </p:txBody>
      </p:sp>
      <p:sp>
        <p:nvSpPr>
          <p:cNvPr id="400" name="Google Shape;400;p40"/>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1"/>
          <p:cNvSpPr txBox="1"/>
          <p:nvPr/>
        </p:nvSpPr>
        <p:spPr>
          <a:xfrm>
            <a:off x="411480" y="205740"/>
            <a:ext cx="8298180" cy="41148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800" u="none" cap="none" strike="noStrike">
                <a:solidFill>
                  <a:srgbClr val="2B5545"/>
                </a:solidFill>
                <a:latin typeface="Quattrocento Sans"/>
                <a:ea typeface="Quattrocento Sans"/>
                <a:cs typeface="Quattrocento Sans"/>
                <a:sym typeface="Quattrocento Sans"/>
              </a:rPr>
              <a:t>Cómo opera Pricing: un motor de hipótesis</a:t>
            </a:r>
            <a:endParaRPr sz="1100"/>
          </a:p>
        </p:txBody>
      </p:sp>
      <p:sp>
        <p:nvSpPr>
          <p:cNvPr id="406" name="Google Shape;406;p41"/>
          <p:cNvSpPr txBox="1"/>
          <p:nvPr/>
        </p:nvSpPr>
        <p:spPr>
          <a:xfrm>
            <a:off x="411480" y="630936"/>
            <a:ext cx="8298180" cy="37719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1000" u="none" cap="none" strike="noStrike">
                <a:solidFill>
                  <a:srgbClr val="6B6B6B"/>
                </a:solidFill>
                <a:latin typeface="Quattrocento Sans"/>
                <a:ea typeface="Quattrocento Sans"/>
                <a:cs typeface="Quattrocento Sans"/>
                <a:sym typeface="Quattrocento Sans"/>
              </a:rPr>
              <a:t>No bajamos precios a ciegas — formulamos hipótesis, probamos con palancas dirigidas y escalamos solo lo que protege margen</a:t>
            </a:r>
            <a:endParaRPr sz="1100"/>
          </a:p>
        </p:txBody>
      </p:sp>
      <p:sp>
        <p:nvSpPr>
          <p:cNvPr id="407" name="Google Shape;407;p41"/>
          <p:cNvSpPr/>
          <p:nvPr/>
        </p:nvSpPr>
        <p:spPr>
          <a:xfrm>
            <a:off x="425196" y="1200150"/>
            <a:ext cx="1865376" cy="284607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08" name="Google Shape;408;p41"/>
          <p:cNvSpPr/>
          <p:nvPr/>
        </p:nvSpPr>
        <p:spPr>
          <a:xfrm>
            <a:off x="1145286" y="1385316"/>
            <a:ext cx="425196" cy="425196"/>
          </a:xfrm>
          <a:prstGeom prst="ellipse">
            <a:avLst/>
          </a:prstGeom>
          <a:solidFill>
            <a:srgbClr val="2B554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s-419" sz="1700" u="none" cap="none" strike="noStrike">
                <a:solidFill>
                  <a:srgbClr val="FFFFFF"/>
                </a:solidFill>
                <a:latin typeface="Quattrocento Sans"/>
                <a:ea typeface="Quattrocento Sans"/>
                <a:cs typeface="Quattrocento Sans"/>
                <a:sym typeface="Quattrocento Sans"/>
              </a:rPr>
              <a:t>1</a:t>
            </a:r>
            <a:endParaRPr sz="1100"/>
          </a:p>
        </p:txBody>
      </p:sp>
      <p:sp>
        <p:nvSpPr>
          <p:cNvPr id="409" name="Google Shape;409;p41"/>
          <p:cNvSpPr txBox="1"/>
          <p:nvPr/>
        </p:nvSpPr>
        <p:spPr>
          <a:xfrm>
            <a:off x="493776" y="1933956"/>
            <a:ext cx="1728216" cy="308610"/>
          </a:xfrm>
          <a:prstGeom prst="rect">
            <a:avLst/>
          </a:prstGeom>
          <a:noFill/>
          <a:ln>
            <a:noFill/>
          </a:ln>
        </p:spPr>
        <p:txBody>
          <a:bodyPr anchorCtr="0" anchor="t" bIns="13700" lIns="34275" spcFirstLastPara="1" rIns="34275" wrap="square" tIns="13700">
            <a:spAutoFit/>
          </a:bodyPr>
          <a:lstStyle/>
          <a:p>
            <a:pPr indent="0" lvl="0" marL="0" marR="0" rtl="0" algn="ctr">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Hipótesis</a:t>
            </a:r>
            <a:endParaRPr sz="1100"/>
          </a:p>
        </p:txBody>
      </p:sp>
      <p:sp>
        <p:nvSpPr>
          <p:cNvPr id="410" name="Google Shape;410;p41"/>
          <p:cNvSpPr txBox="1"/>
          <p:nvPr/>
        </p:nvSpPr>
        <p:spPr>
          <a:xfrm>
            <a:off x="548640" y="2276856"/>
            <a:ext cx="1618488" cy="168021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Elegimos SKUs por elasticidad, rotación e índice de precio de línea donde una palanca puede subir volumen sin sacrificar margen.</a:t>
            </a:r>
            <a:endParaRPr sz="1100"/>
          </a:p>
        </p:txBody>
      </p:sp>
      <p:sp>
        <p:nvSpPr>
          <p:cNvPr id="411" name="Google Shape;411;p41"/>
          <p:cNvSpPr/>
          <p:nvPr/>
        </p:nvSpPr>
        <p:spPr>
          <a:xfrm>
            <a:off x="2578608" y="1200150"/>
            <a:ext cx="1865376" cy="284607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12" name="Google Shape;412;p41"/>
          <p:cNvSpPr/>
          <p:nvPr/>
        </p:nvSpPr>
        <p:spPr>
          <a:xfrm>
            <a:off x="3298698" y="1385316"/>
            <a:ext cx="425196" cy="425196"/>
          </a:xfrm>
          <a:prstGeom prst="ellipse">
            <a:avLst/>
          </a:prstGeom>
          <a:solidFill>
            <a:srgbClr val="2B554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s-419" sz="1700" u="none" cap="none" strike="noStrike">
                <a:solidFill>
                  <a:srgbClr val="FFFFFF"/>
                </a:solidFill>
                <a:latin typeface="Quattrocento Sans"/>
                <a:ea typeface="Quattrocento Sans"/>
                <a:cs typeface="Quattrocento Sans"/>
                <a:sym typeface="Quattrocento Sans"/>
              </a:rPr>
              <a:t>2</a:t>
            </a:r>
            <a:endParaRPr sz="1100"/>
          </a:p>
        </p:txBody>
      </p:sp>
      <p:sp>
        <p:nvSpPr>
          <p:cNvPr id="413" name="Google Shape;413;p41"/>
          <p:cNvSpPr txBox="1"/>
          <p:nvPr/>
        </p:nvSpPr>
        <p:spPr>
          <a:xfrm>
            <a:off x="2647188" y="1933956"/>
            <a:ext cx="1728216" cy="308610"/>
          </a:xfrm>
          <a:prstGeom prst="rect">
            <a:avLst/>
          </a:prstGeom>
          <a:noFill/>
          <a:ln>
            <a:noFill/>
          </a:ln>
        </p:spPr>
        <p:txBody>
          <a:bodyPr anchorCtr="0" anchor="t" bIns="13700" lIns="34275" spcFirstLastPara="1" rIns="34275" wrap="square" tIns="13700">
            <a:spAutoFit/>
          </a:bodyPr>
          <a:lstStyle/>
          <a:p>
            <a:pPr indent="0" lvl="0" marL="0" marR="0" rtl="0" algn="ctr">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Palanca</a:t>
            </a:r>
            <a:endParaRPr sz="1100"/>
          </a:p>
        </p:txBody>
      </p:sp>
      <p:sp>
        <p:nvSpPr>
          <p:cNvPr id="414" name="Google Shape;414;p41"/>
          <p:cNvSpPr txBox="1"/>
          <p:nvPr/>
        </p:nvSpPr>
        <p:spPr>
          <a:xfrm>
            <a:off x="2702052" y="2276856"/>
            <a:ext cx="1618488" cy="168021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Aplicamos una mecánica de oferta dirigida (sin descuento comercial), no un descuento plano a todo el catálogo.</a:t>
            </a:r>
            <a:endParaRPr sz="1100"/>
          </a:p>
        </p:txBody>
      </p:sp>
      <p:sp>
        <p:nvSpPr>
          <p:cNvPr id="415" name="Google Shape;415;p41"/>
          <p:cNvSpPr/>
          <p:nvPr/>
        </p:nvSpPr>
        <p:spPr>
          <a:xfrm>
            <a:off x="4732020" y="1200150"/>
            <a:ext cx="1865376" cy="284607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16" name="Google Shape;416;p41"/>
          <p:cNvSpPr/>
          <p:nvPr/>
        </p:nvSpPr>
        <p:spPr>
          <a:xfrm>
            <a:off x="5452110" y="1385316"/>
            <a:ext cx="425196" cy="425196"/>
          </a:xfrm>
          <a:prstGeom prst="ellipse">
            <a:avLst/>
          </a:prstGeom>
          <a:solidFill>
            <a:srgbClr val="2B554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s-419" sz="1700" u="none" cap="none" strike="noStrike">
                <a:solidFill>
                  <a:srgbClr val="FFFFFF"/>
                </a:solidFill>
                <a:latin typeface="Quattrocento Sans"/>
                <a:ea typeface="Quattrocento Sans"/>
                <a:cs typeface="Quattrocento Sans"/>
                <a:sym typeface="Quattrocento Sans"/>
              </a:rPr>
              <a:t>3</a:t>
            </a:r>
            <a:endParaRPr sz="1100"/>
          </a:p>
        </p:txBody>
      </p:sp>
      <p:sp>
        <p:nvSpPr>
          <p:cNvPr id="417" name="Google Shape;417;p41"/>
          <p:cNvSpPr txBox="1"/>
          <p:nvPr/>
        </p:nvSpPr>
        <p:spPr>
          <a:xfrm>
            <a:off x="4800600" y="1933956"/>
            <a:ext cx="1728216" cy="308610"/>
          </a:xfrm>
          <a:prstGeom prst="rect">
            <a:avLst/>
          </a:prstGeom>
          <a:noFill/>
          <a:ln>
            <a:noFill/>
          </a:ln>
        </p:spPr>
        <p:txBody>
          <a:bodyPr anchorCtr="0" anchor="t" bIns="13700" lIns="34275" spcFirstLastPara="1" rIns="34275" wrap="square" tIns="13700">
            <a:spAutoFit/>
          </a:bodyPr>
          <a:lstStyle/>
          <a:p>
            <a:pPr indent="0" lvl="0" marL="0" marR="0" rtl="0" algn="ctr">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Medición</a:t>
            </a:r>
            <a:endParaRPr sz="1100"/>
          </a:p>
        </p:txBody>
      </p:sp>
      <p:sp>
        <p:nvSpPr>
          <p:cNvPr id="418" name="Google Shape;418;p41"/>
          <p:cNvSpPr txBox="1"/>
          <p:nvPr/>
        </p:nvSpPr>
        <p:spPr>
          <a:xfrm>
            <a:off x="4855464" y="2276856"/>
            <a:ext cx="1618488" cy="168021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Validamos contra el floor de margen de 22% y protegemos KVIs. Si no sostiene margen, no escala.</a:t>
            </a:r>
            <a:endParaRPr sz="1100"/>
          </a:p>
        </p:txBody>
      </p:sp>
      <p:sp>
        <p:nvSpPr>
          <p:cNvPr id="419" name="Google Shape;419;p41"/>
          <p:cNvSpPr/>
          <p:nvPr/>
        </p:nvSpPr>
        <p:spPr>
          <a:xfrm>
            <a:off x="6885432" y="1200150"/>
            <a:ext cx="1865376" cy="284607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20" name="Google Shape;420;p41"/>
          <p:cNvSpPr/>
          <p:nvPr/>
        </p:nvSpPr>
        <p:spPr>
          <a:xfrm>
            <a:off x="7605522" y="1385316"/>
            <a:ext cx="425196" cy="425196"/>
          </a:xfrm>
          <a:prstGeom prst="ellipse">
            <a:avLst/>
          </a:prstGeom>
          <a:solidFill>
            <a:srgbClr val="2B5545"/>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s-419" sz="1700" u="none" cap="none" strike="noStrike">
                <a:solidFill>
                  <a:srgbClr val="FFFFFF"/>
                </a:solidFill>
                <a:latin typeface="Quattrocento Sans"/>
                <a:ea typeface="Quattrocento Sans"/>
                <a:cs typeface="Quattrocento Sans"/>
                <a:sym typeface="Quattrocento Sans"/>
              </a:rPr>
              <a:t>4</a:t>
            </a:r>
            <a:endParaRPr sz="1100"/>
          </a:p>
        </p:txBody>
      </p:sp>
      <p:sp>
        <p:nvSpPr>
          <p:cNvPr id="421" name="Google Shape;421;p41"/>
          <p:cNvSpPr txBox="1"/>
          <p:nvPr/>
        </p:nvSpPr>
        <p:spPr>
          <a:xfrm>
            <a:off x="6954011" y="1933956"/>
            <a:ext cx="1728216" cy="308610"/>
          </a:xfrm>
          <a:prstGeom prst="rect">
            <a:avLst/>
          </a:prstGeom>
          <a:noFill/>
          <a:ln>
            <a:noFill/>
          </a:ln>
        </p:spPr>
        <p:txBody>
          <a:bodyPr anchorCtr="0" anchor="t" bIns="13700" lIns="34275" spcFirstLastPara="1" rIns="34275" wrap="square" tIns="13700">
            <a:spAutoFit/>
          </a:bodyPr>
          <a:lstStyle/>
          <a:p>
            <a:pPr indent="0" lvl="0" marL="0" marR="0" rtl="0" algn="ctr">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Escala</a:t>
            </a:r>
            <a:endParaRPr sz="1100"/>
          </a:p>
        </p:txBody>
      </p:sp>
      <p:sp>
        <p:nvSpPr>
          <p:cNvPr id="422" name="Google Shape;422;p41"/>
          <p:cNvSpPr txBox="1"/>
          <p:nvPr/>
        </p:nvSpPr>
        <p:spPr>
          <a:xfrm>
            <a:off x="7008875" y="2276856"/>
            <a:ext cx="1618488" cy="168021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Lo que funciona se replica en campañas recurrentes; lo que no, se ajusta o se retira. Así aprende el motor.</a:t>
            </a:r>
            <a:endParaRPr sz="1100"/>
          </a:p>
        </p:txBody>
      </p:sp>
      <p:sp>
        <p:nvSpPr>
          <p:cNvPr id="423" name="Google Shape;423;p41"/>
          <p:cNvSpPr txBox="1"/>
          <p:nvPr/>
        </p:nvSpPr>
        <p:spPr>
          <a:xfrm>
            <a:off x="2324862" y="1405889"/>
            <a:ext cx="27432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s-419" sz="1700" u="none" cap="none" strike="noStrike">
                <a:solidFill>
                  <a:srgbClr val="E0C233"/>
                </a:solidFill>
                <a:latin typeface="Quattrocento Sans"/>
                <a:ea typeface="Quattrocento Sans"/>
                <a:cs typeface="Quattrocento Sans"/>
                <a:sym typeface="Quattrocento Sans"/>
              </a:rPr>
              <a:t>→</a:t>
            </a:r>
            <a:endParaRPr sz="1100"/>
          </a:p>
        </p:txBody>
      </p:sp>
      <p:sp>
        <p:nvSpPr>
          <p:cNvPr id="424" name="Google Shape;424;p41"/>
          <p:cNvSpPr txBox="1"/>
          <p:nvPr/>
        </p:nvSpPr>
        <p:spPr>
          <a:xfrm>
            <a:off x="4478274" y="1405889"/>
            <a:ext cx="27432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s-419" sz="1700" u="none" cap="none" strike="noStrike">
                <a:solidFill>
                  <a:srgbClr val="E0C233"/>
                </a:solidFill>
                <a:latin typeface="Quattrocento Sans"/>
                <a:ea typeface="Quattrocento Sans"/>
                <a:cs typeface="Quattrocento Sans"/>
                <a:sym typeface="Quattrocento Sans"/>
              </a:rPr>
              <a:t>→</a:t>
            </a:r>
            <a:endParaRPr sz="1100"/>
          </a:p>
        </p:txBody>
      </p:sp>
      <p:sp>
        <p:nvSpPr>
          <p:cNvPr id="425" name="Google Shape;425;p41"/>
          <p:cNvSpPr txBox="1"/>
          <p:nvPr/>
        </p:nvSpPr>
        <p:spPr>
          <a:xfrm>
            <a:off x="6631686" y="1405889"/>
            <a:ext cx="274320" cy="377190"/>
          </a:xfrm>
          <a:prstGeom prst="rect">
            <a:avLst/>
          </a:prstGeom>
          <a:noFill/>
          <a:ln>
            <a:noFill/>
          </a:ln>
        </p:spPr>
        <p:txBody>
          <a:bodyPr anchorCtr="0" anchor="ctr" bIns="13700" lIns="34275" spcFirstLastPara="1" rIns="34275" wrap="square" tIns="13700">
            <a:spAutoFit/>
          </a:bodyPr>
          <a:lstStyle/>
          <a:p>
            <a:pPr indent="0" lvl="0" marL="0" marR="0" rtl="0" algn="ctr">
              <a:spcBef>
                <a:spcPts val="0"/>
              </a:spcBef>
              <a:spcAft>
                <a:spcPts val="0"/>
              </a:spcAft>
              <a:buNone/>
            </a:pPr>
            <a:r>
              <a:rPr b="1" i="0" lang="es-419" sz="1700" u="none" cap="none" strike="noStrike">
                <a:solidFill>
                  <a:srgbClr val="E0C233"/>
                </a:solidFill>
                <a:latin typeface="Quattrocento Sans"/>
                <a:ea typeface="Quattrocento Sans"/>
                <a:cs typeface="Quattrocento Sans"/>
                <a:sym typeface="Quattrocento Sans"/>
              </a:rPr>
              <a:t>→</a:t>
            </a:r>
            <a:endParaRPr sz="1100"/>
          </a:p>
        </p:txBody>
      </p:sp>
      <p:sp>
        <p:nvSpPr>
          <p:cNvPr id="426" name="Google Shape;426;p41"/>
          <p:cNvSpPr/>
          <p:nvPr/>
        </p:nvSpPr>
        <p:spPr>
          <a:xfrm>
            <a:off x="425196" y="4197096"/>
            <a:ext cx="8325612" cy="493776"/>
          </a:xfrm>
          <a:prstGeom prst="roundRect">
            <a:avLst>
              <a:gd fmla="val 16667" name="adj"/>
            </a:avLst>
          </a:prstGeom>
          <a:solidFill>
            <a:srgbClr val="2B5545"/>
          </a:solidFill>
          <a:ln>
            <a:noFill/>
          </a:ln>
        </p:spPr>
        <p:txBody>
          <a:bodyPr anchorCtr="0" anchor="ctr" bIns="0" lIns="68575" spcFirstLastPara="1" rIns="68575" wrap="square" tIns="0">
            <a:noAutofit/>
          </a:bodyPr>
          <a:lstStyle/>
          <a:p>
            <a:pPr indent="0" lvl="0" marL="0" marR="0" rtl="0" algn="ctr">
              <a:spcBef>
                <a:spcPts val="0"/>
              </a:spcBef>
              <a:spcAft>
                <a:spcPts val="0"/>
              </a:spcAft>
              <a:buNone/>
            </a:pPr>
            <a:r>
              <a:rPr b="0" i="0" lang="es-419" sz="1100" u="none" cap="none" strike="noStrike">
                <a:solidFill>
                  <a:srgbClr val="CFE3DA"/>
                </a:solidFill>
                <a:latin typeface="Quattrocento Sans"/>
                <a:ea typeface="Quattrocento Sans"/>
                <a:cs typeface="Quattrocento Sans"/>
                <a:sym typeface="Quattrocento Sans"/>
              </a:rPr>
              <a:t>El motor apunta a:   </a:t>
            </a:r>
            <a:r>
              <a:rPr b="1" i="0" lang="es-419" sz="1100" u="none" cap="none" strike="noStrike">
                <a:solidFill>
                  <a:srgbClr val="FFFFFF"/>
                </a:solidFill>
                <a:latin typeface="Quattrocento Sans"/>
                <a:ea typeface="Quattrocento Sans"/>
                <a:cs typeface="Quattrocento Sans"/>
                <a:sym typeface="Quattrocento Sans"/>
              </a:rPr>
              <a:t>más venta   ·   más Gross Profit   ·   mayor Pure Margin   ·   más competitivos</a:t>
            </a:r>
            <a:endParaRPr sz="1100"/>
          </a:p>
        </p:txBody>
      </p:sp>
      <p:sp>
        <p:nvSpPr>
          <p:cNvPr id="427" name="Google Shape;427;p41"/>
          <p:cNvSpPr txBox="1"/>
          <p:nvPr/>
        </p:nvSpPr>
        <p:spPr>
          <a:xfrm>
            <a:off x="342900" y="4834890"/>
            <a:ext cx="822960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2"/>
          <p:cNvSpPr txBox="1"/>
          <p:nvPr/>
        </p:nvSpPr>
        <p:spPr>
          <a:xfrm>
            <a:off x="411480" y="205740"/>
            <a:ext cx="8298180" cy="41148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800" u="none" cap="none" strike="noStrike">
                <a:solidFill>
                  <a:srgbClr val="2B5545"/>
                </a:solidFill>
                <a:latin typeface="Quattrocento Sans"/>
                <a:ea typeface="Quattrocento Sans"/>
                <a:cs typeface="Quattrocento Sans"/>
                <a:sym typeface="Quattrocento Sans"/>
              </a:rPr>
              <a:t>El playbook: ofertas dirigidas, sin descuento comercial</a:t>
            </a:r>
            <a:endParaRPr sz="1100"/>
          </a:p>
        </p:txBody>
      </p:sp>
      <p:sp>
        <p:nvSpPr>
          <p:cNvPr id="433" name="Google Shape;433;p42"/>
          <p:cNvSpPr txBox="1"/>
          <p:nvPr/>
        </p:nvSpPr>
        <p:spPr>
          <a:xfrm>
            <a:off x="411480" y="630936"/>
            <a:ext cx="8298180" cy="3429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1000" u="none" cap="none" strike="noStrike">
                <a:solidFill>
                  <a:srgbClr val="6B6B6B"/>
                </a:solidFill>
                <a:latin typeface="Quattrocento Sans"/>
                <a:ea typeface="Quattrocento Sans"/>
                <a:cs typeface="Quattrocento Sans"/>
                <a:sym typeface="Quattrocento Sans"/>
              </a:rPr>
              <a:t>Mecánicas que suben volumen y protegen margen, con reglas claras de elegibilidad</a:t>
            </a:r>
            <a:endParaRPr sz="1100"/>
          </a:p>
        </p:txBody>
      </p:sp>
      <p:sp>
        <p:nvSpPr>
          <p:cNvPr id="434" name="Google Shape;434;p42"/>
          <p:cNvSpPr/>
          <p:nvPr/>
        </p:nvSpPr>
        <p:spPr>
          <a:xfrm>
            <a:off x="425196" y="1213866"/>
            <a:ext cx="109728" cy="109728"/>
          </a:xfrm>
          <a:prstGeom prst="roundRect">
            <a:avLst>
              <a:gd fmla="val 16667" name="adj"/>
            </a:avLst>
          </a:prstGeom>
          <a:solidFill>
            <a:srgbClr val="E0C23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35" name="Google Shape;435;p42"/>
          <p:cNvSpPr txBox="1"/>
          <p:nvPr/>
        </p:nvSpPr>
        <p:spPr>
          <a:xfrm>
            <a:off x="603504" y="1179576"/>
            <a:ext cx="394335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Mecánicas permitidas</a:t>
            </a:r>
            <a:endParaRPr sz="1100"/>
          </a:p>
        </p:txBody>
      </p:sp>
      <p:sp>
        <p:nvSpPr>
          <p:cNvPr id="436" name="Google Shape;436;p42"/>
          <p:cNvSpPr txBox="1"/>
          <p:nvPr/>
        </p:nvSpPr>
        <p:spPr>
          <a:xfrm>
            <a:off x="603504" y="1426464"/>
            <a:ext cx="3943350" cy="37719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SPON · BNSP · BNSDP · 2x1 · 3x2 · 4x3 · 5x4 · 6x5</a:t>
            </a:r>
            <a:endParaRPr sz="1100"/>
          </a:p>
        </p:txBody>
      </p:sp>
      <p:sp>
        <p:nvSpPr>
          <p:cNvPr id="437" name="Google Shape;437;p42"/>
          <p:cNvSpPr/>
          <p:nvPr/>
        </p:nvSpPr>
        <p:spPr>
          <a:xfrm>
            <a:off x="425196" y="1940814"/>
            <a:ext cx="109728" cy="109728"/>
          </a:xfrm>
          <a:prstGeom prst="roundRect">
            <a:avLst>
              <a:gd fmla="val 16667" name="adj"/>
            </a:avLst>
          </a:prstGeom>
          <a:solidFill>
            <a:srgbClr val="E0C23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38" name="Google Shape;438;p42"/>
          <p:cNvSpPr txBox="1"/>
          <p:nvPr/>
        </p:nvSpPr>
        <p:spPr>
          <a:xfrm>
            <a:off x="603504" y="1906524"/>
            <a:ext cx="394335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Priorización</a:t>
            </a:r>
            <a:endParaRPr sz="1100"/>
          </a:p>
        </p:txBody>
      </p:sp>
      <p:sp>
        <p:nvSpPr>
          <p:cNvPr id="439" name="Google Shape;439;p42"/>
          <p:cNvSpPr txBox="1"/>
          <p:nvPr/>
        </p:nvSpPr>
        <p:spPr>
          <a:xfrm>
            <a:off x="603504" y="2153412"/>
            <a:ext cx="3943350" cy="37719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rotación   ×   elasticidad   ×   índice de precio de línea</a:t>
            </a:r>
            <a:endParaRPr sz="1100"/>
          </a:p>
        </p:txBody>
      </p:sp>
      <p:sp>
        <p:nvSpPr>
          <p:cNvPr id="440" name="Google Shape;440;p42"/>
          <p:cNvSpPr/>
          <p:nvPr/>
        </p:nvSpPr>
        <p:spPr>
          <a:xfrm>
            <a:off x="425196" y="2667762"/>
            <a:ext cx="109728" cy="109728"/>
          </a:xfrm>
          <a:prstGeom prst="roundRect">
            <a:avLst>
              <a:gd fmla="val 16667" name="adj"/>
            </a:avLst>
          </a:prstGeom>
          <a:solidFill>
            <a:srgbClr val="E0C23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41" name="Google Shape;441;p42"/>
          <p:cNvSpPr txBox="1"/>
          <p:nvPr/>
        </p:nvSpPr>
        <p:spPr>
          <a:xfrm>
            <a:off x="603504" y="2633472"/>
            <a:ext cx="394335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Reglas no negociables</a:t>
            </a:r>
            <a:endParaRPr sz="1100"/>
          </a:p>
        </p:txBody>
      </p:sp>
      <p:sp>
        <p:nvSpPr>
          <p:cNvPr id="442" name="Google Shape;442;p42"/>
          <p:cNvSpPr txBox="1"/>
          <p:nvPr/>
        </p:nvSpPr>
        <p:spPr>
          <a:xfrm>
            <a:off x="603504" y="2880360"/>
            <a:ext cx="3943350" cy="37719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floor de margen 22%    ·    proteger KVIs</a:t>
            </a:r>
            <a:endParaRPr sz="1100"/>
          </a:p>
        </p:txBody>
      </p:sp>
      <p:sp>
        <p:nvSpPr>
          <p:cNvPr id="443" name="Google Shape;443;p42"/>
          <p:cNvSpPr/>
          <p:nvPr/>
        </p:nvSpPr>
        <p:spPr>
          <a:xfrm>
            <a:off x="425196" y="3394710"/>
            <a:ext cx="109728" cy="109728"/>
          </a:xfrm>
          <a:prstGeom prst="roundRect">
            <a:avLst>
              <a:gd fmla="val 16667" name="adj"/>
            </a:avLst>
          </a:prstGeom>
          <a:solidFill>
            <a:srgbClr val="E0C23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44" name="Google Shape;444;p42"/>
          <p:cNvSpPr txBox="1"/>
          <p:nvPr/>
        </p:nvSpPr>
        <p:spPr>
          <a:xfrm>
            <a:off x="603504" y="3360420"/>
            <a:ext cx="394335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100" u="none" cap="none" strike="noStrike">
                <a:solidFill>
                  <a:srgbClr val="2B5545"/>
                </a:solidFill>
                <a:latin typeface="Quattrocento Sans"/>
                <a:ea typeface="Quattrocento Sans"/>
                <a:cs typeface="Quattrocento Sans"/>
                <a:sym typeface="Quattrocento Sans"/>
              </a:rPr>
              <a:t>Exclusiones</a:t>
            </a:r>
            <a:endParaRPr sz="1100"/>
          </a:p>
        </p:txBody>
      </p:sp>
      <p:sp>
        <p:nvSpPr>
          <p:cNvPr id="445" name="Google Shape;445;p42"/>
          <p:cNvSpPr txBox="1"/>
          <p:nvPr/>
        </p:nvSpPr>
        <p:spPr>
          <a:xfrm>
            <a:off x="603504" y="3607308"/>
            <a:ext cx="3943350" cy="37719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SKUs con promo activa   ·   marca propia   ·   blacklist</a:t>
            </a:r>
            <a:endParaRPr sz="1100"/>
          </a:p>
        </p:txBody>
      </p:sp>
      <p:sp>
        <p:nvSpPr>
          <p:cNvPr id="446" name="Google Shape;446;p42"/>
          <p:cNvSpPr txBox="1"/>
          <p:nvPr/>
        </p:nvSpPr>
        <p:spPr>
          <a:xfrm>
            <a:off x="4766310" y="1110996"/>
            <a:ext cx="394335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000" u="none" cap="none" strike="noStrike">
                <a:solidFill>
                  <a:srgbClr val="2B5545"/>
                </a:solidFill>
                <a:latin typeface="Quattrocento Sans"/>
                <a:ea typeface="Quattrocento Sans"/>
                <a:cs typeface="Quattrocento Sans"/>
                <a:sym typeface="Quattrocento Sans"/>
              </a:rPr>
              <a:t>¿Qué margen base aguanta el floor de 22%?</a:t>
            </a:r>
            <a:endParaRPr sz="1100"/>
          </a:p>
        </p:txBody>
      </p:sp>
      <p:graphicFrame>
        <p:nvGraphicFramePr>
          <p:cNvPr id="447" name="Google Shape;447;p42"/>
          <p:cNvGraphicFramePr/>
          <p:nvPr/>
        </p:nvGraphicFramePr>
        <p:xfrm>
          <a:off x="4766310" y="1405889"/>
          <a:ext cx="3000000" cy="3000000"/>
        </p:xfrm>
        <a:graphic>
          <a:graphicData uri="http://schemas.openxmlformats.org/drawingml/2006/table">
            <a:tbl>
              <a:tblPr>
                <a:noFill/>
                <a:tableStyleId>{3488FACD-A167-4CAE-B911-FD28C32728F3}</a:tableStyleId>
              </a:tblPr>
              <a:tblGrid>
                <a:gridCol w="1028700"/>
                <a:gridCol w="1405875"/>
                <a:gridCol w="1405875"/>
              </a:tblGrid>
              <a:tr h="308600">
                <a:tc>
                  <a:txBody>
                    <a:bodyPr/>
                    <a:lstStyle/>
                    <a:p>
                      <a:pPr indent="0" lvl="0" marL="0" marR="0" rtl="0" algn="l">
                        <a:spcBef>
                          <a:spcPts val="0"/>
                        </a:spcBef>
                        <a:spcAft>
                          <a:spcPts val="0"/>
                        </a:spcAft>
                        <a:buNone/>
                      </a:pPr>
                      <a:r>
                        <a:rPr b="1" lang="es-419" sz="900" u="none" cap="none" strike="noStrike">
                          <a:solidFill>
                            <a:srgbClr val="FFFFFF"/>
                          </a:solidFill>
                          <a:latin typeface="Quattrocento Sans"/>
                          <a:ea typeface="Quattrocento Sans"/>
                          <a:cs typeface="Quattrocento Sans"/>
                          <a:sym typeface="Quattrocento Sans"/>
                        </a:rPr>
                        <a:t>Mecánica</a:t>
                      </a:r>
                      <a:endParaRPr sz="1100"/>
                    </a:p>
                  </a:txBody>
                  <a:tcPr marT="13725" marB="13725" marR="54875" marL="82300" anchor="ctr">
                    <a:solidFill>
                      <a:srgbClr val="2B5545"/>
                    </a:solidFill>
                  </a:tcPr>
                </a:tc>
                <a:tc>
                  <a:txBody>
                    <a:bodyPr/>
                    <a:lstStyle/>
                    <a:p>
                      <a:pPr indent="0" lvl="0" marL="0" marR="0" rtl="0" algn="ctr">
                        <a:spcBef>
                          <a:spcPts val="0"/>
                        </a:spcBef>
                        <a:spcAft>
                          <a:spcPts val="0"/>
                        </a:spcAft>
                        <a:buNone/>
                      </a:pPr>
                      <a:r>
                        <a:rPr b="1" lang="es-419" sz="900" u="none" cap="none" strike="noStrike">
                          <a:solidFill>
                            <a:srgbClr val="FFFFFF"/>
                          </a:solidFill>
                          <a:latin typeface="Quattrocento Sans"/>
                          <a:ea typeface="Quattrocento Sans"/>
                          <a:cs typeface="Quattrocento Sans"/>
                          <a:sym typeface="Quattrocento Sans"/>
                        </a:rPr>
                        <a:t>Desc. efectivo</a:t>
                      </a:r>
                      <a:endParaRPr sz="1100"/>
                    </a:p>
                  </a:txBody>
                  <a:tcPr marT="13725" marB="13725" marR="54875" marL="82300" anchor="ctr">
                    <a:solidFill>
                      <a:srgbClr val="2B5545"/>
                    </a:solidFill>
                  </a:tcPr>
                </a:tc>
                <a:tc>
                  <a:txBody>
                    <a:bodyPr/>
                    <a:lstStyle/>
                    <a:p>
                      <a:pPr indent="0" lvl="0" marL="0" marR="0" rtl="0" algn="ctr">
                        <a:spcBef>
                          <a:spcPts val="0"/>
                        </a:spcBef>
                        <a:spcAft>
                          <a:spcPts val="0"/>
                        </a:spcAft>
                        <a:buNone/>
                      </a:pPr>
                      <a:r>
                        <a:rPr b="1" lang="es-419" sz="900" u="none" cap="none" strike="noStrike">
                          <a:solidFill>
                            <a:srgbClr val="FFFFFF"/>
                          </a:solidFill>
                          <a:latin typeface="Quattrocento Sans"/>
                          <a:ea typeface="Quattrocento Sans"/>
                          <a:cs typeface="Quattrocento Sans"/>
                          <a:sym typeface="Quattrocento Sans"/>
                        </a:rPr>
                        <a:t>Margen base</a:t>
                      </a:r>
                      <a:endParaRPr sz="1100"/>
                    </a:p>
                  </a:txBody>
                  <a:tcPr marT="13725" marB="13725" marR="54875" marL="82300" anchor="ctr">
                    <a:solidFill>
                      <a:srgbClr val="2B5545"/>
                    </a:solidFill>
                  </a:tcPr>
                </a:tc>
              </a:tr>
              <a:tr h="288025">
                <a:tc>
                  <a:txBody>
                    <a:bodyPr/>
                    <a:lstStyle/>
                    <a:p>
                      <a:pPr indent="0" lvl="0" marL="0" marR="0" rtl="0" algn="l">
                        <a:spcBef>
                          <a:spcPts val="0"/>
                        </a:spcBef>
                        <a:spcAft>
                          <a:spcPts val="0"/>
                        </a:spcAft>
                        <a:buNone/>
                      </a:pPr>
                      <a:r>
                        <a:rPr b="1" lang="es-419" sz="1000" u="none" cap="none" strike="noStrike">
                          <a:solidFill>
                            <a:srgbClr val="4A4A4A"/>
                          </a:solidFill>
                          <a:latin typeface="Quattrocento Sans"/>
                          <a:ea typeface="Quattrocento Sans"/>
                          <a:cs typeface="Quattrocento Sans"/>
                          <a:sym typeface="Quattrocento Sans"/>
                        </a:rPr>
                        <a:t>2x1</a:t>
                      </a:r>
                      <a:endParaRPr sz="1100"/>
                    </a:p>
                  </a:txBody>
                  <a:tcPr marT="13725" marB="13725" marR="54875" marL="82300" anchor="ctr">
                    <a:solidFill>
                      <a:srgbClr val="FFFFFF"/>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50%</a:t>
                      </a:r>
                      <a:endParaRPr sz="1100"/>
                    </a:p>
                  </a:txBody>
                  <a:tcPr marT="13725" marB="13725" marR="54875" marL="82300" anchor="ctr">
                    <a:solidFill>
                      <a:srgbClr val="FFFFFF"/>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 61%</a:t>
                      </a:r>
                      <a:endParaRPr sz="1100"/>
                    </a:p>
                  </a:txBody>
                  <a:tcPr marT="13725" marB="13725" marR="54875" marL="82300" anchor="ctr">
                    <a:solidFill>
                      <a:srgbClr val="FFFFFF"/>
                    </a:solidFill>
                  </a:tcPr>
                </a:tc>
              </a:tr>
              <a:tr h="288025">
                <a:tc>
                  <a:txBody>
                    <a:bodyPr/>
                    <a:lstStyle/>
                    <a:p>
                      <a:pPr indent="0" lvl="0" marL="0" marR="0" rtl="0" algn="l">
                        <a:spcBef>
                          <a:spcPts val="0"/>
                        </a:spcBef>
                        <a:spcAft>
                          <a:spcPts val="0"/>
                        </a:spcAft>
                        <a:buNone/>
                      </a:pPr>
                      <a:r>
                        <a:rPr b="1" lang="es-419" sz="1000" u="none" cap="none" strike="noStrike">
                          <a:solidFill>
                            <a:srgbClr val="4A4A4A"/>
                          </a:solidFill>
                          <a:latin typeface="Quattrocento Sans"/>
                          <a:ea typeface="Quattrocento Sans"/>
                          <a:cs typeface="Quattrocento Sans"/>
                          <a:sym typeface="Quattrocento Sans"/>
                        </a:rPr>
                        <a:t>3x2</a:t>
                      </a:r>
                      <a:endParaRPr sz="1100"/>
                    </a:p>
                  </a:txBody>
                  <a:tcPr marT="13725" marB="13725" marR="54875" marL="82300" anchor="ctr">
                    <a:solidFill>
                      <a:srgbClr val="F4F8F6"/>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33%</a:t>
                      </a:r>
                      <a:endParaRPr sz="1100"/>
                    </a:p>
                  </a:txBody>
                  <a:tcPr marT="13725" marB="13725" marR="54875" marL="82300" anchor="ctr">
                    <a:solidFill>
                      <a:srgbClr val="F4F8F6"/>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 48%</a:t>
                      </a:r>
                      <a:endParaRPr sz="1100"/>
                    </a:p>
                  </a:txBody>
                  <a:tcPr marT="13725" marB="13725" marR="54875" marL="82300" anchor="ctr">
                    <a:solidFill>
                      <a:srgbClr val="F4F8F6"/>
                    </a:solidFill>
                  </a:tcPr>
                </a:tc>
              </a:tr>
              <a:tr h="288025">
                <a:tc>
                  <a:txBody>
                    <a:bodyPr/>
                    <a:lstStyle/>
                    <a:p>
                      <a:pPr indent="0" lvl="0" marL="0" marR="0" rtl="0" algn="l">
                        <a:spcBef>
                          <a:spcPts val="0"/>
                        </a:spcBef>
                        <a:spcAft>
                          <a:spcPts val="0"/>
                        </a:spcAft>
                        <a:buNone/>
                      </a:pPr>
                      <a:r>
                        <a:rPr b="1" lang="es-419" sz="1000" u="none" cap="none" strike="noStrike">
                          <a:solidFill>
                            <a:srgbClr val="4A4A4A"/>
                          </a:solidFill>
                          <a:latin typeface="Quattrocento Sans"/>
                          <a:ea typeface="Quattrocento Sans"/>
                          <a:cs typeface="Quattrocento Sans"/>
                          <a:sym typeface="Quattrocento Sans"/>
                        </a:rPr>
                        <a:t>4x3</a:t>
                      </a:r>
                      <a:endParaRPr sz="1100"/>
                    </a:p>
                  </a:txBody>
                  <a:tcPr marT="13725" marB="13725" marR="54875" marL="82300" anchor="ctr">
                    <a:solidFill>
                      <a:srgbClr val="FFFFFF"/>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25%</a:t>
                      </a:r>
                      <a:endParaRPr sz="1100"/>
                    </a:p>
                  </a:txBody>
                  <a:tcPr marT="13725" marB="13725" marR="54875" marL="82300" anchor="ctr">
                    <a:solidFill>
                      <a:srgbClr val="FFFFFF"/>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 42%</a:t>
                      </a:r>
                      <a:endParaRPr sz="1100"/>
                    </a:p>
                  </a:txBody>
                  <a:tcPr marT="13725" marB="13725" marR="54875" marL="82300" anchor="ctr">
                    <a:solidFill>
                      <a:srgbClr val="FFFFFF"/>
                    </a:solidFill>
                  </a:tcPr>
                </a:tc>
              </a:tr>
              <a:tr h="288025">
                <a:tc>
                  <a:txBody>
                    <a:bodyPr/>
                    <a:lstStyle/>
                    <a:p>
                      <a:pPr indent="0" lvl="0" marL="0" marR="0" rtl="0" algn="l">
                        <a:spcBef>
                          <a:spcPts val="0"/>
                        </a:spcBef>
                        <a:spcAft>
                          <a:spcPts val="0"/>
                        </a:spcAft>
                        <a:buNone/>
                      </a:pPr>
                      <a:r>
                        <a:rPr b="1" lang="es-419" sz="1000" u="none" cap="none" strike="noStrike">
                          <a:solidFill>
                            <a:srgbClr val="4A4A4A"/>
                          </a:solidFill>
                          <a:latin typeface="Quattrocento Sans"/>
                          <a:ea typeface="Quattrocento Sans"/>
                          <a:cs typeface="Quattrocento Sans"/>
                          <a:sym typeface="Quattrocento Sans"/>
                        </a:rPr>
                        <a:t>5x4</a:t>
                      </a:r>
                      <a:endParaRPr sz="1100"/>
                    </a:p>
                  </a:txBody>
                  <a:tcPr marT="13725" marB="13725" marR="54875" marL="82300" anchor="ctr">
                    <a:solidFill>
                      <a:srgbClr val="F4F8F6"/>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20%</a:t>
                      </a:r>
                      <a:endParaRPr sz="1100"/>
                    </a:p>
                  </a:txBody>
                  <a:tcPr marT="13725" marB="13725" marR="54875" marL="82300" anchor="ctr">
                    <a:solidFill>
                      <a:srgbClr val="F4F8F6"/>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 38%</a:t>
                      </a:r>
                      <a:endParaRPr sz="1100"/>
                    </a:p>
                  </a:txBody>
                  <a:tcPr marT="13725" marB="13725" marR="54875" marL="82300" anchor="ctr">
                    <a:solidFill>
                      <a:srgbClr val="F4F8F6"/>
                    </a:solidFill>
                  </a:tcPr>
                </a:tc>
              </a:tr>
              <a:tr h="288025">
                <a:tc>
                  <a:txBody>
                    <a:bodyPr/>
                    <a:lstStyle/>
                    <a:p>
                      <a:pPr indent="0" lvl="0" marL="0" marR="0" rtl="0" algn="l">
                        <a:spcBef>
                          <a:spcPts val="0"/>
                        </a:spcBef>
                        <a:spcAft>
                          <a:spcPts val="0"/>
                        </a:spcAft>
                        <a:buNone/>
                      </a:pPr>
                      <a:r>
                        <a:rPr b="1" lang="es-419" sz="1000" u="none" cap="none" strike="noStrike">
                          <a:solidFill>
                            <a:srgbClr val="4A4A4A"/>
                          </a:solidFill>
                          <a:latin typeface="Quattrocento Sans"/>
                          <a:ea typeface="Quattrocento Sans"/>
                          <a:cs typeface="Quattrocento Sans"/>
                          <a:sym typeface="Quattrocento Sans"/>
                        </a:rPr>
                        <a:t>6x5</a:t>
                      </a:r>
                      <a:endParaRPr sz="1100"/>
                    </a:p>
                  </a:txBody>
                  <a:tcPr marT="13725" marB="13725" marR="54875" marL="82300" anchor="ctr">
                    <a:solidFill>
                      <a:srgbClr val="FFFFFF"/>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17%</a:t>
                      </a:r>
                      <a:endParaRPr sz="1100"/>
                    </a:p>
                  </a:txBody>
                  <a:tcPr marT="13725" marB="13725" marR="54875" marL="82300" anchor="ctr">
                    <a:solidFill>
                      <a:srgbClr val="FFFFFF"/>
                    </a:solidFill>
                  </a:tcPr>
                </a:tc>
                <a:tc>
                  <a:txBody>
                    <a:bodyPr/>
                    <a:lstStyle/>
                    <a:p>
                      <a:pPr indent="0" lvl="0" marL="0" marR="0" rtl="0" algn="ctr">
                        <a:spcBef>
                          <a:spcPts val="0"/>
                        </a:spcBef>
                        <a:spcAft>
                          <a:spcPts val="0"/>
                        </a:spcAft>
                        <a:buNone/>
                      </a:pPr>
                      <a:r>
                        <a:rPr b="0" lang="es-419" sz="1000" u="none" cap="none" strike="noStrike">
                          <a:solidFill>
                            <a:srgbClr val="4A4A4A"/>
                          </a:solidFill>
                          <a:latin typeface="Quattrocento Sans"/>
                          <a:ea typeface="Quattrocento Sans"/>
                          <a:cs typeface="Quattrocento Sans"/>
                          <a:sym typeface="Quattrocento Sans"/>
                        </a:rPr>
                        <a:t>≥ 35%</a:t>
                      </a:r>
                      <a:endParaRPr sz="1100"/>
                    </a:p>
                  </a:txBody>
                  <a:tcPr marT="13725" marB="13725" marR="54875" marL="82300" anchor="ctr">
                    <a:solidFill>
                      <a:srgbClr val="FFFFFF"/>
                    </a:solidFill>
                  </a:tcPr>
                </a:tc>
              </a:tr>
            </a:tbl>
          </a:graphicData>
        </a:graphic>
      </p:graphicFrame>
      <p:sp>
        <p:nvSpPr>
          <p:cNvPr id="448" name="Google Shape;448;p42"/>
          <p:cNvSpPr txBox="1"/>
          <p:nvPr/>
        </p:nvSpPr>
        <p:spPr>
          <a:xfrm>
            <a:off x="4766310" y="3278124"/>
            <a:ext cx="3840480" cy="41148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1" lang="es-419" sz="800" u="none" cap="none" strike="noStrike">
                <a:solidFill>
                  <a:srgbClr val="999999"/>
                </a:solidFill>
                <a:latin typeface="Quattrocento Sans"/>
                <a:ea typeface="Quattrocento Sans"/>
                <a:cs typeface="Quattrocento Sans"/>
                <a:sym typeface="Quattrocento Sans"/>
              </a:rPr>
              <a:t>Descuento efectivo = N/M. Mínimo de margen base para no bajar de 22% de PM.</a:t>
            </a:r>
            <a:endParaRPr sz="1100"/>
          </a:p>
        </p:txBody>
      </p:sp>
      <p:sp>
        <p:nvSpPr>
          <p:cNvPr id="449" name="Google Shape;449;p42"/>
          <p:cNvSpPr txBox="1"/>
          <p:nvPr/>
        </p:nvSpPr>
        <p:spPr>
          <a:xfrm>
            <a:off x="342900" y="4834890"/>
            <a:ext cx="8229600" cy="24003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3"/>
          <p:cNvSpPr txBox="1"/>
          <p:nvPr/>
        </p:nvSpPr>
        <p:spPr>
          <a:xfrm>
            <a:off x="480060" y="308610"/>
            <a:ext cx="7886700"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1800" u="none" cap="none" strike="noStrike">
                <a:solidFill>
                  <a:srgbClr val="2B5545"/>
                </a:solidFill>
                <a:latin typeface="Quattrocento Sans"/>
                <a:ea typeface="Quattrocento Sans"/>
                <a:cs typeface="Quattrocento Sans"/>
                <a:sym typeface="Quattrocento Sans"/>
              </a:rPr>
              <a:t>Hacia dónde va Pricing: 4 objetivos</a:t>
            </a:r>
            <a:endParaRPr sz="1100"/>
          </a:p>
        </p:txBody>
      </p:sp>
      <p:sp>
        <p:nvSpPr>
          <p:cNvPr id="455" name="Google Shape;455;p43"/>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  ·  01 jul 2026</a:t>
            </a:r>
            <a:endParaRPr sz="1100"/>
          </a:p>
        </p:txBody>
      </p:sp>
      <p:sp>
        <p:nvSpPr>
          <p:cNvPr id="456" name="Google Shape;456;p43"/>
          <p:cNvSpPr/>
          <p:nvPr/>
        </p:nvSpPr>
        <p:spPr>
          <a:xfrm>
            <a:off x="425196" y="925830"/>
            <a:ext cx="4080510" cy="130302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57" name="Google Shape;457;p43"/>
          <p:cNvSpPr txBox="1"/>
          <p:nvPr/>
        </p:nvSpPr>
        <p:spPr>
          <a:xfrm>
            <a:off x="617220" y="1035558"/>
            <a:ext cx="3696462" cy="3429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300" u="none" cap="none" strike="noStrike">
                <a:solidFill>
                  <a:srgbClr val="2B5545"/>
                </a:solidFill>
                <a:latin typeface="Quattrocento Sans"/>
                <a:ea typeface="Quattrocento Sans"/>
                <a:cs typeface="Quattrocento Sans"/>
                <a:sym typeface="Quattrocento Sans"/>
              </a:rPr>
              <a:t>Más venta</a:t>
            </a:r>
            <a:endParaRPr sz="1100"/>
          </a:p>
        </p:txBody>
      </p:sp>
      <p:sp>
        <p:nvSpPr>
          <p:cNvPr id="458" name="Google Shape;458;p43"/>
          <p:cNvSpPr txBox="1"/>
          <p:nvPr/>
        </p:nvSpPr>
        <p:spPr>
          <a:xfrm>
            <a:off x="617220" y="1419606"/>
            <a:ext cx="3696462" cy="720089"/>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Ofertas dirigidas en SKUs elásticos y de alta rotación, sin canibalizar margen.</a:t>
            </a:r>
            <a:endParaRPr sz="1100"/>
          </a:p>
        </p:txBody>
      </p:sp>
      <p:sp>
        <p:nvSpPr>
          <p:cNvPr id="459" name="Google Shape;459;p43"/>
          <p:cNvSpPr/>
          <p:nvPr/>
        </p:nvSpPr>
        <p:spPr>
          <a:xfrm>
            <a:off x="4636008" y="925830"/>
            <a:ext cx="4080510" cy="130302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60" name="Google Shape;460;p43"/>
          <p:cNvSpPr txBox="1"/>
          <p:nvPr/>
        </p:nvSpPr>
        <p:spPr>
          <a:xfrm>
            <a:off x="4828032" y="1035558"/>
            <a:ext cx="3696462" cy="3429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300" u="none" cap="none" strike="noStrike">
                <a:solidFill>
                  <a:srgbClr val="2B5545"/>
                </a:solidFill>
                <a:latin typeface="Quattrocento Sans"/>
                <a:ea typeface="Quattrocento Sans"/>
                <a:cs typeface="Quattrocento Sans"/>
                <a:sym typeface="Quattrocento Sans"/>
              </a:rPr>
              <a:t>Más Gross Profit</a:t>
            </a:r>
            <a:endParaRPr sz="1100"/>
          </a:p>
        </p:txBody>
      </p:sp>
      <p:sp>
        <p:nvSpPr>
          <p:cNvPr id="461" name="Google Shape;461;p43"/>
          <p:cNvSpPr txBox="1"/>
          <p:nvPr/>
        </p:nvSpPr>
        <p:spPr>
          <a:xfrm>
            <a:off x="4828032" y="1419606"/>
            <a:ext cx="3696462" cy="720089"/>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Volumen incremental con el margen protegido por el floor de 22%.</a:t>
            </a:r>
            <a:endParaRPr sz="1100"/>
          </a:p>
        </p:txBody>
      </p:sp>
      <p:sp>
        <p:nvSpPr>
          <p:cNvPr id="462" name="Google Shape;462;p43"/>
          <p:cNvSpPr/>
          <p:nvPr/>
        </p:nvSpPr>
        <p:spPr>
          <a:xfrm>
            <a:off x="425196" y="2366010"/>
            <a:ext cx="4080510" cy="130302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63" name="Google Shape;463;p43"/>
          <p:cNvSpPr txBox="1"/>
          <p:nvPr/>
        </p:nvSpPr>
        <p:spPr>
          <a:xfrm>
            <a:off x="617220" y="2475738"/>
            <a:ext cx="3696462" cy="3429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300" u="none" cap="none" strike="noStrike">
                <a:solidFill>
                  <a:srgbClr val="2B5545"/>
                </a:solidFill>
                <a:latin typeface="Quattrocento Sans"/>
                <a:ea typeface="Quattrocento Sans"/>
                <a:cs typeface="Quattrocento Sans"/>
                <a:sym typeface="Quattrocento Sans"/>
              </a:rPr>
              <a:t>Mayor Pure Margin</a:t>
            </a:r>
            <a:endParaRPr sz="1100"/>
          </a:p>
        </p:txBody>
      </p:sp>
      <p:sp>
        <p:nvSpPr>
          <p:cNvPr id="464" name="Google Shape;464;p43"/>
          <p:cNvSpPr txBox="1"/>
          <p:nvPr/>
        </p:nvSpPr>
        <p:spPr>
          <a:xfrm>
            <a:off x="617220" y="2859786"/>
            <a:ext cx="3696462" cy="720089"/>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Reemplazar el descuento genérico (PM negativo) por mecánicas dirigidas (PM positivo).</a:t>
            </a:r>
            <a:endParaRPr sz="1100"/>
          </a:p>
        </p:txBody>
      </p:sp>
      <p:sp>
        <p:nvSpPr>
          <p:cNvPr id="465" name="Google Shape;465;p43"/>
          <p:cNvSpPr/>
          <p:nvPr/>
        </p:nvSpPr>
        <p:spPr>
          <a:xfrm>
            <a:off x="4636008" y="2366010"/>
            <a:ext cx="4080510" cy="1303020"/>
          </a:xfrm>
          <a:prstGeom prst="roundRect">
            <a:avLst>
              <a:gd fmla="val 16667" name="adj"/>
            </a:avLst>
          </a:prstGeom>
          <a:solidFill>
            <a:srgbClr val="EFF4F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466" name="Google Shape;466;p43"/>
          <p:cNvSpPr txBox="1"/>
          <p:nvPr/>
        </p:nvSpPr>
        <p:spPr>
          <a:xfrm>
            <a:off x="4828032" y="2475738"/>
            <a:ext cx="3696462" cy="342900"/>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1" i="0" lang="es-419" sz="1300" u="none" cap="none" strike="noStrike">
                <a:solidFill>
                  <a:srgbClr val="2B5545"/>
                </a:solidFill>
                <a:latin typeface="Quattrocento Sans"/>
                <a:ea typeface="Quattrocento Sans"/>
                <a:cs typeface="Quattrocento Sans"/>
                <a:sym typeface="Quattrocento Sans"/>
              </a:rPr>
              <a:t>Más competitivos</a:t>
            </a:r>
            <a:endParaRPr sz="1100"/>
          </a:p>
        </p:txBody>
      </p:sp>
      <p:sp>
        <p:nvSpPr>
          <p:cNvPr id="467" name="Google Shape;467;p43"/>
          <p:cNvSpPr txBox="1"/>
          <p:nvPr/>
        </p:nvSpPr>
        <p:spPr>
          <a:xfrm>
            <a:off x="4828032" y="2859786"/>
            <a:ext cx="3696462" cy="720089"/>
          </a:xfrm>
          <a:prstGeom prst="rect">
            <a:avLst/>
          </a:prstGeom>
          <a:noFill/>
          <a:ln>
            <a:noFill/>
          </a:ln>
        </p:spPr>
        <p:txBody>
          <a:bodyPr anchorCtr="0" anchor="t" bIns="13700" lIns="34275" spcFirstLastPara="1" rIns="34275" wrap="square" tIns="13700">
            <a:spAutoFit/>
          </a:bodyPr>
          <a:lstStyle/>
          <a:p>
            <a:pPr indent="0" lvl="0" marL="0" marR="0" rtl="0" algn="l">
              <a:spcBef>
                <a:spcPts val="0"/>
              </a:spcBef>
              <a:spcAft>
                <a:spcPts val="0"/>
              </a:spcAft>
              <a:buNone/>
            </a:pPr>
            <a:r>
              <a:rPr b="0" i="0" lang="es-419" sz="900" u="none" cap="none" strike="noStrike">
                <a:solidFill>
                  <a:srgbClr val="4A4A4A"/>
                </a:solidFill>
                <a:latin typeface="Quattrocento Sans"/>
                <a:ea typeface="Quattrocento Sans"/>
                <a:cs typeface="Quattrocento Sans"/>
                <a:sym typeface="Quattrocento Sans"/>
              </a:rPr>
              <a:t>Cerrar la brecha de precio final (hoy 36.0% de SKUs más baratos) sin descuento plano.</a:t>
            </a:r>
            <a:endParaRPr sz="1100"/>
          </a:p>
        </p:txBody>
      </p:sp>
      <p:sp>
        <p:nvSpPr>
          <p:cNvPr id="468" name="Google Shape;468;p43"/>
          <p:cNvSpPr txBox="1"/>
          <p:nvPr/>
        </p:nvSpPr>
        <p:spPr>
          <a:xfrm>
            <a:off x="425196" y="3771900"/>
            <a:ext cx="8298180" cy="822960"/>
          </a:xfrm>
          <a:prstGeom prst="rect">
            <a:avLst/>
          </a:prstGeom>
          <a:noFill/>
          <a:ln>
            <a:noFill/>
          </a:ln>
        </p:spPr>
        <p:txBody>
          <a:bodyPr anchorCtr="0" anchor="t" bIns="13700" lIns="34275" spcFirstLastPara="1" rIns="34275" wrap="square" tIns="13700">
            <a:spAutoFit/>
          </a:bodyPr>
          <a:lstStyle/>
          <a:p>
            <a:pPr indent="0" lvl="0" marL="0" marR="0" rtl="0" algn="l">
              <a:lnSpc>
                <a:spcPct val="115000"/>
              </a:lnSpc>
              <a:spcBef>
                <a:spcPts val="0"/>
              </a:spcBef>
              <a:spcAft>
                <a:spcPts val="0"/>
              </a:spcAft>
              <a:buNone/>
            </a:pPr>
            <a:r>
              <a:rPr b="1" i="0" lang="es-419" sz="900" u="none" cap="none" strike="noStrike">
                <a:solidFill>
                  <a:srgbClr val="2B5545"/>
                </a:solidFill>
                <a:latin typeface="Quattrocento Sans"/>
                <a:ea typeface="Quattrocento Sans"/>
                <a:cs typeface="Quattrocento Sans"/>
                <a:sym typeface="Quattrocento Sans"/>
              </a:rPr>
              <a:t>Próximos pasos:  </a:t>
            </a:r>
            <a:r>
              <a:rPr b="0" i="0" lang="es-419" sz="900" u="none" cap="none" strike="noStrike">
                <a:solidFill>
                  <a:srgbClr val="4A4A4A"/>
                </a:solidFill>
                <a:latin typeface="Quattrocento Sans"/>
                <a:ea typeface="Quattrocento Sans"/>
                <a:cs typeface="Quattrocento Sans"/>
                <a:sym typeface="Quattrocento Sans"/>
              </a:rPr>
              <a:t>aplicar el criterio de la estrategia FDS (elasticidad + floor) a las campañas recurrentes · revisar por departamento dónde se concentra el PM% negativo · iterar el playbook por hipótesis, semana a semana.</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B5545"/>
        </a:solidFill>
      </p:bgPr>
    </p:bg>
    <p:spTree>
      <p:nvGrpSpPr>
        <p:cNvPr id="472" name="Shape 472"/>
        <p:cNvGrpSpPr/>
        <p:nvPr/>
      </p:nvGrpSpPr>
      <p:grpSpPr>
        <a:xfrm>
          <a:off x="0" y="0"/>
          <a:ext cx="0" cy="0"/>
          <a:chOff x="0" y="0"/>
          <a:chExt cx="0" cy="0"/>
        </a:xfrm>
      </p:grpSpPr>
      <p:sp>
        <p:nvSpPr>
          <p:cNvPr id="473" name="Google Shape;473;p44"/>
          <p:cNvSpPr txBox="1"/>
          <p:nvPr/>
        </p:nvSpPr>
        <p:spPr>
          <a:xfrm>
            <a:off x="480060" y="308610"/>
            <a:ext cx="7886700"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s-419" sz="2100" u="none" cap="none" strike="noStrike">
                <a:solidFill>
                  <a:srgbClr val="FFFFFF"/>
                </a:solidFill>
                <a:latin typeface="Quattrocento Sans"/>
                <a:ea typeface="Quattrocento Sans"/>
                <a:cs typeface="Quattrocento Sans"/>
                <a:sym typeface="Quattrocento Sans"/>
              </a:rPr>
              <a:t>Conclusiones y próximos pasos</a:t>
            </a:r>
            <a:endParaRPr sz="1100"/>
          </a:p>
        </p:txBody>
      </p:sp>
      <p:sp>
        <p:nvSpPr>
          <p:cNvPr id="474" name="Google Shape;474;p44"/>
          <p:cNvSpPr txBox="1"/>
          <p:nvPr/>
        </p:nvSpPr>
        <p:spPr>
          <a:xfrm>
            <a:off x="548640" y="960120"/>
            <a:ext cx="7886700" cy="3566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1300" u="none" cap="none" strike="noStrike">
                <a:solidFill>
                  <a:srgbClr val="FFFFFF"/>
                </a:solidFill>
                <a:latin typeface="Quattrocento Sans"/>
                <a:ea typeface="Quattrocento Sans"/>
                <a:cs typeface="Quattrocento Sans"/>
                <a:sym typeface="Quattrocento Sans"/>
              </a:rPr>
              <a:t>•  Junio cerró con GP% 22.61% y PM% 17.34% (-0.92pts y -1.01pts vs mayo); la baja se concentró en la última semana del mes (22-28 jun).</a:t>
            </a:r>
            <a:endParaRPr sz="1100"/>
          </a:p>
          <a:p>
            <a:pPr indent="0" lvl="0" marL="0" marR="0" rtl="0" algn="l">
              <a:spcBef>
                <a:spcPts val="700"/>
              </a:spcBef>
              <a:spcAft>
                <a:spcPts val="0"/>
              </a:spcAft>
              <a:buNone/>
            </a:pPr>
            <a:r>
              <a:rPr b="0" i="0" lang="es-419" sz="1300" u="none" cap="none" strike="noStrike">
                <a:solidFill>
                  <a:srgbClr val="FFFFFF"/>
                </a:solidFill>
                <a:latin typeface="Quattrocento Sans"/>
                <a:ea typeface="Quattrocento Sans"/>
                <a:cs typeface="Quattrocento Sans"/>
                <a:sym typeface="Quattrocento Sans"/>
              </a:rPr>
              <a:t>•  En PM%, la caída se reparte ~78% mix (más ventas pasando por descuento) y ~22% rate (el descuento sobre precio final ya deja PM% negativo en esas líneas) — no es solo un tema de volumen de campañas.</a:t>
            </a:r>
            <a:endParaRPr sz="1100"/>
          </a:p>
          <a:p>
            <a:pPr indent="0" lvl="0" marL="0" marR="0" rtl="0" algn="l">
              <a:spcBef>
                <a:spcPts val="700"/>
              </a:spcBef>
              <a:spcAft>
                <a:spcPts val="0"/>
              </a:spcAft>
              <a:buNone/>
            </a:pPr>
            <a:r>
              <a:rPr b="0" i="0" lang="es-419" sz="1300" u="none" cap="none" strike="noStrike">
                <a:solidFill>
                  <a:srgbClr val="FFFFFF"/>
                </a:solidFill>
                <a:latin typeface="Quattrocento Sans"/>
                <a:ea typeface="Quattrocento Sans"/>
                <a:cs typeface="Quattrocento Sans"/>
                <a:sym typeface="Quattrocento Sans"/>
              </a:rPr>
              <a:t>•  El fin de semana 26-28 jun mostró que un descuento bien dirigido (elasticidad + floor de margen) sí protege el margen: PM% +17.5% en la estrategia vs -14.2% del descuento genérico de la tienda — replicar esta disciplina en las campañas recurrentes.</a:t>
            </a:r>
            <a:endParaRPr sz="1100"/>
          </a:p>
          <a:p>
            <a:pPr indent="0" lvl="0" marL="0" marR="0" rtl="0" algn="l">
              <a:spcBef>
                <a:spcPts val="700"/>
              </a:spcBef>
              <a:spcAft>
                <a:spcPts val="0"/>
              </a:spcAft>
              <a:buNone/>
            </a:pPr>
            <a:r>
              <a:rPr b="0" i="0" lang="es-419" sz="1300" u="none" cap="none" strike="noStrike">
                <a:solidFill>
                  <a:srgbClr val="FFFFFF"/>
                </a:solidFill>
                <a:latin typeface="Quattrocento Sans"/>
                <a:ea typeface="Quattrocento Sans"/>
                <a:cs typeface="Quattrocento Sans"/>
                <a:sym typeface="Quattrocento Sans"/>
              </a:rPr>
              <a:t>•  Brecha de competitividad en precio final (61.3% → 36.0%): el descuento propio no siempre iguala la promo del competidor.</a:t>
            </a:r>
            <a:endParaRPr sz="1100"/>
          </a:p>
          <a:p>
            <a:pPr indent="0" lvl="0" marL="0" marR="0" rtl="0" algn="l">
              <a:spcBef>
                <a:spcPts val="700"/>
              </a:spcBef>
              <a:spcAft>
                <a:spcPts val="0"/>
              </a:spcAft>
              <a:buNone/>
            </a:pPr>
            <a:r>
              <a:rPr b="0" i="0" lang="es-419" sz="1300" u="none" cap="none" strike="noStrike">
                <a:solidFill>
                  <a:srgbClr val="FFFFFF"/>
                </a:solidFill>
                <a:latin typeface="Quattrocento Sans"/>
                <a:ea typeface="Quattrocento Sans"/>
                <a:cs typeface="Quattrocento Sans"/>
                <a:sym typeface="Quattrocento Sans"/>
              </a:rPr>
              <a:t>•  Próximo paso: aplicar el mismo criterio de la estrategia FDS (elasticidad + floor de margen) a las campañas recurrentes, y revisar por departamento dónde se concentra el PM% negativo en líneas con descuento.</a:t>
            </a:r>
            <a:endParaRPr sz="1100"/>
          </a:p>
        </p:txBody>
      </p:sp>
      <p:sp>
        <p:nvSpPr>
          <p:cNvPr id="475" name="Google Shape;475;p44"/>
          <p:cNvSpPr txBox="1"/>
          <p:nvPr/>
        </p:nvSpPr>
        <p:spPr>
          <a:xfrm>
            <a:off x="342900" y="4834890"/>
            <a:ext cx="8229600" cy="2400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s-419" sz="800" u="none" cap="none" strike="noStrike">
                <a:solidFill>
                  <a:srgbClr val="999999"/>
                </a:solidFill>
                <a:latin typeface="Quattrocento Sans"/>
                <a:ea typeface="Quattrocento Sans"/>
                <a:cs typeface="Quattrocento Sans"/>
                <a:sym typeface="Quattrocento Sans"/>
              </a:rPr>
              <a:t>Pricing · Jüsto  |  Stores 9 y 14  ·  Todos los marketplaces  ·  01 jul 2026</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